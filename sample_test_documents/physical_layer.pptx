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12">
          <p15:clr>
            <a:srgbClr val="A4A3A4"/>
          </p15:clr>
        </p15:guide>
        <p15:guide id="2" orient="horz" pos="229">
          <p15:clr>
            <a:srgbClr val="A4A3A4"/>
          </p15:clr>
        </p15:guide>
        <p15:guide id="3" pos="2879">
          <p15:clr>
            <a:srgbClr val="A4A3A4"/>
          </p15:clr>
        </p15:guide>
      </p15:sldGuideLst>
    </p:ext>
    <p:ext uri="{2D200454-40CA-4A62-9FC3-DE9A4176ACB9}">
      <p15:notesGuideLst>
        <p15:guide id="1" orient="horz" pos="48">
          <p15:clr>
            <a:srgbClr val="A4A3A4"/>
          </p15:clr>
        </p15:guide>
        <p15:guide id="2" pos="2160">
          <p15:clr>
            <a:srgbClr val="A4A3A4"/>
          </p15:clr>
        </p15:guide>
      </p15:notesGuideLst>
    </p:ext>
    <p:ext uri="GoogleSlidesCustomDataVersion2">
      <go:slidesCustomData xmlns:go="http://customooxmlschemas.google.com/" r:id="rId65" roundtripDataSignature="AMtx7mj5cDgtCP2oq+BS4HQ/TQ4jVkyq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650FC5-E597-48F4-9467-0DB7FBAA2536}">
  <a:tblStyle styleId="{E4650FC5-E597-48F4-9467-0DB7FBAA2536}" styleName="Table_0">
    <a:wholeTbl>
      <a:tcTxStyle b="off" i="off">
        <a:font>
          <a:latin typeface="Verdana"/>
          <a:ea typeface="Verdana"/>
          <a:cs typeface="Verdan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EF9"/>
          </a:solidFill>
        </a:fill>
      </a:tcStyle>
    </a:wholeTbl>
    <a:band1H>
      <a:tcTxStyle/>
      <a:tcStyle>
        <a:fill>
          <a:solidFill>
            <a:srgbClr val="CBDCF2"/>
          </a:solidFill>
        </a:fill>
      </a:tcStyle>
    </a:band1H>
    <a:band2H>
      <a:tcTxStyle/>
    </a:band2H>
    <a:band1V>
      <a:tcTxStyle/>
      <a:tcStyle>
        <a:fill>
          <a:solidFill>
            <a:srgbClr val="CBDCF2"/>
          </a:solidFill>
        </a:fill>
      </a:tcStyle>
    </a:band1V>
    <a:band2V>
      <a:tcTxStyle/>
    </a:band2V>
    <a:lastCol>
      <a:tcTxStyle b="on" i="off">
        <a:font>
          <a:latin typeface="Verdana"/>
          <a:ea typeface="Verdana"/>
          <a:cs typeface="Verdana"/>
        </a:font>
        <a:schemeClr val="lt1"/>
      </a:tcTxStyle>
      <a:tcStyle>
        <a:fill>
          <a:solidFill>
            <a:schemeClr val="accent1"/>
          </a:solidFill>
        </a:fill>
      </a:tcStyle>
    </a:lastCol>
    <a:firstCol>
      <a:tcTxStyle b="on" i="off">
        <a:font>
          <a:latin typeface="Verdana"/>
          <a:ea typeface="Verdana"/>
          <a:cs typeface="Verdana"/>
        </a:font>
        <a:schemeClr val="lt1"/>
      </a:tcTxStyle>
      <a:tcStyle>
        <a:fill>
          <a:solidFill>
            <a:schemeClr val="accent1"/>
          </a:solidFill>
        </a:fill>
      </a:tcStyle>
    </a:firstCol>
    <a:lastRow>
      <a:tcTxStyle b="on" i="off">
        <a:font>
          <a:latin typeface="Verdana"/>
          <a:ea typeface="Verdana"/>
          <a:cs typeface="Verdan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Verdana"/>
          <a:ea typeface="Verdana"/>
          <a:cs typeface="Verdan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12" orient="horz"/>
        <p:guide pos="229" orient="horz"/>
        <p:guide pos="2879"/>
      </p:guideLst>
    </p:cSldViewPr>
  </p:slideViewPr>
  <p:notesViewPr>
    <p:cSldViewPr snapToGrid="0">
      <p:cViewPr varScale="1">
        <p:scale>
          <a:sx n="100" d="100"/>
          <a:sy n="100" d="100"/>
        </p:scale>
        <p:origin x="0" y="0"/>
      </p:cViewPr>
      <p:guideLst>
        <p:guide pos="48"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21" Type="http://schemas.openxmlformats.org/officeDocument/2006/relationships/slide" Target="slides/slide15.xml"/><Relationship Id="rId65"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058333" y="685800"/>
            <a:ext cx="4741333"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lvl1pPr indent="-228600" lvl="0" marL="457200" marR="0" rtl="0" algn="l">
              <a:spcBef>
                <a:spcPts val="1200"/>
              </a:spcBef>
              <a:spcAft>
                <a:spcPts val="0"/>
              </a:spcAft>
              <a:buSzPts val="1400"/>
              <a:buNone/>
              <a:defRPr b="0" i="0" sz="1000" u="none" cap="none" strike="noStrike">
                <a:solidFill>
                  <a:schemeClr val="dk1"/>
                </a:solidFill>
                <a:latin typeface="Verdana"/>
                <a:ea typeface="Verdana"/>
                <a:cs typeface="Verdana"/>
                <a:sym typeface="Verdana"/>
              </a:defRPr>
            </a:lvl1pPr>
            <a:lvl2pPr indent="-292100" lvl="1" marL="914400" marR="0" rtl="0" algn="l">
              <a:spcBef>
                <a:spcPts val="600"/>
              </a:spcBef>
              <a:spcAft>
                <a:spcPts val="0"/>
              </a:spcAft>
              <a:buClr>
                <a:schemeClr val="dk1"/>
              </a:buClr>
              <a:buSzPts val="1000"/>
              <a:buFont typeface="Arial"/>
              <a:buChar char="•"/>
              <a:defRPr b="0" i="0" sz="1000" u="none" cap="none" strike="noStrike">
                <a:solidFill>
                  <a:schemeClr val="dk1"/>
                </a:solidFill>
                <a:latin typeface="Verdana"/>
                <a:ea typeface="Verdana"/>
                <a:cs typeface="Verdana"/>
                <a:sym typeface="Verdana"/>
              </a:defRPr>
            </a:lvl2pPr>
            <a:lvl3pPr indent="-292100" lvl="2" marL="1371600" marR="0" rtl="0" algn="l">
              <a:spcBef>
                <a:spcPts val="600"/>
              </a:spcBef>
              <a:spcAft>
                <a:spcPts val="0"/>
              </a:spcAft>
              <a:buClr>
                <a:schemeClr val="dk1"/>
              </a:buClr>
              <a:buSzPts val="1000"/>
              <a:buFont typeface="Merriweather Sans"/>
              <a:buChar char="–"/>
              <a:defRPr b="0" i="0" sz="1000" u="none" cap="none" strike="noStrike">
                <a:solidFill>
                  <a:schemeClr val="dk1"/>
                </a:solidFill>
                <a:latin typeface="Verdana"/>
                <a:ea typeface="Verdana"/>
                <a:cs typeface="Verdana"/>
                <a:sym typeface="Verdana"/>
              </a:defRPr>
            </a:lvl3pPr>
            <a:lvl4pPr indent="-292100" lvl="3" marL="1828800" marR="0" rtl="0" algn="l">
              <a:spcBef>
                <a:spcPts val="600"/>
              </a:spcBef>
              <a:spcAft>
                <a:spcPts val="0"/>
              </a:spcAft>
              <a:buClr>
                <a:schemeClr val="dk1"/>
              </a:buClr>
              <a:buSzPts val="1000"/>
              <a:buFont typeface="Noto Sans Symbols"/>
              <a:buChar char="▪"/>
              <a:defRPr b="0" i="0" sz="1000" u="none" cap="none" strike="noStrike">
                <a:solidFill>
                  <a:schemeClr val="dk1"/>
                </a:solidFill>
                <a:latin typeface="Verdana"/>
                <a:ea typeface="Verdana"/>
                <a:cs typeface="Verdana"/>
                <a:sym typeface="Verdana"/>
              </a:defRPr>
            </a:lvl4pPr>
            <a:lvl5pPr indent="-292100" lvl="4" marL="2286000" marR="0" rtl="0" algn="l">
              <a:spcBef>
                <a:spcPts val="600"/>
              </a:spcBef>
              <a:spcAft>
                <a:spcPts val="0"/>
              </a:spcAft>
              <a:buClr>
                <a:schemeClr val="dk1"/>
              </a:buClr>
              <a:buSzPts val="1000"/>
              <a:buFont typeface="Merriweather Sans"/>
              <a:buChar char="–"/>
              <a:defRPr b="0" i="0" sz="1000" u="none" cap="none" strike="noStrike">
                <a:solidFill>
                  <a:schemeClr val="dk1"/>
                </a:solidFill>
                <a:latin typeface="Verdana"/>
                <a:ea typeface="Verdana"/>
                <a:cs typeface="Verdana"/>
                <a:sym typeface="Verdana"/>
              </a:defRPr>
            </a:lvl5pPr>
            <a:lvl6pPr indent="-228600" lvl="5" marL="274320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6pPr>
            <a:lvl7pPr indent="-228600" lvl="6" marL="320040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7pPr>
            <a:lvl8pPr indent="-228600" lvl="7" marL="365760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8pPr>
            <a:lvl9pPr indent="-228600" lvl="8" marL="4114800" marR="0" rtl="0" algn="l">
              <a:spcBef>
                <a:spcPts val="0"/>
              </a:spcBef>
              <a:spcAft>
                <a:spcPts val="0"/>
              </a:spcAft>
              <a:buSzPts val="1400"/>
              <a:buNone/>
              <a:defRPr b="0" i="0" sz="1200" u="none" cap="none" strike="noStrike">
                <a:solidFill>
                  <a:schemeClr val="dk1"/>
                </a:solidFill>
                <a:latin typeface="Verdana"/>
                <a:ea typeface="Verdana"/>
                <a:cs typeface="Verdana"/>
                <a:sym typeface="Verdana"/>
              </a:defRPr>
            </a:lvl9pPr>
          </a:lstStyle>
          <a:p/>
        </p:txBody>
      </p:sp>
      <p:sp>
        <p:nvSpPr>
          <p:cNvPr id="5" name="Google Shape;5;n"/>
          <p:cNvSpPr txBox="1"/>
          <p:nvPr/>
        </p:nvSpPr>
        <p:spPr>
          <a:xfrm>
            <a:off x="6420403" y="8915400"/>
            <a:ext cx="360997" cy="21544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800"/>
              <a:buFont typeface="Verdana"/>
              <a:buNone/>
            </a:pPr>
            <a:fld id="{00000000-1234-1234-1234-123412341234}" type="slidenum">
              <a:rPr b="0" i="0" lang="en-US" sz="800" u="none" cap="none" strike="noStrike">
                <a:solidFill>
                  <a:schemeClr val="dk1"/>
                </a:solidFill>
                <a:latin typeface="Verdana"/>
                <a:ea typeface="Verdana"/>
                <a:cs typeface="Verdana"/>
                <a:sym typeface="Verdana"/>
              </a:rPr>
              <a:t>‹#›</a:t>
            </a:fld>
            <a:endParaRPr b="0" i="0" sz="800" u="none" cap="none" strike="noStrike">
              <a:solidFill>
                <a:schemeClr val="dk1"/>
              </a:solidFill>
              <a:latin typeface="Verdana"/>
              <a:ea typeface="Verdana"/>
              <a:cs typeface="Verdana"/>
              <a:sym typeface="Verdana"/>
            </a:endParaRPr>
          </a:p>
        </p:txBody>
      </p:sp>
      <p:sp>
        <p:nvSpPr>
          <p:cNvPr id="6" name="Google Shape;6;n"/>
          <p:cNvSpPr/>
          <p:nvPr/>
        </p:nvSpPr>
        <p:spPr>
          <a:xfrm>
            <a:off x="14286" y="8949827"/>
            <a:ext cx="3338513" cy="1846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2"/>
              </a:buClr>
              <a:buSzPts val="600"/>
              <a:buFont typeface="Verdana"/>
              <a:buNone/>
            </a:pPr>
            <a:r>
              <a:rPr b="0" i="0" lang="en-US" sz="600" u="none" cap="none" strike="noStrike">
                <a:solidFill>
                  <a:schemeClr val="lt2"/>
                </a:solidFill>
                <a:latin typeface="Verdana"/>
                <a:ea typeface="Verdana"/>
                <a:cs typeface="Verdana"/>
                <a:sym typeface="Verdana"/>
              </a:rPr>
              <a:t>Copyright 2014 EMC Corporation. All rights reserved.</a:t>
            </a:r>
            <a:endParaRPr/>
          </a:p>
        </p:txBody>
      </p:sp>
      <p:sp>
        <p:nvSpPr>
          <p:cNvPr id="7" name="Google Shape;7;n"/>
          <p:cNvSpPr txBox="1"/>
          <p:nvPr>
            <p:ph idx="11" type="ftr"/>
          </p:nvPr>
        </p:nvSpPr>
        <p:spPr>
          <a:xfrm>
            <a:off x="3124200" y="8980820"/>
            <a:ext cx="3276600" cy="18970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800" u="none" cap="none" strike="noStrike">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1: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Verdana"/>
              <a:buNone/>
            </a:pPr>
            <a:r>
              <a:rPr lang="en-US"/>
              <a:t>This module focuses on the physical layer of the cloud computing reference model. This module focuses on physical compute system, its components, and its types. This module also focuses on storage system architectures. Further, this module focuses on </a:t>
            </a:r>
            <a:r>
              <a:rPr lang="en-US" sz="1000"/>
              <a:t>network connectivity and the types of network communication.</a:t>
            </a:r>
            <a:endParaRPr/>
          </a:p>
        </p:txBody>
      </p:sp>
      <p:sp>
        <p:nvSpPr>
          <p:cNvPr id="96" name="Google Shape;96;p1: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The physical layer—highlighted in the figure on the slide—is the foundation layer of the cloud reference model. The process of building a cloud infrastructure is typically initiated with the cloud service provider setting up the physical hardware resources of the cloud infrastructure.</a:t>
            </a:r>
            <a:endParaRPr/>
          </a:p>
        </p:txBody>
      </p:sp>
      <p:sp>
        <p:nvSpPr>
          <p:cNvPr id="104" name="Google Shape;104;p2: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3: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The physical layer comprises compute, storage, and network resources, which are the fundamental physical computing resources that make up a cloud infrastructure. As discussed in the ‘Introduction to Cloud Computing’ module, the physical resources are typically pooled to serve multiple consumers.</a:t>
            </a:r>
            <a:endParaRPr/>
          </a:p>
          <a:p>
            <a:pPr indent="0" lvl="0" marL="0" rtl="0" algn="l">
              <a:spcBef>
                <a:spcPts val="1200"/>
              </a:spcBef>
              <a:spcAft>
                <a:spcPts val="0"/>
              </a:spcAft>
              <a:buNone/>
            </a:pPr>
            <a:r>
              <a:rPr lang="en-US"/>
              <a:t>Physical compute systems host the applications that a provider offers as services to consumers and also execute the software used by the provider to manage the cloud infrastructure and deliver services. A cloud provider also offers compute systems to consumers for hosting their applications in the cloud. Storage systems store business data and the data generated or processed by the applications deployed on the compute systems. Storage capacity may be offered along with a compute system or separately (for example, in case of cloud-based backup). Networks connect compute systems with each other and with storage systems. A network, such as a local area network (LAN), connects physical compute systems to each other, which enables the applications running on the compute systems to exchange information. A storage network connects compute systems to storage systems, which enables the applications to access data from the storage systems. If a cloud provider uses physical computing resources from multiple cloud data centers to provide services, networks connect the distributed computing resources enabling the data centers to work as a single large data center. Networks also connect multiple clouds to one another—as in case of the hybrid cloud model—to enable them to share cloud resources and services.</a:t>
            </a:r>
            <a:endParaRPr/>
          </a:p>
          <a:p>
            <a:pPr indent="0" lvl="0" marL="0" marR="0" rtl="0" algn="l">
              <a:lnSpc>
                <a:spcPct val="100000"/>
              </a:lnSpc>
              <a:spcBef>
                <a:spcPts val="1200"/>
              </a:spcBef>
              <a:spcAft>
                <a:spcPts val="0"/>
              </a:spcAft>
              <a:buClr>
                <a:schemeClr val="dk1"/>
              </a:buClr>
              <a:buSzPts val="1000"/>
              <a:buFont typeface="Verdana"/>
              <a:buNone/>
            </a:pPr>
            <a:r>
              <a:rPr lang="en-US"/>
              <a:t>Based on several requirements such as performance, scalability, cost, and so on, a cloud provider has to make a number of decisions while building the physical layer, including choosing suitable compute, storage, and network products and components, and the architecture and design of each system. The subsequent lessons describe various physical components and architectures that are available to cloud providers to build the physical layer.</a:t>
            </a:r>
            <a:endParaRPr/>
          </a:p>
        </p:txBody>
      </p:sp>
      <p:sp>
        <p:nvSpPr>
          <p:cNvPr id="113" name="Google Shape;113;p3: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4: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This lesson covers an introduction to compute systems and describes the key components of a compute system. This lesson also covers the key software deployed on compute systems in a cloud environment, and the types of compute systems.</a:t>
            </a:r>
            <a:endParaRPr/>
          </a:p>
        </p:txBody>
      </p:sp>
      <p:sp>
        <p:nvSpPr>
          <p:cNvPr id="122" name="Google Shape;122;p4: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compute system is a computing platform (hardware, firmware, and software) that runs platform and application software. </a:t>
            </a:r>
            <a:r>
              <a:rPr b="0" i="0" lang="en-US" sz="1000" u="none" strike="noStrike">
                <a:solidFill>
                  <a:schemeClr val="dk1"/>
                </a:solidFill>
                <a:latin typeface="Verdana"/>
                <a:ea typeface="Verdana"/>
                <a:cs typeface="Verdana"/>
                <a:sym typeface="Verdana"/>
              </a:rPr>
              <a:t>Examples of physical compute systems include desktops, laptops, servers, mobile devices, and so on. A compute system consists of processor(s), memory, I/O devices, and a collection of software to perform computing operations. The software includes the operating system (OS), file system, logical volume manager, device drivers, and so on. The OS may include the other software or they can be installed individually. </a:t>
            </a:r>
            <a:r>
              <a:rPr lang="en-US"/>
              <a:t>The OS manages the physical components and application execution, and provides a user interface (UI) for users to operate and use the compute system.</a:t>
            </a:r>
            <a:endParaRPr b="0" i="0" sz="1000" u="none" strike="noStrike"/>
          </a:p>
          <a:p>
            <a:pPr indent="0" lvl="0" marL="0" rtl="0" algn="l">
              <a:spcBef>
                <a:spcPts val="1200"/>
              </a:spcBef>
              <a:spcAft>
                <a:spcPts val="0"/>
              </a:spcAft>
              <a:buNone/>
            </a:pPr>
            <a:r>
              <a:rPr b="0" i="0" lang="en-US" sz="1000" u="none" strike="noStrike">
                <a:latin typeface="Verdana"/>
                <a:ea typeface="Verdana"/>
                <a:cs typeface="Verdana"/>
                <a:sym typeface="Verdana"/>
              </a:rPr>
              <a:t>I</a:t>
            </a:r>
            <a:r>
              <a:rPr lang="en-US"/>
              <a:t>n a cloud environment, providers typically deploy x86-based servers or hosts to build the physical layer. These compute systems execute a provider’s as well as the consumers’ software. Consumers may deploy their applications entirely on cloud compute systems or may leverage the cloud for specific scenarios, such as application development and testing, or during peak workloads. Two or more compute systems are typically combined together into a cluster – a group of compute systems that function together, sharing certain network and storage resources, and are viewed as a single system. Compute clusters are typically implemented to provide high availability and for balancing computing workloads. Compute clustering is covered in detail in the ‘Business Continuity’ module.</a:t>
            </a:r>
            <a:endParaRPr/>
          </a:p>
          <a:p>
            <a:pPr indent="0" lvl="0" marL="0" rtl="0" algn="l">
              <a:spcBef>
                <a:spcPts val="1200"/>
              </a:spcBef>
              <a:spcAft>
                <a:spcPts val="0"/>
              </a:spcAft>
              <a:buNone/>
            </a:pPr>
            <a:r>
              <a:rPr lang="en-US"/>
              <a:t>A cloud provider typically offers compute systems to consumers in two ways: shared hosting and dedicated hosting. In shared hosting, the compute systems are shared among multiple consumers. For example, a provider hosts a consumer’s website on the same compute system as the websites of other consumers. In dedicated hosting, a provider offers to a consumer dedicated compute systems that are not shared with any other consumer. </a:t>
            </a:r>
            <a:endParaRPr/>
          </a:p>
          <a:p>
            <a:pPr indent="0" lvl="0" marL="0" rtl="0" algn="l">
              <a:spcBef>
                <a:spcPts val="1200"/>
              </a:spcBef>
              <a:spcAft>
                <a:spcPts val="0"/>
              </a:spcAft>
              <a:buNone/>
            </a:pPr>
            <a:r>
              <a:rPr i="0" lang="en-US" sz="1000"/>
              <a:t>Providers typically install compute virtualization software (hypervisor) on a compute system and </a:t>
            </a:r>
            <a:r>
              <a:rPr i="0" lang="en-US"/>
              <a:t>create multiple virtual compute systems, known as virtual machines (VMs), each capable of running its own OS. In this case, the hypervisor performs compute system management tasks and allocates the compute system’s resources, such as processor and memory, dynamically to each VM. The provider allocates the VMs running on a hypervisor to consumers for deploying their applications. The provider may pre-install an OS on a VM or may enable the consumers to install an OS of their choice. Compute virtualization is covered in detail </a:t>
            </a:r>
            <a:r>
              <a:rPr lang="en-US"/>
              <a:t>in the ‘Virtual Layer’ module.</a:t>
            </a:r>
            <a:endParaRPr/>
          </a:p>
        </p:txBody>
      </p:sp>
      <p:sp>
        <p:nvSpPr>
          <p:cNvPr id="130" name="Google Shape;130;p5: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compute system typically comprises the following key physical hardware components assembled inside an enclosure: </a:t>
            </a:r>
            <a:endParaRPr/>
          </a:p>
          <a:p>
            <a:pPr indent="-171450" lvl="0" marL="171450" rtl="0" algn="l">
              <a:spcBef>
                <a:spcPts val="1200"/>
              </a:spcBef>
              <a:spcAft>
                <a:spcPts val="0"/>
              </a:spcAft>
              <a:buClr>
                <a:schemeClr val="dk1"/>
              </a:buClr>
              <a:buSzPts val="1000"/>
              <a:buFont typeface="Arial"/>
              <a:buChar char="•"/>
            </a:pPr>
            <a:r>
              <a:rPr b="1" lang="en-US"/>
              <a:t>Processor:</a:t>
            </a:r>
            <a:r>
              <a:rPr lang="en-US"/>
              <a:t> A processor, also known as a Central Processing Unit (CPU), is an integrated circuit (IC) that executes the instructions of a software program by performing fundamental arithmetical, logical, and input/output operations. A common processor/instruction set architecture is the x86 architecture with 32-bit and 64-bit processing capabilities. Modern processors have multiple cores (independent processing units), each capable of functioning as an individual processor.</a:t>
            </a:r>
            <a:endParaRPr/>
          </a:p>
          <a:p>
            <a:pPr indent="-171450" lvl="0" marL="171450" rtl="0" algn="l">
              <a:spcBef>
                <a:spcPts val="1200"/>
              </a:spcBef>
              <a:spcAft>
                <a:spcPts val="0"/>
              </a:spcAft>
              <a:buClr>
                <a:schemeClr val="dk1"/>
              </a:buClr>
              <a:buSzPts val="1000"/>
              <a:buFont typeface="Arial"/>
              <a:buChar char="•"/>
            </a:pPr>
            <a:r>
              <a:rPr b="1" lang="en-US"/>
              <a:t>Random-Access Memory (RAM):</a:t>
            </a:r>
            <a:r>
              <a:rPr lang="en-US"/>
              <a:t> The RAM or main memory is a volatile data storage device internal to a compute system. The RAM holds the software programs for execution and the data used by the processor.</a:t>
            </a:r>
            <a:endParaRPr/>
          </a:p>
          <a:p>
            <a:pPr indent="-171450" lvl="0" marL="171450" rtl="0" algn="l">
              <a:spcBef>
                <a:spcPts val="1200"/>
              </a:spcBef>
              <a:spcAft>
                <a:spcPts val="0"/>
              </a:spcAft>
              <a:buClr>
                <a:schemeClr val="dk1"/>
              </a:buClr>
              <a:buSzPts val="1000"/>
              <a:buFont typeface="Arial"/>
              <a:buChar char="•"/>
            </a:pPr>
            <a:r>
              <a:rPr b="1" lang="en-US"/>
              <a:t>Read-Only Memory (ROM): </a:t>
            </a:r>
            <a:r>
              <a:rPr lang="en-US"/>
              <a:t>A ROM is a type of semiconductor memory that contains the boot firmware (that enables a compute system to start), power management firmware, and other device-specific firmware.</a:t>
            </a:r>
            <a:endParaRPr/>
          </a:p>
          <a:p>
            <a:pPr indent="-171450" lvl="0" marL="171450" rtl="0" algn="l">
              <a:spcBef>
                <a:spcPts val="1200"/>
              </a:spcBef>
              <a:spcAft>
                <a:spcPts val="0"/>
              </a:spcAft>
              <a:buClr>
                <a:schemeClr val="dk1"/>
              </a:buClr>
              <a:buSzPts val="1000"/>
              <a:buFont typeface="Arial"/>
              <a:buChar char="•"/>
            </a:pPr>
            <a:r>
              <a:rPr b="1" lang="en-US"/>
              <a:t>Motherboard: </a:t>
            </a:r>
            <a:r>
              <a:rPr lang="en-US"/>
              <a:t>A motherboard is a printed circuit board (PCB) to which all compute system components connect. It has sockets to hold components such as the microprocessor chip, RAM, and ROM. It also has network ports, I/O ports to connect devices such as keyboard, mouse, and printers, and essential circuitry to carry out computing operations. A motherboard may additionally have integrated components, such as a graphics processing unit (GPU), a network interface card (NIC), and adapters to connect to external storage devices.</a:t>
            </a:r>
            <a:endParaRPr/>
          </a:p>
          <a:p>
            <a:pPr indent="-171450" lvl="0" marL="171450" rtl="0" algn="l">
              <a:spcBef>
                <a:spcPts val="1200"/>
              </a:spcBef>
              <a:spcAft>
                <a:spcPts val="0"/>
              </a:spcAft>
              <a:buClr>
                <a:schemeClr val="dk1"/>
              </a:buClr>
              <a:buSzPts val="1000"/>
              <a:buFont typeface="Arial"/>
              <a:buChar char="•"/>
            </a:pPr>
            <a:r>
              <a:rPr b="1" lang="en-US"/>
              <a:t>Chipset:</a:t>
            </a:r>
            <a:r>
              <a:rPr lang="en-US"/>
              <a:t> A chipset is a collection of microchips on a motherboard and it is designed to perform specific functions. The two key chipset types are Northbridge and Southbridge. Northbridge manages processor access to the RAM and the GPU, while Southbridge connects the processor to different peripheral ports, such as USB ports.</a:t>
            </a:r>
            <a:endParaRPr/>
          </a:p>
          <a:p>
            <a:pPr indent="0" lvl="0" marL="0" rtl="0" algn="r">
              <a:spcBef>
                <a:spcPts val="1200"/>
              </a:spcBef>
              <a:spcAft>
                <a:spcPts val="0"/>
              </a:spcAft>
              <a:buNone/>
            </a:pPr>
            <a:r>
              <a:rPr lang="en-US"/>
              <a:t>(Cont'd)</a:t>
            </a:r>
            <a:endParaRPr/>
          </a:p>
        </p:txBody>
      </p:sp>
      <p:sp>
        <p:nvSpPr>
          <p:cNvPr id="138" name="Google Shape;138;p6: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457200" y="467544"/>
            <a:ext cx="5943600" cy="837902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Besides</a:t>
            </a:r>
            <a:r>
              <a:rPr lang="en-US">
                <a:solidFill>
                  <a:srgbClr val="FFC000"/>
                </a:solidFill>
              </a:rPr>
              <a:t> </a:t>
            </a:r>
            <a:r>
              <a:rPr lang="en-US"/>
              <a:t>these key components, a compute system may also have components such as a secondary/persistent storage in the form of a disk drive or a solid state drive, a GPU card, NICs, and a power supply unit.</a:t>
            </a:r>
            <a:endParaRPr/>
          </a:p>
          <a:p>
            <a:pPr indent="0" lvl="0" marL="0" rtl="0" algn="l">
              <a:spcBef>
                <a:spcPts val="1200"/>
              </a:spcBef>
              <a:spcAft>
                <a:spcPts val="0"/>
              </a:spcAft>
              <a:buNone/>
            </a:pPr>
            <a:r>
              <a:rPr i="0" lang="en-US"/>
              <a:t>Based on the requirements such as the type of cloud services to provide, performance, cost, expected rate of growth, and so on, a cloud provider has to make multiple important decisions about the choice of compute system hardware. These decisions include the number of compute systems to deploy, the number, the type, and the speed of processors, the amount of RAM </a:t>
            </a:r>
            <a:r>
              <a:rPr lang="en-US"/>
              <a:t>required, the motherboard’s RAM capacity, </a:t>
            </a:r>
            <a:r>
              <a:rPr i="0" lang="en-US"/>
              <a:t>the number and type of expansion slots on a motherboard, the number and type of I/O cards, installation and configuration effort, and so on.</a:t>
            </a:r>
            <a:endParaRPr/>
          </a:p>
        </p:txBody>
      </p:sp>
      <p:sp>
        <p:nvSpPr>
          <p:cNvPr id="165" name="Google Shape;165;p7: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166" name="Google Shape;166;p7:notes"/>
          <p:cNvSpPr/>
          <p:nvPr>
            <p:ph idx="2" type="sldImg"/>
          </p:nvPr>
        </p:nvSpPr>
        <p:spPr>
          <a:xfrm>
            <a:off x="1058333" y="685800"/>
            <a:ext cx="4741333" cy="2667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8: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Verdana"/>
              <a:buNone/>
            </a:pPr>
            <a:r>
              <a:rPr lang="en-US"/>
              <a:t>On a compute system, a cloud provider deploys software such as the self-service portal, the application software and platform software that are offered as services (PaaS and SaaS) to consumers, virtualization software, cloud infrastructure management software, and so on. The provider also enables consumers to deploy their platform software and business applications on the compute systems. The slide provides a list and a brief description of the software that are deployed on compute systems in a cloud environment.</a:t>
            </a:r>
            <a:endParaRPr/>
          </a:p>
        </p:txBody>
      </p:sp>
      <p:sp>
        <p:nvSpPr>
          <p:cNvPr id="194" name="Google Shape;194;p8: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9: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Verdana"/>
              <a:buNone/>
            </a:pPr>
            <a:r>
              <a:rPr lang="en-US"/>
              <a:t>The compute systems used in building data centers and cloud infrastructure are typically classified into three categories: </a:t>
            </a:r>
            <a:endParaRPr/>
          </a:p>
          <a:p>
            <a:pPr indent="-171450" lvl="0" marL="171450" rtl="0" algn="l">
              <a:spcBef>
                <a:spcPts val="1200"/>
              </a:spcBef>
              <a:spcAft>
                <a:spcPts val="0"/>
              </a:spcAft>
              <a:buClr>
                <a:schemeClr val="dk1"/>
              </a:buClr>
              <a:buSzPts val="1000"/>
              <a:buFont typeface="Arial"/>
              <a:buChar char="•"/>
            </a:pPr>
            <a:r>
              <a:rPr lang="en-US"/>
              <a:t>Tower compute system</a:t>
            </a:r>
            <a:endParaRPr/>
          </a:p>
          <a:p>
            <a:pPr indent="-171450" lvl="0" marL="171450" rtl="0" algn="l">
              <a:spcBef>
                <a:spcPts val="1200"/>
              </a:spcBef>
              <a:spcAft>
                <a:spcPts val="0"/>
              </a:spcAft>
              <a:buClr>
                <a:schemeClr val="dk1"/>
              </a:buClr>
              <a:buSzPts val="1000"/>
              <a:buFont typeface="Arial"/>
              <a:buChar char="•"/>
            </a:pPr>
            <a:r>
              <a:rPr lang="en-US"/>
              <a:t>Rack-mounted compute system</a:t>
            </a:r>
            <a:endParaRPr/>
          </a:p>
          <a:p>
            <a:pPr indent="-171450" lvl="0" marL="171450" rtl="0" algn="l">
              <a:spcBef>
                <a:spcPts val="1200"/>
              </a:spcBef>
              <a:spcAft>
                <a:spcPts val="0"/>
              </a:spcAft>
              <a:buClr>
                <a:schemeClr val="dk1"/>
              </a:buClr>
              <a:buSzPts val="1000"/>
              <a:buFont typeface="Arial"/>
              <a:buChar char="•"/>
            </a:pPr>
            <a:r>
              <a:rPr lang="en-US"/>
              <a:t>Blade compute system</a:t>
            </a:r>
            <a:endParaRPr/>
          </a:p>
        </p:txBody>
      </p:sp>
      <p:sp>
        <p:nvSpPr>
          <p:cNvPr id="226" name="Google Shape;226;p9: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0: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tower compute system, also known as a tower server, is a compute system built in an upright enclosure called a “tower”, which is similar to a desktop cabinet. Tower servers have a robust build, and have integrated power supply and cooling. They typically have individual monitors, keyboards, and mice. Tower servers occupy significant floor space and require complex cabling when deployed in a data center. They are also bulky and a group of tower servers generates considerable noise from their cooling units. Tower servers are typically used in smaller environments. Deploying a large number of tower servers in large environments may involve substantial expenditure.</a:t>
            </a:r>
            <a:endParaRPr/>
          </a:p>
        </p:txBody>
      </p:sp>
      <p:sp>
        <p:nvSpPr>
          <p:cNvPr id="234" name="Google Shape;234;p10: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1: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rack-mounted compute system, also known as a rack server or an industrial server, is a compute system designed to be fixed on a frame called a “rack”. A rack is a standardized enclosure containing multiple mounting slots called “bays”, each of which holds a server in place with the help of screws. A single rack contains multiple servers stacked vertically in bays, thereby simplifying network cabling, consolidating network equipment, and reducing floor space use. Each rack server has its own power supply and cooling unit. A “rack unit” (denoted by U or RU) is a unit of measure of the height of a server designed to be mounted on a rack. One rack unit is 1.75 inches. A rack server is typically 19 inches (482.6 mm) in width and 1.75 inches (44.45 mm) in height. This is called a 1U rack server. Other common sizes of rack servers are 2U and 4U. Some common rack cabinet sizes are 27U, 37U, and 42U.</a:t>
            </a:r>
            <a:endParaRPr/>
          </a:p>
          <a:p>
            <a:pPr indent="0" lvl="0" marL="0" rtl="0" algn="l">
              <a:spcBef>
                <a:spcPts val="1200"/>
              </a:spcBef>
              <a:spcAft>
                <a:spcPts val="0"/>
              </a:spcAft>
              <a:buNone/>
            </a:pPr>
            <a:r>
              <a:rPr lang="en-US"/>
              <a:t>Typically, a console with a video screen, keyboard, and mouse is mounted on a rack to enable administrators to manage the servers in the rack. A keyboard, video, and mouse (KVM) switch connects the servers in the rack to the console and enables the servers to be controlled from the console. An administrator can switch between servers using keyboard commands, mouse commands, or touchscreen selection. Using a KVM switch eliminates the need for a dedicated keyboard, monitor, and mouse for each server and saves space and reduces cable clutter. Some concerns with rack servers are that they are cumbersome to work with, and they generate a lot of heat because of which more cooling is required, which in turn increases power costs.</a:t>
            </a:r>
            <a:endParaRPr/>
          </a:p>
        </p:txBody>
      </p:sp>
      <p:sp>
        <p:nvSpPr>
          <p:cNvPr id="243" name="Google Shape;243;p11: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2: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blade compute system, also known as a blade server, is an electronic circuit board containing only core processing components, such as processor(s), memory, integrated network controllers, storage drive, and essential I/O cards and ports. Each blade server is a self-contained compute system and is typically dedicated to a single application. A blade server is housed in a slot inside a blade enclosure (or chassis), which holds multiple blades and provides integrated power supply, cooling, networking, and management functions. The blade enclosure enables interconnection of the blades through a high speed bus and also provides connectivity to external storage systems.</a:t>
            </a:r>
            <a:endParaRPr/>
          </a:p>
          <a:p>
            <a:pPr indent="0" lvl="0" marL="0" rtl="0" algn="l">
              <a:spcBef>
                <a:spcPts val="1200"/>
              </a:spcBef>
              <a:spcAft>
                <a:spcPts val="0"/>
              </a:spcAft>
              <a:buNone/>
            </a:pPr>
            <a:r>
              <a:rPr lang="en-US"/>
              <a:t>The modular design of blade servers makes them smaller, which minimizes floor space requirements, increases compute system density and scalability, and provides better energy efficiency as compared to tower and rack servers. It also reduces the complexity of the compute infrastructure and simplifies compute infrastructure management. It provides these benefits without compromising on any capability that a non-blade compute system provides. Some concerns with blade servers include the high cost of a blade system (blade servers and chassis), and the proprietary architecture of most blade systems due to which a blade server can typically be plugged only into a chassis from the same vendor.</a:t>
            </a:r>
            <a:endParaRPr/>
          </a:p>
        </p:txBody>
      </p:sp>
      <p:sp>
        <p:nvSpPr>
          <p:cNvPr id="253" name="Google Shape;253;p12: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3: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3: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This lesson covered the key software that are deployed on a compute system in a cloud environment. This lesson also covered the key components of a compute system, such as the processor, RAM, ROM, motherboard, and the chipset. Finally, this lesson covered the three common types of physical compute systems—tower, rack-mounted, and blade—that are used in building a cloud infrastructure.</a:t>
            </a:r>
            <a:endParaRPr/>
          </a:p>
        </p:txBody>
      </p:sp>
      <p:sp>
        <p:nvSpPr>
          <p:cNvPr id="263" name="Google Shape;263;p13: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4: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4: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This lesson covers the common types of persistent storage devices. This lesson also covers Redundant Array of Independent Disks (RAID) and its use in data protection and storage performance improvement. Further, this lesson also covers the different types of storage system architectures, namely block-based, file-based, object-based, and unified storage systems.</a:t>
            </a:r>
            <a:endParaRPr/>
          </a:p>
        </p:txBody>
      </p:sp>
      <p:sp>
        <p:nvSpPr>
          <p:cNvPr id="271" name="Google Shape;271;p14: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5: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5: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000">
                <a:solidFill>
                  <a:schemeClr val="dk1"/>
                </a:solidFill>
              </a:rPr>
              <a:t>Data created by individuals, businesses, and applications need to be persistently stored so that it can be retrieved when required for processing or analysis. </a:t>
            </a:r>
            <a:r>
              <a:rPr lang="en-US"/>
              <a:t>A storage system is the repository for saving and retrieving electronic data and is integral to any cloud infrastructure. A storage system has d</a:t>
            </a:r>
            <a:r>
              <a:rPr lang="en-US" sz="1000">
                <a:solidFill>
                  <a:schemeClr val="dk1"/>
                </a:solidFill>
              </a:rPr>
              <a:t>evices, called storage devices (or storage) that enable the persistent storage and the retrieval of data</a:t>
            </a:r>
            <a:r>
              <a:rPr i="0" lang="en-US" sz="1000">
                <a:solidFill>
                  <a:schemeClr val="dk1"/>
                </a:solidFill>
              </a:rPr>
              <a:t>. </a:t>
            </a:r>
            <a:r>
              <a:rPr lang="en-US"/>
              <a:t>Storage capacity is typically offered to consumers along with compute systems. </a:t>
            </a:r>
            <a:r>
              <a:rPr i="0" lang="en-US" sz="1000">
                <a:solidFill>
                  <a:schemeClr val="dk1"/>
                </a:solidFill>
              </a:rPr>
              <a:t>Apart from providing storage along with compute systems, </a:t>
            </a:r>
            <a:r>
              <a:rPr i="0" lang="en-US"/>
              <a:t>a provider may also offer storage capacity as a service (Storage as a Service), which enables consumers to store their data on the provider’s storage systems in the cloud. This enables the consumers to leverage cloud storage resources for purposes such as </a:t>
            </a:r>
            <a:r>
              <a:rPr lang="en-US"/>
              <a:t>data backup and long-term data retention</a:t>
            </a:r>
            <a:r>
              <a:rPr i="0" lang="en-US"/>
              <a:t>.</a:t>
            </a:r>
            <a:endParaRPr/>
          </a:p>
          <a:p>
            <a:pPr indent="0" lvl="0" marL="0" rtl="0" algn="l">
              <a:spcBef>
                <a:spcPts val="1200"/>
              </a:spcBef>
              <a:spcAft>
                <a:spcPts val="0"/>
              </a:spcAft>
              <a:buNone/>
            </a:pPr>
            <a:r>
              <a:rPr lang="en-US"/>
              <a:t>A cloud storage infrastructure is typically created by logically aggregating and pooling the storage resources from one or more data centers to provide virtual storage resources. Cloud storage provides massive scalability and rapid elasticity of storage resources. The cloud storage infrastructure is typically shared by multiple tenants or consumers which improves the utilization of storage resources.</a:t>
            </a:r>
            <a:endParaRPr/>
          </a:p>
        </p:txBody>
      </p:sp>
      <p:sp>
        <p:nvSpPr>
          <p:cNvPr id="279" name="Google Shape;279;p15: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6: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6: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magnetic disk is a circular storage medium made of non-magnetic material (typically an alloy) and coated with a ferromagnetic material. Data is stored on both surfaces (top and bottom) of a magnetic disk by polarizing a portion of the disk surface. A disk drive is a device that comprises multiple rotating magnetic disks, called platters, stacked vertically inside a metal or plastic casing. Each platter has a rapidly moving arm to read from and write data to the disk. Disk drives are currently the most popular storage medium for storing and accessing data for performance-intensive applications. Disks support rapid access to random data locations and data can be written or retrieved quickly for a number of simultaneous users or applications. Disk drives use pre-defined protocols, such as Advanced Technology Attachment (ATA), Serial ATA (SATA), Small Computer System Interface (SCSI), Serial Attached SCSI (SAS), and Fibre Channel (FC). These protocols reside on the disk interface controllers that are typically integrated with the disk drives. Each protocol has its unique performance, cost, and capacity characteristics. </a:t>
            </a:r>
            <a:endParaRPr/>
          </a:p>
          <a:p>
            <a:pPr indent="0" lvl="0" marL="0" rtl="0" algn="l">
              <a:spcBef>
                <a:spcPts val="600"/>
              </a:spcBef>
              <a:spcAft>
                <a:spcPts val="0"/>
              </a:spcAft>
              <a:buNone/>
            </a:pPr>
            <a:r>
              <a:rPr lang="en-US">
                <a:solidFill>
                  <a:schemeClr val="dk1"/>
                </a:solidFill>
              </a:rPr>
              <a:t>A solid-state drive (SSD) uses semiconductor-based memory, such as NAND and NOR chips, to store and retrieve data. SSDs, also known as “flash drives”, deliver the ultra-high performance required by performance-sensitive applications. These devices, unlike conventional mechanical disk drives, contain no moving parts and therefore do not exhibit the latencies associated with read/write head movement and disk rotation. Compared to other available storage devices, SSDs deliver a relatively high number of input/output operations per second (IOPS) with very low response times. They also consume less power and typically have a longer lifetime as compared to mechanical drives. However, flash drives do have the highest cost per gigabyte ($/GB) ratio.</a:t>
            </a:r>
            <a:endParaRPr/>
          </a:p>
          <a:p>
            <a:pPr indent="0" lvl="0" marL="0" rtl="0" algn="r">
              <a:spcBef>
                <a:spcPts val="600"/>
              </a:spcBef>
              <a:spcAft>
                <a:spcPts val="0"/>
              </a:spcAft>
              <a:buNone/>
            </a:pPr>
            <a:r>
              <a:rPr lang="en-US"/>
              <a:t>(Cont’d)</a:t>
            </a:r>
            <a:endParaRPr/>
          </a:p>
          <a:p>
            <a:pPr indent="0" lvl="0" marL="0" rtl="0" algn="l">
              <a:spcBef>
                <a:spcPts val="600"/>
              </a:spcBef>
              <a:spcAft>
                <a:spcPts val="0"/>
              </a:spcAft>
              <a:buNone/>
            </a:pPr>
            <a:r>
              <a:rPr lang="en-US"/>
              <a:t> </a:t>
            </a:r>
            <a:endParaRPr i="1"/>
          </a:p>
        </p:txBody>
      </p:sp>
      <p:sp>
        <p:nvSpPr>
          <p:cNvPr id="287" name="Google Shape;287;p16: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7:notes"/>
          <p:cNvSpPr txBox="1"/>
          <p:nvPr>
            <p:ph idx="1" type="body"/>
          </p:nvPr>
        </p:nvSpPr>
        <p:spPr>
          <a:xfrm>
            <a:off x="457200" y="467544"/>
            <a:ext cx="5943600" cy="837902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magnetic tape is a thin, long strip of plastic film that is coated with a magnetizable material, such as barium ferrite. The tape is packed in plastic cassettes and cartridges. A tape drive is the device to record and retrieve data on a magnetic tape. Tape drives provide linear sequential read/write data access. A tape drive may be standalone or part of a tape library. A tape library contains one or more tape drives and a storage area where a number of tape cartridges are held in slots. Tape is a popular medium for long-term storage due to its relative low cost and portability. Tape drives are typically used by organizations to store large amounts of data, typically for backup, offsite archiving, and disaster recovery. The low access speed due to the sequential access mechanism, the lack of simultaneous access by multiple applications, and the degradation of the tape surface due to the continuous contact with the read/write head are some key limitations of tape.</a:t>
            </a:r>
            <a:endParaRPr/>
          </a:p>
          <a:p>
            <a:pPr indent="0" lvl="0" marL="0" rtl="0" algn="l">
              <a:spcBef>
                <a:spcPts val="1200"/>
              </a:spcBef>
              <a:spcAft>
                <a:spcPts val="0"/>
              </a:spcAft>
              <a:buNone/>
            </a:pPr>
            <a:r>
              <a:rPr lang="en-US"/>
              <a:t>An optical disc is a flat, circular storage medium made of polycarbonate with one surface having a special, reflective coating (such as aluminum). An optical disc drive uses a writing laser to record data on the disc in the form of microscopic light and dark dots. A reading laser reads the dots, and generates electrical signals representing the data. The common optical disc types are compact disc (CD), digital versatile disc (DVD), and Blu-ray disc (BD). These discs may be recordable or re-writable. Recordable or read-only memory (ROM) discs have Write Once and Read Many (WORM) capability and are typically used as a distribution medium for applications or as a means to transfer small amounts of data from one system to another. The limited capacity and speed of optical discs constrain their use as a general-purpose enterprise data storage solution. However, high-capacity optical discs are sometimes used as a storage solution for fixed-content and archival data. Also, some providers of Storage as a Service offer a facility wherein they </a:t>
            </a:r>
            <a:r>
              <a:rPr b="0" i="0" lang="en-US" sz="1000"/>
              <a:t>copy backup files on encrypted optical discs, if required, and ship them to the consumers.</a:t>
            </a:r>
            <a:endParaRPr i="1"/>
          </a:p>
        </p:txBody>
      </p:sp>
      <p:sp>
        <p:nvSpPr>
          <p:cNvPr id="310" name="Google Shape;310;p17: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311" name="Google Shape;311;p17:notes"/>
          <p:cNvSpPr/>
          <p:nvPr>
            <p:ph idx="2" type="sldImg"/>
          </p:nvPr>
        </p:nvSpPr>
        <p:spPr>
          <a:xfrm>
            <a:off x="1058333" y="685800"/>
            <a:ext cx="4741333" cy="2667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8: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8: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Redundant Array of Independent Disks (RAID) is a storage technology in which multiple disk drives are combined into a logical unit called a RAID group and data is written in blocks across the disks in the RAID group. RAID protects against data loss when a drive fails, through the use of redundant drives and parity. RAID also helps in improving the storage system performance as read and write operations are served simultaneously from multiple disk drives. For example, if the RAID group has four disk drives, data is written across all four of them simultaneously, which provides four times better write performance as compared to using a single drive. Similarly, during read operation, the data is retrieved simultaneously from each drive. </a:t>
            </a:r>
            <a:endParaRPr/>
          </a:p>
          <a:p>
            <a:pPr indent="0" lvl="0" marL="0" rtl="0" algn="l">
              <a:spcBef>
                <a:spcPts val="1200"/>
              </a:spcBef>
              <a:spcAft>
                <a:spcPts val="0"/>
              </a:spcAft>
              <a:buNone/>
            </a:pPr>
            <a:r>
              <a:rPr lang="en-US"/>
              <a:t>RAID is typically implemented by using a specialized hardware controller present either on the host or on the array. The key functions of a RAID controller are management and control of drive aggregations, translation of I/O requests between logical and physical drives, and data regeneration in the event of drive failures.</a:t>
            </a:r>
            <a:endParaRPr/>
          </a:p>
          <a:p>
            <a:pPr indent="0" lvl="0" marL="0" rtl="0" algn="l">
              <a:spcBef>
                <a:spcPts val="1200"/>
              </a:spcBef>
              <a:spcAft>
                <a:spcPts val="0"/>
              </a:spcAft>
              <a:buNone/>
            </a:pPr>
            <a:r>
              <a:rPr lang="en-US"/>
              <a:t>The three different RAID techniques that form the basis for defining various RAID levels are striping, mirroring, and parity. These techniques determine the data availability and performance of a RAID group as well as the relative cost of deploying the storage solution. A cloud provider must select the appropriate RAID levels to meet the requirements of cloud service delivery.</a:t>
            </a:r>
            <a:endParaRPr/>
          </a:p>
        </p:txBody>
      </p:sp>
      <p:sp>
        <p:nvSpPr>
          <p:cNvPr id="335" name="Google Shape;335;p18: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9: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9: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Striping is a technique to spread data across multiple drives in order to use the drives in parallel and increase performance as compared to the use of a single drive. Each drive in a RAID group has a predefined number of contiguously addressable blocks (the smallest individually addressable unit of storage) called a “strip”. A set of aligned strips that span across all the drives within the RAID group is called a “stripe”. All strips in a stripe have the same number of blocks. Although striped RAID provides improved read-write performance, it does not provide any data protection in case of disk failure.</a:t>
            </a:r>
            <a:endParaRPr/>
          </a:p>
        </p:txBody>
      </p:sp>
      <p:sp>
        <p:nvSpPr>
          <p:cNvPr id="346" name="Google Shape;346;p19: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0: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20: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Mirroring is a technique in which the same data is stored simultaneously on two different drives, resulting in two copies of the data. This is called a “mirrored pair”. Even if one drive fails, the data is still intact on the surviving drive and the RAID controller continues to service data requests using the surviving drive of the mirrored pair. When the failed disk is replaced with a new disk, the controller copies the data from the surviving disk of the mirrored pair to the new disk. This activity is transparent to the host. In addition to providing data redundancy, mirroring enables fast recovery from disk failure. Since mirroring involves duplication of data, the amount of storage capacity needed is twice the amount of data being stored. This increases costs because of which mirroring is typically preferred for mission-critical applications that cannot afford the risk of any data loss. Mirroring improves read performance because read requests can be serviced by both disks. However, compared to a single disk and striping, write performance is slightly lower in mirroring because each write request manifests as two writes on the disk drives.</a:t>
            </a:r>
            <a:endParaRPr/>
          </a:p>
        </p:txBody>
      </p:sp>
      <p:sp>
        <p:nvSpPr>
          <p:cNvPr id="357" name="Google Shape;357;p20: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1: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21: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Parity is a value derived by performing a mathematical operation on individual strips of data and stored on a portion of a RAID group. It enables the recreation of missing data in case of a drive failure. Parity is a redundancy technique that ensures data protection without maintaining a full set of duplicate data. The RAID controller calculates the parity using techniques such as “bitwise exclusive or” (XOR). Parity information can be stored on separate, dedicated disk drives or distributed across the drives in a RAID group. Compared to mirroring, parity implementation considerably reduces the cost associated with data protection. However, a limitation of parity implementation is that parity is recalculated every time there is a change in data, which may affect the performance of the RAID array.</a:t>
            </a:r>
            <a:endParaRPr/>
          </a:p>
          <a:p>
            <a:pPr indent="0" lvl="0" marL="0" rtl="0" algn="l">
              <a:spcBef>
                <a:spcPts val="1200"/>
              </a:spcBef>
              <a:spcAft>
                <a:spcPts val="0"/>
              </a:spcAft>
              <a:buNone/>
            </a:pPr>
            <a:r>
              <a:rPr lang="en-US"/>
              <a:t>In the figure on the slide, the first four disks, labeled D1 to D4, contain data. The data elements are 4, 6, 1, and 7. The fifth disk, labeled P, stores the parity information i.e. 18, which is the sum of the data elements. If one of the drives fails, the missing value can be calculated by subtracting the sum of the remaining elements from the parity value.</a:t>
            </a:r>
            <a:endParaRPr/>
          </a:p>
        </p:txBody>
      </p:sp>
      <p:sp>
        <p:nvSpPr>
          <p:cNvPr id="368" name="Google Shape;368;p21: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2: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22: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Verdana"/>
              <a:buNone/>
            </a:pPr>
            <a:r>
              <a:rPr lang="en-US"/>
              <a:t>RAID levels are implementations of the striping, mirroring, and parity techniques. Some RAID levels use a single technique, while others use a combination of the techniques. The commonly used RAID levels are RAID 0 – that uses striping, RAID 1 – that uses mirroring, RAID 1+0 – which is a combination of RAID 1 and RAID 0, and RAID 3, 5, and 6 – that use a combination of striping and parity.</a:t>
            </a:r>
            <a:endParaRPr/>
          </a:p>
        </p:txBody>
      </p:sp>
      <p:sp>
        <p:nvSpPr>
          <p:cNvPr id="379" name="Google Shape;379;p22: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3: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23: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Data can be accessed from a compute system (or a compute cluster) through block-level, file-level, or object-level schemes. External storage systems can be connected to the compute system directly or over a network. An application on the compute system stores and accesses data using the underlying infrastructure comprising an OS, a file system, network connectivity, and storage. In general, an application requests data by specifying the file name and the location. The file system maps the file attributes to the logical block address (LBA) of the data and sends it to the storage system. The LBA simplifies addressing by using a linear address to access the block of data. The storage system converts the LBA to a physical address called the cylinder-head-sector (CHS) address and fetches the data. </a:t>
            </a:r>
            <a:endParaRPr/>
          </a:p>
          <a:p>
            <a:pPr indent="0" lvl="0" marL="0" rtl="0" algn="l">
              <a:spcBef>
                <a:spcPts val="1200"/>
              </a:spcBef>
              <a:spcAft>
                <a:spcPts val="0"/>
              </a:spcAft>
              <a:buNone/>
            </a:pPr>
            <a:r>
              <a:rPr lang="en-US"/>
              <a:t>In </a:t>
            </a:r>
            <a:r>
              <a:rPr i="1" lang="en-US"/>
              <a:t>block-level access</a:t>
            </a:r>
            <a:r>
              <a:rPr lang="en-US"/>
              <a:t>, a storage volume (a logical unit of storage composed of multiple blocks, typically created from a RAID set) is created and assigned to the compute system to house created file systems. In this case, an application data request is sent to the file system and converted into a block-level (logical block address) request. This block level request is sent over the network to the storage system. The storage system then converts the logical block address to a CHS address and fetches the data in block-sized units. </a:t>
            </a:r>
            <a:endParaRPr/>
          </a:p>
          <a:p>
            <a:pPr indent="0" lvl="0" marL="0" rtl="0" algn="l">
              <a:spcBef>
                <a:spcPts val="1200"/>
              </a:spcBef>
              <a:spcAft>
                <a:spcPts val="0"/>
              </a:spcAft>
              <a:buNone/>
            </a:pPr>
            <a:r>
              <a:rPr lang="en-US"/>
              <a:t>In </a:t>
            </a:r>
            <a:r>
              <a:rPr i="1" lang="en-US"/>
              <a:t>file-level access</a:t>
            </a:r>
            <a:r>
              <a:rPr lang="en-US"/>
              <a:t>, the file system is created on a separate file server, which is connected to storage. A file-level request from the application is sent over the network to the file server hosting the file system. The file system then converts the file-level request into block-level addressing and sends the request to the storage to access the data.</a:t>
            </a:r>
            <a:endParaRPr/>
          </a:p>
          <a:p>
            <a:pPr indent="0" lvl="0" marL="0" marR="0" rtl="0" algn="l">
              <a:spcBef>
                <a:spcPts val="1200"/>
              </a:spcBef>
              <a:spcAft>
                <a:spcPts val="0"/>
              </a:spcAft>
              <a:buClr>
                <a:schemeClr val="dk1"/>
              </a:buClr>
              <a:buSzPts val="1000"/>
              <a:buFont typeface="Verdana"/>
              <a:buNone/>
            </a:pPr>
            <a:r>
              <a:rPr lang="en-US"/>
              <a:t>In </a:t>
            </a:r>
            <a:r>
              <a:rPr i="1" lang="en-US"/>
              <a:t>object-level access</a:t>
            </a:r>
            <a:r>
              <a:rPr lang="en-US"/>
              <a:t>, data is accessed over the network in terms of self-contained objects, each having a unique object identifier. In this case, the application request is sent to the file system. The file system communicates to the object-based storage device (OSD) interface, which in turn sends the object-level request by using the unique object ID over the network to the storage system. The storage system has an OSD storage component that is responsible for managing the access to the object on the storage system. The OSD storage component converts the object-level request into block-level addressing and sends it to the storage to access the data.</a:t>
            </a:r>
            <a:endParaRPr/>
          </a:p>
        </p:txBody>
      </p:sp>
      <p:sp>
        <p:nvSpPr>
          <p:cNvPr id="411" name="Google Shape;411;p23: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4: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4: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Verdana"/>
              <a:buNone/>
            </a:pPr>
            <a:r>
              <a:rPr lang="en-US"/>
              <a:t>Storage system architecture is a critical design consideration for building cloud infrastructure. A cloud provider must choose the appropriate storage, and ensure adequate capacity to maintain the overall performance of the environment. Storage system architectures are based on the data access methods. The common variants are block-based, file-based, object-based, and unified storage systems. A unified storage system architecture uses all the three data access methods. A cloud provider may deploy one or more types of these storage systems to meet the requirements of different applications.</a:t>
            </a:r>
            <a:endParaRPr/>
          </a:p>
        </p:txBody>
      </p:sp>
      <p:sp>
        <p:nvSpPr>
          <p:cNvPr id="419" name="Google Shape;419;p24: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5: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5: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block-based storage system enables the creation and assignment of storage volumes to compute systems. The compute OS (or hypervisor) discovers these storage volumes as local drives. A file system can be created on these storage volumes, for example NTFS in a Windows environment, which can then be formatted and used by applications.</a:t>
            </a:r>
            <a:endParaRPr/>
          </a:p>
          <a:p>
            <a:pPr indent="0" lvl="0" marL="0" rtl="0" algn="l">
              <a:spcBef>
                <a:spcPts val="1200"/>
              </a:spcBef>
              <a:spcAft>
                <a:spcPts val="0"/>
              </a:spcAft>
              <a:buNone/>
            </a:pPr>
            <a:r>
              <a:rPr lang="en-US"/>
              <a:t>A block-based storage system typically comprises four key components:  </a:t>
            </a:r>
            <a:endParaRPr/>
          </a:p>
          <a:p>
            <a:pPr indent="0" lvl="0" marL="0" rtl="0" algn="l">
              <a:spcBef>
                <a:spcPts val="1200"/>
              </a:spcBef>
              <a:spcAft>
                <a:spcPts val="0"/>
              </a:spcAft>
              <a:buClr>
                <a:schemeClr val="dk1"/>
              </a:buClr>
              <a:buSzPts val="1000"/>
              <a:buFont typeface="Arial"/>
              <a:buChar char="•"/>
            </a:pPr>
            <a:r>
              <a:rPr lang="en-US"/>
              <a:t>Front-end Controller(s)</a:t>
            </a:r>
            <a:endParaRPr/>
          </a:p>
          <a:p>
            <a:pPr indent="0" lvl="0" marL="0" rtl="0" algn="l">
              <a:spcBef>
                <a:spcPts val="1200"/>
              </a:spcBef>
              <a:spcAft>
                <a:spcPts val="0"/>
              </a:spcAft>
              <a:buClr>
                <a:schemeClr val="dk1"/>
              </a:buClr>
              <a:buSzPts val="1000"/>
              <a:buFont typeface="Arial"/>
              <a:buChar char="•"/>
            </a:pPr>
            <a:r>
              <a:rPr lang="en-US"/>
              <a:t>Cache Memory</a:t>
            </a:r>
            <a:endParaRPr/>
          </a:p>
          <a:p>
            <a:pPr indent="0" lvl="0" marL="0" rtl="0" algn="l">
              <a:spcBef>
                <a:spcPts val="1200"/>
              </a:spcBef>
              <a:spcAft>
                <a:spcPts val="0"/>
              </a:spcAft>
              <a:buClr>
                <a:schemeClr val="dk1"/>
              </a:buClr>
              <a:buSzPts val="1000"/>
              <a:buFont typeface="Arial"/>
              <a:buChar char="•"/>
            </a:pPr>
            <a:r>
              <a:rPr lang="en-US"/>
              <a:t>Back-end Controller(s)</a:t>
            </a:r>
            <a:endParaRPr/>
          </a:p>
          <a:p>
            <a:pPr indent="0" lvl="0" marL="0" rtl="0" algn="l">
              <a:spcBef>
                <a:spcPts val="1200"/>
              </a:spcBef>
              <a:spcAft>
                <a:spcPts val="0"/>
              </a:spcAft>
              <a:buClr>
                <a:schemeClr val="dk1"/>
              </a:buClr>
              <a:buSzPts val="1000"/>
              <a:buFont typeface="Arial"/>
              <a:buChar char="•"/>
            </a:pPr>
            <a:r>
              <a:rPr lang="en-US"/>
              <a:t>Physical disks</a:t>
            </a:r>
            <a:endParaRPr/>
          </a:p>
          <a:p>
            <a:pPr indent="0" lvl="0" marL="0" rtl="0" algn="l">
              <a:spcBef>
                <a:spcPts val="1200"/>
              </a:spcBef>
              <a:spcAft>
                <a:spcPts val="0"/>
              </a:spcAft>
              <a:buClr>
                <a:schemeClr val="dk1"/>
              </a:buClr>
              <a:buSzPts val="1000"/>
              <a:buFont typeface="Arial"/>
              <a:buNone/>
            </a:pPr>
            <a:r>
              <a:rPr lang="en-US"/>
              <a:t>The </a:t>
            </a:r>
            <a:r>
              <a:rPr i="1" lang="en-US"/>
              <a:t>front-end controller </a:t>
            </a:r>
            <a:r>
              <a:rPr lang="en-US"/>
              <a:t>provides the interface between the storage system and the compute systems. Typically, there are redundant controllers in the front-end for high availability, and each controller contains multiple ports. Each front-end controller has processing logic that executes the appropriate transport protocol, such as Fibre Channel, iSCSI, or FCoE (discussed later in this module) for storage connections. Front-end controllers route data to and from a cache memory via an internal data bus.</a:t>
            </a:r>
            <a:endParaRPr/>
          </a:p>
          <a:p>
            <a:pPr indent="0" lvl="0" marL="0" rtl="0" algn="l">
              <a:spcBef>
                <a:spcPts val="1200"/>
              </a:spcBef>
              <a:spcAft>
                <a:spcPts val="0"/>
              </a:spcAft>
              <a:buClr>
                <a:schemeClr val="dk1"/>
              </a:buClr>
              <a:buSzPts val="1000"/>
              <a:buFont typeface="Arial"/>
              <a:buNone/>
            </a:pPr>
            <a:r>
              <a:rPr lang="en-US"/>
              <a:t>The </a:t>
            </a:r>
            <a:r>
              <a:rPr i="1" lang="en-US"/>
              <a:t>cache</a:t>
            </a:r>
            <a:r>
              <a:rPr lang="en-US"/>
              <a:t> is a semiconductor memory where data is placed temporarily to reduce the time required to service I/O requests from the compute system. The cache improves storage system performance by isolating compute systems from the mechanical delays associated with disk drives. Accessing data from the cache typically takes less than a millisecond.</a:t>
            </a:r>
            <a:endParaRPr/>
          </a:p>
          <a:p>
            <a:pPr indent="0" lvl="0" marL="0" rtl="0" algn="r">
              <a:spcBef>
                <a:spcPts val="1200"/>
              </a:spcBef>
              <a:spcAft>
                <a:spcPts val="0"/>
              </a:spcAft>
              <a:buClr>
                <a:schemeClr val="dk1"/>
              </a:buClr>
              <a:buSzPts val="1000"/>
              <a:buFont typeface="Arial"/>
              <a:buNone/>
            </a:pPr>
            <a:r>
              <a:rPr lang="en-US"/>
              <a:t>(Cont’d)</a:t>
            </a:r>
            <a:endParaRPr/>
          </a:p>
        </p:txBody>
      </p:sp>
      <p:sp>
        <p:nvSpPr>
          <p:cNvPr id="427" name="Google Shape;427;p25: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6:notes"/>
          <p:cNvSpPr txBox="1"/>
          <p:nvPr>
            <p:ph idx="1" type="body"/>
          </p:nvPr>
        </p:nvSpPr>
        <p:spPr>
          <a:xfrm>
            <a:off x="457200" y="467544"/>
            <a:ext cx="5943600" cy="837902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When a compute system issues a read request, and the data is found in the cache, it is called a </a:t>
            </a:r>
            <a:r>
              <a:rPr i="1" lang="en-US"/>
              <a:t>cache hit</a:t>
            </a:r>
            <a:r>
              <a:rPr lang="en-US"/>
              <a:t>, and the data is sent directly to the compute system. If the requested data is not found in the cache, it is called a </a:t>
            </a:r>
            <a:r>
              <a:rPr i="1" lang="en-US"/>
              <a:t>cache miss </a:t>
            </a:r>
            <a:r>
              <a:rPr lang="en-US"/>
              <a:t>and the data must be read from the drive. A write operation with the cache is implemented in two ways: write-back approach and write-through approach. In the </a:t>
            </a:r>
            <a:r>
              <a:rPr i="1" lang="en-US"/>
              <a:t>write-back </a:t>
            </a:r>
            <a:r>
              <a:rPr lang="en-US"/>
              <a:t>approach, data of several write operations are placed in the cache and an acknowledgment for each write is sent to the compute system immediately. Later, the data in the cache is written to the disk. In the </a:t>
            </a:r>
            <a:r>
              <a:rPr i="1" lang="en-US"/>
              <a:t>write-through </a:t>
            </a:r>
            <a:r>
              <a:rPr lang="en-US"/>
              <a:t>approach, data is placed in the cache and immediately written to the disk, and an acknowledgment is sent to the compute system.</a:t>
            </a:r>
            <a:endParaRPr/>
          </a:p>
          <a:p>
            <a:pPr indent="0" lvl="0" marL="0" rtl="0" algn="l">
              <a:spcBef>
                <a:spcPts val="1200"/>
              </a:spcBef>
              <a:spcAft>
                <a:spcPts val="0"/>
              </a:spcAft>
              <a:buClr>
                <a:schemeClr val="dk1"/>
              </a:buClr>
              <a:buSzPts val="1000"/>
              <a:buFont typeface="Arial"/>
              <a:buNone/>
            </a:pPr>
            <a:r>
              <a:rPr lang="en-US"/>
              <a:t>The </a:t>
            </a:r>
            <a:r>
              <a:rPr i="1" lang="en-US"/>
              <a:t>back-end controller </a:t>
            </a:r>
            <a:r>
              <a:rPr lang="en-US"/>
              <a:t>provides an interface between the cache and the physical disks. The data from the cache is sent to the back-end and then routed to the destination disks.</a:t>
            </a:r>
            <a:endParaRPr/>
          </a:p>
          <a:p>
            <a:pPr indent="0" lvl="0" marL="0" rtl="0" algn="l">
              <a:spcBef>
                <a:spcPts val="1200"/>
              </a:spcBef>
              <a:spcAft>
                <a:spcPts val="0"/>
              </a:spcAft>
              <a:buClr>
                <a:schemeClr val="dk1"/>
              </a:buClr>
              <a:buSzPts val="1000"/>
              <a:buFont typeface="Arial"/>
              <a:buNone/>
            </a:pPr>
            <a:r>
              <a:rPr lang="en-US"/>
              <a:t>Physical disks are connected to ports on the back-end. In some implementations the front-end, the cache, and the back-end are integrated on a single board referred to as a storage processor or storage controller.</a:t>
            </a:r>
            <a:endParaRPr/>
          </a:p>
        </p:txBody>
      </p:sp>
      <p:sp>
        <p:nvSpPr>
          <p:cNvPr id="435" name="Google Shape;435;p26: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436" name="Google Shape;436;p26:notes"/>
          <p:cNvSpPr/>
          <p:nvPr>
            <p:ph idx="2" type="sldImg"/>
          </p:nvPr>
        </p:nvSpPr>
        <p:spPr>
          <a:xfrm>
            <a:off x="1058333" y="685800"/>
            <a:ext cx="4741333" cy="2667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7: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7: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file-based storage system, also known as Network-Attached Storage (NAS), is a dedicated, high-performance file server having either integrated storage or connected to external storage. NAS enables clients to share files over an IP network. NAS supports NFS and CIFS protocols to give both UNIX and Windows clients the ability to share the same files using appropriate access and locking mechanisms. NAS systems have integrated hardware and software components, including a processor, memory, NICs, ports to connect and manage physical disk resources, an OS optimized for file serving, and file sharing protocols. A NAS system consolidates distributed data into a large, centralized data pool accessible to, and shared by, heterogeneous clients and application servers across the network. Consolidating data from numerous and dispersed general purpose servers onto NAS results in more efficient management and improved storage utilization. Consolidation also offers lower operating and maintenance costs.</a:t>
            </a:r>
            <a:endParaRPr/>
          </a:p>
        </p:txBody>
      </p:sp>
      <p:sp>
        <p:nvSpPr>
          <p:cNvPr id="445" name="Google Shape;445;p27: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8: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28: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There are two common NAS deployment options: traditional NAS systems (scale-up NAS) and scale-out NAS systems. </a:t>
            </a:r>
            <a:endParaRPr/>
          </a:p>
          <a:p>
            <a:pPr indent="0" lvl="0" marL="0" rtl="0" algn="l">
              <a:spcBef>
                <a:spcPts val="1200"/>
              </a:spcBef>
              <a:spcAft>
                <a:spcPts val="0"/>
              </a:spcAft>
              <a:buNone/>
            </a:pPr>
            <a:r>
              <a:rPr lang="en-US"/>
              <a:t>A traditional NAS solution provides the capability to scale the capacity and performance of a single NAS system. Scaling up a NAS system involves upgrading or adding NAS components and storage to the NAS system. These NAS systems have a fixed capacity ceiling, and performance is impacted as the capacity limit is approached. </a:t>
            </a:r>
            <a:endParaRPr/>
          </a:p>
          <a:p>
            <a:pPr indent="0" lvl="0" marL="0" rtl="0" algn="l">
              <a:spcBef>
                <a:spcPts val="1200"/>
              </a:spcBef>
              <a:spcAft>
                <a:spcPts val="0"/>
              </a:spcAft>
              <a:buNone/>
            </a:pPr>
            <a:r>
              <a:rPr lang="en-US"/>
              <a:t>Scale-out NAS is designed to address the rapidly growing area of unstructured data (data that does not fit in tables and rows), especially Big Data (data sets whose size or scale break traditional tools). Scale-out NAS enables the creation of a clustered NAS system by pooling multiple processing and storage nodes together. The cluster works as a single NAS system and is managed centrally. The capacity of the cluster can be increased by simply adding nodes to the it. A node contains common server components and may or may not have disks. As each node is added to the cluster, it increases the aggregated disk, cache, processor, and network capacity of the cluster as a whole. Nodes can be non-disruptively added to the cluster when more performance and capacity is needed. Scale-out NAS creates a single file system that runs on all nodes in the cluster. As nodes are added, the file system grows dynamically and data is evenly distributed (or redistributed) to all nodes in the cluster.</a:t>
            </a:r>
            <a:endParaRPr/>
          </a:p>
        </p:txBody>
      </p:sp>
      <p:sp>
        <p:nvSpPr>
          <p:cNvPr id="454" name="Google Shape;454;p28: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9: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29: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Object-based storage is a way to store file data in the form of objects based on the content and other attributes of the data rather than the name and location of the file. An object contains user data, related metadata (size, date, ownership, etc.), and user defined attributes of data (retention, access pattern, and other business-relevant attributes). The additional metadata or attributes enable optimized search, retention and deletion of objects. For example, when an MRI scan of a patient is stored as a file in a NAS system, the metadata is basic and may include information such as file name, date of creation, owner, and file type. When stored as an object, the metadata component of the object may include additional information such as patient name, ID, attending physician’s name, and so on, apart from the basic metadata.</a:t>
            </a:r>
            <a:endParaRPr/>
          </a:p>
          <a:p>
            <a:pPr indent="0" lvl="0" marL="0" rtl="0" algn="l">
              <a:spcBef>
                <a:spcPts val="1200"/>
              </a:spcBef>
              <a:spcAft>
                <a:spcPts val="0"/>
              </a:spcAft>
              <a:buNone/>
            </a:pPr>
            <a:r>
              <a:rPr lang="en-US"/>
              <a:t>Each object stored in the object-based storage system is identified by a unique identifier called the </a:t>
            </a:r>
            <a:r>
              <a:rPr i="1" lang="en-US"/>
              <a:t>object ID</a:t>
            </a:r>
            <a:r>
              <a:rPr lang="en-US"/>
              <a:t>. The object ID allows easy access to objects without having to specify the storage location. The object ID is generated using specialized algorithms (such as a hash function) on the data and guarantees that every object is uniquely identified. Any changes in the object, like user-based edits to the file, results in a new object ID. This makes object-based storage a preferred option for long term data archiving to meet regulatory or compliance requirements. The object-based storage system uses a flat, non-hierarchical address space to store data, providing the flexibility to scale massively. Cloud service providers leverage object-based storage systems to offer Storage as a Service because of its inherent security, scalability, and automated data management capabilities. Object-based storage systems support web service access via REST and SOAP.</a:t>
            </a:r>
            <a:endParaRPr/>
          </a:p>
        </p:txBody>
      </p:sp>
      <p:sp>
        <p:nvSpPr>
          <p:cNvPr id="462" name="Google Shape;462;p29: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0: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30: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The object-based storage system has three key components: nodes, internal (private) network, and storage. </a:t>
            </a:r>
            <a:r>
              <a:rPr lang="en-US" sz="1000">
                <a:solidFill>
                  <a:schemeClr val="dk1"/>
                </a:solidFill>
              </a:rPr>
              <a:t>The object-based storage system is composed of one or more nodes. In this context, a node is a server that runs the object-based storage operating environment and provides services to store, retrieve, and manage data in the system. The object-based storage system node has two key services: metadata service and storage service. The metadata service is responsible for generating the object ID from the contents of a file. It also maintains the mapping between the object IDs and the file system namespace. The storage service manages a set of drives on which the data is stored. The nodes connect to the storage via an internal network. The internal network provides both node-to-node connectivity and node-to-storage connectivity. The application server accesses the object-based storage node to store and retrieve data over an external network. In some implementations, the metadata service might reside on the application server or on a separate server.</a:t>
            </a:r>
            <a:endParaRPr/>
          </a:p>
          <a:p>
            <a:pPr indent="0" lvl="0" marL="0" rtl="0" algn="l">
              <a:spcBef>
                <a:spcPts val="1200"/>
              </a:spcBef>
              <a:spcAft>
                <a:spcPts val="0"/>
              </a:spcAft>
              <a:buNone/>
            </a:pPr>
            <a:r>
              <a:rPr lang="en-US" sz="1000">
                <a:solidFill>
                  <a:schemeClr val="dk1"/>
                </a:solidFill>
              </a:rPr>
              <a:t>Object-based storage provides the capability to automatically detect and repair corrupted objects, and to alert the administrator of any potential problem. It also provides on-demand reporting and event notification. Some object-based storage systems support storage optimization techniques such as single instance storage, where only one instance of an object is stored, thereby optimizing </a:t>
            </a:r>
            <a:r>
              <a:rPr lang="en-US" sz="1000"/>
              <a:t>the usable capacity.</a:t>
            </a:r>
            <a:endParaRPr/>
          </a:p>
        </p:txBody>
      </p:sp>
      <p:sp>
        <p:nvSpPr>
          <p:cNvPr id="471" name="Google Shape;471;p30: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1: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31: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Unified storage or multiprotocol storage has emerged as a solution that consolidates block, file, and object-based access within one storage platform. It supports multiple protocols such as CIFS, NFS, iSCSI, FC, FCoE, REST, and SOAP for data access. Such a unified storage system is managed using a single interface. A unified storage system consists of the following key components: storage controller, NAS head, OSD node, and storage. The storage controller, NAS head, and OSD node may be present either separately or be part of a single unit.</a:t>
            </a:r>
            <a:endParaRPr/>
          </a:p>
          <a:p>
            <a:pPr indent="0" lvl="0" marL="0" rtl="0" algn="l">
              <a:spcBef>
                <a:spcPts val="1200"/>
              </a:spcBef>
              <a:spcAft>
                <a:spcPts val="0"/>
              </a:spcAft>
              <a:buNone/>
            </a:pPr>
            <a:r>
              <a:rPr lang="en-US"/>
              <a:t>The storage controller provides block-level access to compute systems through various protocols. It contains front-end ports for direct block access. The storage controller is also responsible for managing the back-end storage pool in the storage system. The controller configures storage volumes and presents them to NAS heads and OSD nodes, as well as to the compute systems.</a:t>
            </a:r>
            <a:endParaRPr/>
          </a:p>
          <a:p>
            <a:pPr indent="0" lvl="0" marL="0" rtl="0" algn="l">
              <a:spcBef>
                <a:spcPts val="1200"/>
              </a:spcBef>
              <a:spcAft>
                <a:spcPts val="0"/>
              </a:spcAft>
              <a:buNone/>
            </a:pPr>
            <a:r>
              <a:rPr lang="en-US"/>
              <a:t>A NAS head is a dedicated file server that provides file access to NAS clients. The NAS head connects to the storage via the storage controller. The system usually has two or more NAS heads for redundancy. The NAS head configures the file systems on assigned volumes, creates NFS, CIFS, or mixed shares, and exports the shares to the NAS clients.</a:t>
            </a:r>
            <a:endParaRPr/>
          </a:p>
          <a:p>
            <a:pPr indent="0" lvl="0" marL="0" rtl="0" algn="l">
              <a:spcBef>
                <a:spcPts val="1200"/>
              </a:spcBef>
              <a:spcAft>
                <a:spcPts val="0"/>
              </a:spcAft>
              <a:buNone/>
            </a:pPr>
            <a:r>
              <a:rPr lang="en-US"/>
              <a:t>The OSD node also accesses the storage through the storage controller. The volumes assigned to the OSD node appear as physical disks. These disks are configured by the OSD nodes, enabling them to store object data.</a:t>
            </a:r>
            <a:endParaRPr/>
          </a:p>
        </p:txBody>
      </p:sp>
      <p:sp>
        <p:nvSpPr>
          <p:cNvPr id="479" name="Google Shape;479;p31: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2: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32: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This lesson covered the common types of persistent data storage devices. This lesson also covered the different RAID techniques (striping, mirroring, and parity) used for data protection and for improving storage performance. Finally, this lesson covered the different data access methods and the storage system architectures based on them, including block-based, file-based, object-based, and unified storage systems.</a:t>
            </a:r>
            <a:endParaRPr/>
          </a:p>
        </p:txBody>
      </p:sp>
      <p:sp>
        <p:nvSpPr>
          <p:cNvPr id="487" name="Google Shape;487;p32: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3: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33: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This lesson covers the types of network communication and describes compute-to-compute communication. This lesson also covers compute-to-storage communication via a storage area network (SAN) and the classification of SAN. Further, this lesson covers inter-cloud communication.</a:t>
            </a:r>
            <a:endParaRPr/>
          </a:p>
        </p:txBody>
      </p:sp>
      <p:sp>
        <p:nvSpPr>
          <p:cNvPr id="495" name="Google Shape;495;p33: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4:notes"/>
          <p:cNvSpPr/>
          <p:nvPr>
            <p:ph idx="2" type="sldImg"/>
          </p:nvPr>
        </p:nvSpPr>
        <p:spPr>
          <a:xfrm>
            <a:off x="1058333" y="685801"/>
            <a:ext cx="4736592" cy="266433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34: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network establishes communication paths between the devices in an IT infrastructure. Devices that are networked together are typically called “nodes”. A network enables information exchange and resource sharing among a large numbers of nodes spread across geographic regions and over long distances. A network may also be connected to other networks to enable data transfer between nodes.  </a:t>
            </a:r>
            <a:endParaRPr/>
          </a:p>
          <a:p>
            <a:pPr indent="0" lvl="0" marL="0" rtl="0" algn="l">
              <a:spcBef>
                <a:spcPts val="1200"/>
              </a:spcBef>
              <a:spcAft>
                <a:spcPts val="0"/>
              </a:spcAft>
              <a:buNone/>
            </a:pPr>
            <a:r>
              <a:rPr lang="en-US"/>
              <a:t>Cloud providers typically leverage different types of networks supporting different network protocols and transporting different classes of network traffic. As established in the discussion of fundamental cloud characteristics, cloud consumers require reliable and secure network connectivity to access cloud services. A provider connects the cloud infrastructure to a network enabling clients (consumers) to connect to the cloud over the network and use cloud services. For example, in an on-premise private cloud, the clients typically connect to the cloud infrastructure over an internal network, such as a LAN. In case of a public cloud, the cloud infrastructure connects to an external network, typically the Internet, over which consumers access cloud services. </a:t>
            </a:r>
            <a:endParaRPr/>
          </a:p>
          <a:p>
            <a:pPr indent="0" lvl="0" marL="0" rtl="0" algn="l">
              <a:spcBef>
                <a:spcPts val="1200"/>
              </a:spcBef>
              <a:spcAft>
                <a:spcPts val="0"/>
              </a:spcAft>
              <a:buNone/>
            </a:pPr>
            <a:r>
              <a:rPr lang="en-US"/>
              <a:t>Cloud service providers may also use IT resources at one or more data centers to provide cloud services. If multiple data centers are deployed, the IT resources from these data centers may be logically aggregated by connecting them over a wide area network (WAN). This enables both migration of cloud services across data centers and provisioning cloud services using resources from multiple data centers. Also, multiple clouds may be inter-connected over a WAN to enable workloads to be moved or distributed across clouds. This scenario was covered in the ‘Introduction to Cloud Computing’ module</a:t>
            </a:r>
            <a:r>
              <a:rPr lang="en-US">
                <a:solidFill>
                  <a:srgbClr val="FF0000"/>
                </a:solidFill>
              </a:rPr>
              <a:t> </a:t>
            </a:r>
            <a:r>
              <a:rPr lang="en-US"/>
              <a:t>as part of the discussion on cloud bursting in a hybrid cloud environment.</a:t>
            </a:r>
            <a:endParaRPr/>
          </a:p>
        </p:txBody>
      </p:sp>
      <p:sp>
        <p:nvSpPr>
          <p:cNvPr id="503" name="Google Shape;503;p34: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5: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35: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Networks in a cloud environment may be classified into various types based on attributes such as communication protocol, topology, transport medium, and so on. Generally network communication may be categorized into: compute-to-compute communication, compute-to-storage communication, and inter-cloud communication.</a:t>
            </a:r>
            <a:endParaRPr/>
          </a:p>
        </p:txBody>
      </p:sp>
      <p:sp>
        <p:nvSpPr>
          <p:cNvPr id="511" name="Google Shape;511;p35: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6: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36: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Compute-to-compute communication typically uses protocols based on the Internet Protocol (IP). Each physical compute system (running an OS or a hypervisor) is connected to the network through one or more physical network cards, such as a network interface controller (NIC). Physical switches and routers are the commonly-used interconnecting devices. A switch enables different compute systems in the network to communicate with each other. A router enables different networks to communicate with each other. The commonly-used network cables are copper cables and optical fiber cables. The figure on the slide shows a network (Local Area Network – LAN or Wide Area Network – WAN) that provides interconnections among the physical compute systems. The cloud provider has to ensure that appropriate switches and routers, with adequate bandwidth and ports, are in place to ensure the required network performance.</a:t>
            </a:r>
            <a:endParaRPr/>
          </a:p>
        </p:txBody>
      </p:sp>
      <p:sp>
        <p:nvSpPr>
          <p:cNvPr id="519" name="Google Shape;519;p36: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7: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37: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 network of compute systems and storage systems is called a storage area network (SAN). A SAN enables the compute systems to access and share storage systems. Sharing improves the utilization of the storage systems. Using a SAN facilitates centralizing storage management, which in turn simplifies and potentially standardizes the management effort.</a:t>
            </a:r>
            <a:endParaRPr/>
          </a:p>
          <a:p>
            <a:pPr indent="0" lvl="0" marL="0" rtl="0" algn="l">
              <a:spcBef>
                <a:spcPts val="1200"/>
              </a:spcBef>
              <a:spcAft>
                <a:spcPts val="0"/>
              </a:spcAft>
              <a:buNone/>
            </a:pPr>
            <a:r>
              <a:rPr lang="en-US"/>
              <a:t>SANs are classified based on protocols they support. Common SAN deployments types are Fibre Channel SAN (FC SAN), Internet Protocol SAN (IP SAN), and Fibre Channel over Ethernet SAN (FCoE SAN).</a:t>
            </a:r>
            <a:endParaRPr/>
          </a:p>
        </p:txBody>
      </p:sp>
      <p:sp>
        <p:nvSpPr>
          <p:cNvPr id="528" name="Google Shape;528;p37: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8: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38: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i="0" lang="en-US"/>
              <a:t>An FC SAN is a high speed, dedicated network of compute systems and shared storage systems that uses Fibre Channel (FC) protocol to transport data, commands, and status information between the compute and the storage systems. The FC protocol primarily implements the Small Computer System Interface (SCSI) command set over FC, although it also supports other protocols such as Asynchronous Transfer Mode (ATM), Fibre Connection (FICON), and IP. SCSI over FC overcomes the distance and accessibility limitations associated with traditional, direct-attached SCSI protocol systems. FC protocol provides block-level access to the storage systems. It also provides a serial data transfer interface that operates over both copper and optical fiber cables. Technical committee T11, a committee within International Committee for Information Technology Standards (INCITS), is responsible for FC interface standards. The latest FC implementations of 16 Gigabit Fibre Channel (GFC) offers data transfer speeds up to 16 Gbps. The FC architecture is highly scalable, and theoretically a single FC SAN can accommodate approximately 15 million nodes.</a:t>
            </a:r>
            <a:endParaRPr/>
          </a:p>
          <a:p>
            <a:pPr indent="0" lvl="0" marL="0" rtl="0" algn="l">
              <a:spcBef>
                <a:spcPts val="1200"/>
              </a:spcBef>
              <a:spcAft>
                <a:spcPts val="0"/>
              </a:spcAft>
              <a:buNone/>
            </a:pPr>
            <a:r>
              <a:rPr i="1" lang="en-US"/>
              <a:t>Note: The term </a:t>
            </a:r>
            <a:r>
              <a:rPr i="0" lang="en-US"/>
              <a:t>“</a:t>
            </a:r>
            <a:r>
              <a:rPr i="1" lang="en-US"/>
              <a:t>Fibre”</a:t>
            </a:r>
            <a:r>
              <a:rPr i="0" lang="en-US"/>
              <a:t> </a:t>
            </a:r>
            <a:r>
              <a:rPr i="1" lang="en-US"/>
              <a:t>refers to the protocol, whereas the term </a:t>
            </a:r>
            <a:r>
              <a:rPr i="0" lang="en-US"/>
              <a:t>“</a:t>
            </a:r>
            <a:r>
              <a:rPr i="1" lang="en-US"/>
              <a:t>fiber” refers to the medium.</a:t>
            </a:r>
            <a:endParaRPr/>
          </a:p>
        </p:txBody>
      </p:sp>
      <p:sp>
        <p:nvSpPr>
          <p:cNvPr id="539" name="Google Shape;539;p38: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9: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39: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The key FC SAN components include network adapters, cables and connectors, and interconnecting devices.</a:t>
            </a:r>
            <a:endParaRPr/>
          </a:p>
          <a:p>
            <a:pPr indent="0" lvl="0" marL="0" rtl="0" algn="l">
              <a:spcBef>
                <a:spcPts val="1200"/>
              </a:spcBef>
              <a:spcAft>
                <a:spcPts val="0"/>
              </a:spcAft>
              <a:buNone/>
            </a:pPr>
            <a:r>
              <a:rPr lang="en-US"/>
              <a:t>Each node requires one or more network adapters to provide a physical interface for communicating with other nodes. Examples of network adapters are FC host bus adapters (HBAs), and storage system front-end adapters. An FC HBA has SCSI-to-FC processing capability. It encapsulates OS (or hypervisor) storage I/Os (usually SCSI I/O) into FC frames before sending the frames to FC storage systems over an FC SAN. </a:t>
            </a:r>
            <a:endParaRPr/>
          </a:p>
          <a:p>
            <a:pPr indent="0" lvl="0" marL="0" rtl="0" algn="l">
              <a:spcBef>
                <a:spcPts val="1200"/>
              </a:spcBef>
              <a:spcAft>
                <a:spcPts val="0"/>
              </a:spcAft>
              <a:buNone/>
            </a:pPr>
            <a:r>
              <a:rPr lang="en-US"/>
              <a:t>FC SAN predominantly uses optical fiber to provide physical connectivity between nodes. Copper cables might be used for shorter distances. A connector may attach at the end of a cable to enable swift connection and disconnection of the cable to and from a port. </a:t>
            </a:r>
            <a:endParaRPr/>
          </a:p>
          <a:p>
            <a:pPr indent="0" lvl="0" marL="0" rtl="0" algn="l">
              <a:spcBef>
                <a:spcPts val="1200"/>
              </a:spcBef>
              <a:spcAft>
                <a:spcPts val="0"/>
              </a:spcAft>
              <a:buNone/>
            </a:pPr>
            <a:r>
              <a:rPr lang="en-US"/>
              <a:t>FC switches and directors are the interconnecting devices commonly used in an FC SAN to forward data from one physical switch port to another. Directors are high-end switches with a higher port count and better fault-tolerance capabilities than smaller switches (also known as “departmental” switches). Switches are available with a fixed port count or with a modular design. In a modular switch, the port count is increased by installing additional port cards into empty slots. Modular switches enable online installation of port cards. The architecture of a director is usually modular, and its port count is increased by inserting line cards or blades to the director’s chassis.</a:t>
            </a:r>
            <a:endParaRPr/>
          </a:p>
        </p:txBody>
      </p:sp>
      <p:sp>
        <p:nvSpPr>
          <p:cNvPr id="551" name="Google Shape;551;p39: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40: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40: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Verdana"/>
              <a:buNone/>
            </a:pPr>
            <a:r>
              <a:rPr lang="en-US"/>
              <a:t>A fabric is created with an FC switch (or an FC director) or a network of switches that enable all nodes to connect to each other and communicate. Each switch in a fabric contains a unique domain identifier (ID), which is part of the fabric’s addressing scheme. Each network adapter and network adapter port in the FC environment has a globally unique 64-bit identifier called the World Wide Name (WWN). Unlike an FC address, which is assigned dynamically, a WWN is a static name. WWNs are burned into the hardware or assigned through software. An FC network adapter is physically identified by a World Wide Node Name (WWNN), and an FC adapter port is physically identified by a World Wide Port Name (WWPN). For example, a dual-port FC HBA has one WWNN and two WWPNs. Further, each FC adapter port in a fabric has a unique 24-bit FC address for communication.</a:t>
            </a:r>
            <a:endParaRPr/>
          </a:p>
          <a:p>
            <a:pPr indent="0" lvl="0" marL="0" marR="0" rtl="0" algn="l">
              <a:lnSpc>
                <a:spcPct val="100000"/>
              </a:lnSpc>
              <a:spcBef>
                <a:spcPts val="1200"/>
              </a:spcBef>
              <a:spcAft>
                <a:spcPts val="0"/>
              </a:spcAft>
              <a:buClr>
                <a:schemeClr val="dk1"/>
              </a:buClr>
              <a:buSzPts val="1000"/>
              <a:buFont typeface="Verdana"/>
              <a:buNone/>
            </a:pPr>
            <a:r>
              <a:t/>
            </a:r>
            <a:endParaRPr/>
          </a:p>
        </p:txBody>
      </p:sp>
      <p:sp>
        <p:nvSpPr>
          <p:cNvPr id="571" name="Google Shape;571;p40: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1: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41: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000">
                <a:solidFill>
                  <a:schemeClr val="dk1"/>
                </a:solidFill>
              </a:rPr>
              <a:t>A port in a switched fabric can be one of the following types:</a:t>
            </a:r>
            <a:endParaRPr/>
          </a:p>
          <a:p>
            <a:pPr indent="-171450" lvl="0" marL="171450" rtl="0" algn="l">
              <a:spcBef>
                <a:spcPts val="1200"/>
              </a:spcBef>
              <a:spcAft>
                <a:spcPts val="0"/>
              </a:spcAft>
              <a:buClr>
                <a:schemeClr val="dk1"/>
              </a:buClr>
              <a:buSzPts val="1000"/>
              <a:buFont typeface="Arial"/>
              <a:buChar char="•"/>
            </a:pPr>
            <a:r>
              <a:rPr b="1" lang="en-US" sz="1000">
                <a:solidFill>
                  <a:schemeClr val="dk1"/>
                </a:solidFill>
              </a:rPr>
              <a:t>N_Port</a:t>
            </a:r>
            <a:r>
              <a:rPr lang="en-US" sz="1000">
                <a:solidFill>
                  <a:schemeClr val="dk1"/>
                </a:solidFill>
              </a:rPr>
              <a:t> is an end-point in the fabric. This port is also known as the node port (or </a:t>
            </a:r>
            <a:r>
              <a:rPr lang="en-US"/>
              <a:t>FC adapter port)</a:t>
            </a:r>
            <a:r>
              <a:rPr lang="en-US" sz="1000">
                <a:solidFill>
                  <a:schemeClr val="dk1"/>
                </a:solidFill>
              </a:rPr>
              <a:t>. Typically, it is a compute system port (on an FC HBA) or a storage system port connected to a switch in a fabric.</a:t>
            </a:r>
            <a:endParaRPr/>
          </a:p>
          <a:p>
            <a:pPr indent="-171450" lvl="0" marL="171450" rtl="0" algn="l">
              <a:spcBef>
                <a:spcPts val="1200"/>
              </a:spcBef>
              <a:spcAft>
                <a:spcPts val="0"/>
              </a:spcAft>
              <a:buClr>
                <a:schemeClr val="dk1"/>
              </a:buClr>
              <a:buSzPts val="1000"/>
              <a:buFont typeface="Arial"/>
              <a:buChar char="•"/>
            </a:pPr>
            <a:r>
              <a:rPr b="1" lang="en-US" sz="1000">
                <a:solidFill>
                  <a:schemeClr val="dk1"/>
                </a:solidFill>
              </a:rPr>
              <a:t>E_Port</a:t>
            </a:r>
            <a:r>
              <a:rPr lang="en-US" sz="1000">
                <a:solidFill>
                  <a:schemeClr val="dk1"/>
                </a:solidFill>
              </a:rPr>
              <a:t> is a switch port that forms a connection between two FC switches. This port is also known as an expansion port. The E_Port on an FC switch connects to the E_Port of another FC switch in the fabric through ISLs.</a:t>
            </a:r>
            <a:endParaRPr/>
          </a:p>
          <a:p>
            <a:pPr indent="-171450" lvl="0" marL="171450" rtl="0" algn="l">
              <a:spcBef>
                <a:spcPts val="1200"/>
              </a:spcBef>
              <a:spcAft>
                <a:spcPts val="0"/>
              </a:spcAft>
              <a:buClr>
                <a:schemeClr val="dk1"/>
              </a:buClr>
              <a:buSzPts val="1000"/>
              <a:buFont typeface="Arial"/>
              <a:buChar char="•"/>
            </a:pPr>
            <a:r>
              <a:rPr b="1" lang="en-US" sz="1000">
                <a:solidFill>
                  <a:schemeClr val="dk1"/>
                </a:solidFill>
              </a:rPr>
              <a:t>F_Port</a:t>
            </a:r>
            <a:r>
              <a:rPr lang="en-US" sz="1000">
                <a:solidFill>
                  <a:schemeClr val="dk1"/>
                </a:solidFill>
              </a:rPr>
              <a:t> is a port on a switch that connects an N_Port. It is also known as a fabric port.</a:t>
            </a:r>
            <a:endParaRPr/>
          </a:p>
          <a:p>
            <a:pPr indent="-171450" lvl="0" marL="171450" rtl="0" algn="l">
              <a:spcBef>
                <a:spcPts val="1200"/>
              </a:spcBef>
              <a:spcAft>
                <a:spcPts val="0"/>
              </a:spcAft>
              <a:buClr>
                <a:schemeClr val="dk1"/>
              </a:buClr>
              <a:buSzPts val="1000"/>
              <a:buFont typeface="Arial"/>
              <a:buChar char="•"/>
            </a:pPr>
            <a:r>
              <a:rPr b="1" lang="en-US" sz="1000">
                <a:solidFill>
                  <a:schemeClr val="dk1"/>
                </a:solidFill>
              </a:rPr>
              <a:t>G_Port</a:t>
            </a:r>
            <a:r>
              <a:rPr lang="en-US" sz="1000">
                <a:solidFill>
                  <a:schemeClr val="dk1"/>
                </a:solidFill>
              </a:rPr>
              <a:t> is a generic port on some vendors’ switches. It can operate as an E_Port or an F_Port and determines its functionality automatically during initialization.</a:t>
            </a:r>
            <a:endParaRPr/>
          </a:p>
        </p:txBody>
      </p:sp>
      <p:sp>
        <p:nvSpPr>
          <p:cNvPr id="579" name="Google Shape;579;p41: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2: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42: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Zoning is an FC switch function that enables node ports within the fabric to be logically segmented into groups and to communicate with each other within the group. Whenever a change takes place in the fabric, the fabric sends a registered state change notification (RSCN) to the nodes in the fabric. If zoning is not configured, the RSCNs are received by all nodes in the fabric. This includes nodes that are not impacted by the change, resulting in increased fabric-management traffic. For a large fabric, the amount of FC traffic generated due to this process can be significant and might impact the compute-to-storage data traffic. Zoning helps to limit the number of RSCNs in a fabric. In the presence of zoning, a fabric sends the RSCNs to only those nodes in the zone where the change has occurred. </a:t>
            </a:r>
            <a:endParaRPr/>
          </a:p>
          <a:p>
            <a:pPr indent="0" lvl="0" marL="0" rtl="0" algn="l">
              <a:spcBef>
                <a:spcPts val="1200"/>
              </a:spcBef>
              <a:spcAft>
                <a:spcPts val="0"/>
              </a:spcAft>
              <a:buNone/>
            </a:pPr>
            <a:r>
              <a:rPr lang="en-US"/>
              <a:t>Both node ports and switch ports can be members of a zone. A port or node can be a member of multiple zones. Nodes distributed across multiple switches in a fabric may also be grouped into the same zone. </a:t>
            </a:r>
            <a:endParaRPr/>
          </a:p>
          <a:p>
            <a:pPr indent="0" lvl="0" marL="0" rtl="0" algn="l">
              <a:spcBef>
                <a:spcPts val="1200"/>
              </a:spcBef>
              <a:spcAft>
                <a:spcPts val="0"/>
              </a:spcAft>
              <a:buNone/>
            </a:pPr>
            <a:r>
              <a:rPr lang="en-US"/>
              <a:t>Single-initiator-single-target zoning is considered as an industry best practice to configure zones. In an FC SAN, the HBA ports and the storage system ports are called initiator ports and target ports respectively. A single-initiator-single-target zone consists of one initiator port and one target port. Single-initiator-single-target zoning eliminates unnecessary compute-to-compute interaction and minimizes RSCNs. Single-initiator-single-target zoning in a large fabric leads to configuring a large number of zones and more administrative actions. However, this practice improves the FC SAN performance and reduces the time to troubleshoot FC SAN-related problems. </a:t>
            </a:r>
            <a:endParaRPr/>
          </a:p>
        </p:txBody>
      </p:sp>
      <p:sp>
        <p:nvSpPr>
          <p:cNvPr id="587" name="Google Shape;587;p42: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3: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43: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Zoning can be categorized into three types: WWN zoning, port zoning, and mixed zoning.</a:t>
            </a:r>
            <a:endParaRPr/>
          </a:p>
          <a:p>
            <a:pPr indent="0" lvl="0" marL="0" rtl="0" algn="l">
              <a:spcBef>
                <a:spcPts val="1200"/>
              </a:spcBef>
              <a:spcAft>
                <a:spcPts val="0"/>
              </a:spcAft>
              <a:buNone/>
            </a:pPr>
            <a:r>
              <a:rPr lang="en-US"/>
              <a:t>WWN zoning uses WWNs to define zones. The zone members are the unique WWPN addresses of the ports in HBA and its targets (storage systems). A major advantage of WWN zoning is its flexibility. WWN zoning allows nodes to be moved to another switch port in the fabric and to maintain connectivity to their zone partners without having to modify the zone configuration. This is possible because the WWN is static to the node port.</a:t>
            </a:r>
            <a:endParaRPr/>
          </a:p>
          <a:p>
            <a:pPr indent="0" lvl="0" marL="0" rtl="0" algn="l">
              <a:spcBef>
                <a:spcPts val="1200"/>
              </a:spcBef>
              <a:spcAft>
                <a:spcPts val="0"/>
              </a:spcAft>
              <a:buNone/>
            </a:pPr>
            <a:r>
              <a:rPr lang="en-US"/>
              <a:t>Port zoning uses the switch port identifier to define zones. In port zoning, access to data is determined by the physical switch port to which a node is connected. The zone members are the port identifier (switch domain ID and port number) to which an HBA and its targets are connected. If a node is moved to another switch port in the fabric, then zoning must be modified to allow the node, in its new port, to participate in its original zone. However, if an HBA or a storage system port fails, an administrator just has to replace the failed device without changing the zoning configuration.</a:t>
            </a:r>
            <a:endParaRPr/>
          </a:p>
          <a:p>
            <a:pPr indent="0" lvl="0" marL="0" rtl="0" algn="l">
              <a:spcBef>
                <a:spcPts val="1200"/>
              </a:spcBef>
              <a:spcAft>
                <a:spcPts val="0"/>
              </a:spcAft>
              <a:buNone/>
            </a:pPr>
            <a:r>
              <a:rPr lang="en-US"/>
              <a:t>Mixed zoning combines the qualities of both WWN zoning and port zoning. Using mixed zoning enables a specific node port to be tied to the WWN of a node. </a:t>
            </a:r>
            <a:endParaRPr/>
          </a:p>
        </p:txBody>
      </p:sp>
      <p:sp>
        <p:nvSpPr>
          <p:cNvPr id="598" name="Google Shape;598;p43: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44: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44: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IP SAN uses the Internet Protocol (IP) for the transport of storage traffic. It transports block I/O over an IP-based network. IP is a mature technology, and using IP SAN as a storage networking option provides several advantages. Cloud providers may have an existing IP-based network infrastructure, which could be used for storage networking. Leveraging an existing IP-based network therefore may be a more economical option than investing in building a new FC SAN infrastructure. In addition, many robust and mature security options are available for IP networks. Many long-distance, disaster recovery (DR) solutions already leverage IP-based networks. Therefore, with IP SAN, providers can extend the geographical reach of their storage infrastructure.</a:t>
            </a:r>
            <a:endParaRPr/>
          </a:p>
          <a:p>
            <a:pPr indent="0" lvl="0" marL="0" rtl="0" algn="l">
              <a:spcBef>
                <a:spcPts val="1200"/>
              </a:spcBef>
              <a:spcAft>
                <a:spcPts val="0"/>
              </a:spcAft>
              <a:buNone/>
            </a:pPr>
            <a:r>
              <a:rPr lang="en-US"/>
              <a:t>Two primary protocols that leverage IP as the transport mechanism for block-level data transmission are Internet SCSI (iSCSI) and Fibre Channel over IP (FCIP).</a:t>
            </a:r>
            <a:endParaRPr/>
          </a:p>
        </p:txBody>
      </p:sp>
      <p:sp>
        <p:nvSpPr>
          <p:cNvPr id="607" name="Google Shape;607;p44: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5: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p45: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iSCSI encapsulates SCSI commands and data into IP packets. These IP packets are transported over an IP-based network. iSCSI network components include:</a:t>
            </a:r>
            <a:endParaRPr/>
          </a:p>
          <a:p>
            <a:pPr indent="-171450" lvl="0" marL="171450" rtl="0" algn="l">
              <a:spcBef>
                <a:spcPts val="1200"/>
              </a:spcBef>
              <a:spcAft>
                <a:spcPts val="0"/>
              </a:spcAft>
              <a:buClr>
                <a:schemeClr val="dk1"/>
              </a:buClr>
              <a:buSzPts val="1000"/>
              <a:buFont typeface="Arial"/>
              <a:buChar char="•"/>
            </a:pPr>
            <a:r>
              <a:rPr lang="en-US"/>
              <a:t>iSCSI initiators such as a software iSCSI adapter and an iSCSI HBA</a:t>
            </a:r>
            <a:endParaRPr/>
          </a:p>
          <a:p>
            <a:pPr indent="-171450" lvl="0" marL="171450" rtl="0" algn="l">
              <a:spcBef>
                <a:spcPts val="1200"/>
              </a:spcBef>
              <a:spcAft>
                <a:spcPts val="0"/>
              </a:spcAft>
              <a:buClr>
                <a:schemeClr val="dk1"/>
              </a:buClr>
              <a:buSzPts val="1000"/>
              <a:buFont typeface="Arial"/>
              <a:buChar char="•"/>
            </a:pPr>
            <a:r>
              <a:rPr lang="en-US"/>
              <a:t>iSCSI targets such as a storage system with iSCSI port or an iSCSI gateway</a:t>
            </a:r>
            <a:endParaRPr/>
          </a:p>
          <a:p>
            <a:pPr indent="-171450" lvl="0" marL="171450" rtl="0" algn="l">
              <a:spcBef>
                <a:spcPts val="1200"/>
              </a:spcBef>
              <a:spcAft>
                <a:spcPts val="0"/>
              </a:spcAft>
              <a:buClr>
                <a:schemeClr val="dk1"/>
              </a:buClr>
              <a:buSzPts val="1000"/>
              <a:buFont typeface="Arial"/>
              <a:buChar char="•"/>
            </a:pPr>
            <a:r>
              <a:rPr lang="en-US"/>
              <a:t>IP-based network</a:t>
            </a:r>
            <a:endParaRPr/>
          </a:p>
          <a:p>
            <a:pPr indent="0" lvl="0" marL="0" rtl="0" algn="l">
              <a:spcBef>
                <a:spcPts val="1200"/>
              </a:spcBef>
              <a:spcAft>
                <a:spcPts val="0"/>
              </a:spcAft>
              <a:buNone/>
            </a:pPr>
            <a:r>
              <a:rPr lang="en-US"/>
              <a:t>An iSCSI initiator sends commands and associated data to a target and the target returns data and responses to the initiator. The software iSCSI adapter is an OS (or hypervisor) kernel-resident software that uses an existing NIC of the compute system to emulate an iSCSI initiator. An iSCSI HBA has a built-in iSCSI initiator and is capable of providing performance benefits over software iSCSI adapters by offloading the entire iSCSI and TCP/IP processing from the processor of the compute system. If an iSCSI-capable storage system is deployed, then an iSCSI initiator can directly communicate with the storage system over an IP-based network. This type of iSCSI implementation is called </a:t>
            </a:r>
            <a:r>
              <a:rPr i="1" lang="en-US"/>
              <a:t>native iSCSI</a:t>
            </a:r>
            <a:r>
              <a:rPr lang="en-US"/>
              <a:t>. Otherwise, in an iSCSI implementation that uses a storage system with only FC ports, an iSCSI gateway is used. This gateway device performs the translation of IP packets to FC frames and vice versa, thereby bridging the connectivity between the IP and the FC environments. This type of iSCSI implementation is called </a:t>
            </a:r>
            <a:r>
              <a:rPr i="1" lang="en-US"/>
              <a:t>bridged iSCSI</a:t>
            </a:r>
            <a:r>
              <a:rPr lang="en-US"/>
              <a:t>. The figure on the slide shows both native and bridged iSCSI implementations.</a:t>
            </a:r>
            <a:endParaRPr/>
          </a:p>
        </p:txBody>
      </p:sp>
      <p:sp>
        <p:nvSpPr>
          <p:cNvPr id="618" name="Google Shape;618;p45: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6: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46: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solidFill>
                  <a:schemeClr val="dk1"/>
                </a:solidFill>
              </a:rPr>
              <a:t>A unique worldwide iSCSI identifier, known as an </a:t>
            </a:r>
            <a:r>
              <a:rPr i="0" lang="en-US">
                <a:solidFill>
                  <a:schemeClr val="dk1"/>
                </a:solidFill>
              </a:rPr>
              <a:t>iSCSI name, </a:t>
            </a:r>
            <a:r>
              <a:rPr lang="en-US"/>
              <a:t>identifies the initiators and the </a:t>
            </a:r>
            <a:r>
              <a:rPr lang="en-US">
                <a:solidFill>
                  <a:schemeClr val="dk1"/>
                </a:solidFill>
              </a:rPr>
              <a:t>targets within an iSCSI network to facilitate communication. The unique identifier can be a combination of the names of the department, application, or manufacturer, serial number, asset number, or any tag that can be used to recognize and manage the devices. The two types of iSCSI names that are commonly used are:</a:t>
            </a:r>
            <a:endParaRPr/>
          </a:p>
          <a:p>
            <a:pPr indent="-171450" lvl="0" marL="171450" rtl="0" algn="l">
              <a:spcBef>
                <a:spcPts val="1200"/>
              </a:spcBef>
              <a:spcAft>
                <a:spcPts val="0"/>
              </a:spcAft>
              <a:buClr>
                <a:schemeClr val="dk1"/>
              </a:buClr>
              <a:buSzPts val="1000"/>
              <a:buFont typeface="Arial"/>
              <a:buChar char="•"/>
            </a:pPr>
            <a:r>
              <a:rPr b="1" lang="en-US"/>
              <a:t>iSCSI Qualified Name</a:t>
            </a:r>
            <a:r>
              <a:rPr lang="en-US"/>
              <a:t> </a:t>
            </a:r>
            <a:r>
              <a:rPr b="1" lang="en-US"/>
              <a:t>(IQN):</a:t>
            </a:r>
            <a:r>
              <a:rPr lang="en-US"/>
              <a:t> An organization must own a registered domain name to generate iSCSI Qualified Names. This domain name does not need to be active or resolve to an address. It just needs to be reserved to prevent other organizations from using the same domain name to generate iSCSI names. A date is included in the name to avoid potential conflicts caused by the transfer of domain names. An example of an IQN is iqn.2014-02.com.example:</a:t>
            </a:r>
            <a:r>
              <a:rPr i="1" lang="en-US"/>
              <a:t>optional_string. </a:t>
            </a:r>
            <a:r>
              <a:rPr lang="en-US"/>
              <a:t>The </a:t>
            </a:r>
            <a:r>
              <a:rPr i="1" lang="en-US"/>
              <a:t>optional_string</a:t>
            </a:r>
            <a:r>
              <a:rPr lang="en-US"/>
              <a:t>  provides a serial number, an asset number, or any other device identifiers. An iSCSI Qualified Name enables storage administrators to assign meaningful names to iSCSI devices, and therefore, manage those devices more easily.</a:t>
            </a:r>
            <a:endParaRPr/>
          </a:p>
          <a:p>
            <a:pPr indent="-171450" lvl="0" marL="171450" rtl="0" algn="l">
              <a:spcBef>
                <a:spcPts val="1200"/>
              </a:spcBef>
              <a:spcAft>
                <a:spcPts val="0"/>
              </a:spcAft>
              <a:buClr>
                <a:schemeClr val="dk1"/>
              </a:buClr>
              <a:buSzPts val="1000"/>
              <a:buFont typeface="Arial"/>
              <a:buChar char="•"/>
            </a:pPr>
            <a:r>
              <a:rPr b="1" lang="en-US"/>
              <a:t>Extended Unique Identifier (EUI):</a:t>
            </a:r>
            <a:r>
              <a:rPr lang="en-US"/>
              <a:t> An EUI is a globally unique identifier based on the IEEE EUI-64 naming standard. An EUI is composed of the “eui” prefix followed by a 16-character hexadecimal name, such as eui.0300732A32598D26.</a:t>
            </a:r>
            <a:endParaRPr>
              <a:solidFill>
                <a:schemeClr val="dk1"/>
              </a:solidFill>
            </a:endParaRPr>
          </a:p>
          <a:p>
            <a:pPr indent="0" lvl="0" marL="0" rtl="0" algn="l">
              <a:spcBef>
                <a:spcPts val="1200"/>
              </a:spcBef>
              <a:spcAft>
                <a:spcPts val="0"/>
              </a:spcAft>
              <a:buNone/>
            </a:pPr>
            <a:r>
              <a:rPr lang="en-US">
                <a:solidFill>
                  <a:schemeClr val="dk1"/>
                </a:solidFill>
              </a:rPr>
              <a:t>In either format, the allowed special characters are dots, dashes, and blank spaces.</a:t>
            </a:r>
            <a:endParaRPr/>
          </a:p>
        </p:txBody>
      </p:sp>
      <p:sp>
        <p:nvSpPr>
          <p:cNvPr id="630" name="Google Shape;630;p46: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47: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47: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FCIP is an encapsulation of FC frames into IP packets. FCIP is a tunneling protocol that enables distributed FC SAN islands to be interconnected over the existing IP-based networks. This enables transporting FC data between disparate FC SANs that may be separated by a long distance. In an FCIP environment, an FCIP entity such as an FCIP gateway is deployed at either end of the tunnel between two FC SAN islands, as shown in the figure on the slide. An FCIP gateway encapsulates FC frames into IP packets and transfers them to the remote gateway through the tunnel. The remote FCIP gateway decapsulates the FC frames from the IP packets and sends the frames to the remote FC SAN. FCIP is extensively used in disaster recovery implementations in which data is replicated to storage located at a remote site.</a:t>
            </a:r>
            <a:endParaRPr/>
          </a:p>
          <a:p>
            <a:pPr indent="0" lvl="0" marL="0" rtl="0" algn="l">
              <a:spcBef>
                <a:spcPts val="1200"/>
              </a:spcBef>
              <a:spcAft>
                <a:spcPts val="0"/>
              </a:spcAft>
              <a:buNone/>
            </a:pPr>
            <a:r>
              <a:rPr lang="en-US"/>
              <a:t>An FCIP implementation is capable of merging interconnected fabrics into a single fabric. In a merged fabric, the fabric service related traffic travels between interconnected FC SANs through the FCIP tunnel. However, only a small subset of nodes at either end of the FCIP tunnel requires connectivity across the tunnel. Thus, the majority of FCIP implementations today use some switch-specific features to prevent the fabrics from merging and also restrict the nodes that are allowed to communicate across the fabrics. </a:t>
            </a:r>
            <a:endParaRPr/>
          </a:p>
          <a:p>
            <a:pPr indent="-107950" lvl="0" marL="171450" rtl="0" algn="l">
              <a:spcBef>
                <a:spcPts val="1200"/>
              </a:spcBef>
              <a:spcAft>
                <a:spcPts val="0"/>
              </a:spcAft>
              <a:buClr>
                <a:schemeClr val="dk1"/>
              </a:buClr>
              <a:buSzPts val="1000"/>
              <a:buFont typeface="Arial"/>
              <a:buNone/>
            </a:pPr>
            <a:r>
              <a:t/>
            </a:r>
            <a:endParaRPr/>
          </a:p>
        </p:txBody>
      </p:sp>
      <p:sp>
        <p:nvSpPr>
          <p:cNvPr id="638" name="Google Shape;638;p47: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48: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p48: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FCoE SAN is a converged enhanced Ethernet (CEE) network that is capable of transporting FC data along with regular Ethernet traffic over high speed (such as 4 Gbps, 8 Gbps, 10 Gbps, or higher) Ethernet links. It uses the FCoE protocol that encapsulates FC frames into Ethernet frames. FCoE is based on an enhanced Ethernet standard that supports Data Center Bridging (DCB) functionalities. DCB ensures lossless transmission of FC traffic over Ethernet. </a:t>
            </a:r>
            <a:endParaRPr/>
          </a:p>
          <a:p>
            <a:pPr indent="0" lvl="0" marL="0" rtl="0" algn="l">
              <a:spcBef>
                <a:spcPts val="1200"/>
              </a:spcBef>
              <a:spcAft>
                <a:spcPts val="0"/>
              </a:spcAft>
              <a:buNone/>
            </a:pPr>
            <a:r>
              <a:rPr lang="en-US"/>
              <a:t>FCoE SAN provides the flexibility to deploy the same network components for transferring both compute-to-compute traffic and FC storage traffic. This helps in reducing the complexity of managing multiple discrete network infrastructures. FCoE SAN uses multi-function network adapters and switches. Therefore, FCoE reduces the number of adapters, cables, and switches, along with power and space consumption required in a data center. </a:t>
            </a:r>
            <a:endParaRPr/>
          </a:p>
        </p:txBody>
      </p:sp>
      <p:sp>
        <p:nvSpPr>
          <p:cNvPr id="650" name="Google Shape;650;p48: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49: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49: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An FCoE SAN consists of converged network adapters (CNAs), FCoE switches, cables, and FCoE storage ports. </a:t>
            </a:r>
            <a:endParaRPr/>
          </a:p>
          <a:p>
            <a:pPr indent="0" lvl="0" marL="0" rtl="0" algn="l">
              <a:spcBef>
                <a:spcPts val="1200"/>
              </a:spcBef>
              <a:spcAft>
                <a:spcPts val="0"/>
              </a:spcAft>
              <a:buNone/>
            </a:pPr>
            <a:r>
              <a:rPr lang="en-US"/>
              <a:t>A CNA is a physical adapter that provides the functionality of both NIC and FC HBA in a single device. It consolidates both FC traffic and regular Ethernet traffic on a common Ethernet infrastructure. CNAs connect compute systems to FCoE switches. They are responsible for encapsulating FC traffic onto Ethernet frames and forwarding them to FCoE switches over CEE links. </a:t>
            </a:r>
            <a:endParaRPr/>
          </a:p>
          <a:p>
            <a:pPr indent="0" lvl="0" marL="0" rtl="0" algn="l">
              <a:spcBef>
                <a:spcPts val="1200"/>
              </a:spcBef>
              <a:spcAft>
                <a:spcPts val="0"/>
              </a:spcAft>
              <a:buNone/>
            </a:pPr>
            <a:r>
              <a:rPr lang="en-US"/>
              <a:t>Instead of CNA, a software FCoE adapter may also be used. A software FCoE adapter is software on the compute system that performs FCoE processing. FCoE processing consumes compute system processor cycles. With software FCoE adapters, the compute system implements FC protocol in software that handles SCSI to FC processing. The software FCoE adapter performs FC to Ethernet encapsulation. Both FCoE traffic (Ethernet traffic that carries FC data) and regular Ethernet traffic are transferred through supported NICs on the compute system. </a:t>
            </a:r>
            <a:endParaRPr/>
          </a:p>
          <a:p>
            <a:pPr indent="0" lvl="0" marL="0" rtl="0" algn="l">
              <a:spcBef>
                <a:spcPts val="1200"/>
              </a:spcBef>
              <a:spcAft>
                <a:spcPts val="0"/>
              </a:spcAft>
              <a:buNone/>
            </a:pPr>
            <a:r>
              <a:rPr lang="en-US"/>
              <a:t>The figure on the slide shows an FCoE implementation that consolidates both FC SAN traffic and LAN (Ethernet) traffic on a common Ethernet infrastructure.</a:t>
            </a:r>
            <a:endParaRPr/>
          </a:p>
        </p:txBody>
      </p:sp>
      <p:sp>
        <p:nvSpPr>
          <p:cNvPr id="661" name="Google Shape;661;p49: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0: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p50: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An FCoE switch has the functionalities of both an Ethernet switch and an FC switch. It has a Fibre Channel Forwarder (FCF), an Ethernet Bridge, and a set of ports that can be used for FC, Ethernet or FCoE connectivity. The function of the FCF is to encapsulate the FC frames received from an existing FC SAN into the Ethernet frames, and also to decapsulate the Ethernet frames received from the Ethernet Bridge to the FC frames. </a:t>
            </a:r>
            <a:endParaRPr/>
          </a:p>
          <a:p>
            <a:pPr indent="0" lvl="0" marL="0" rtl="0" algn="l">
              <a:spcBef>
                <a:spcPts val="1200"/>
              </a:spcBef>
              <a:spcAft>
                <a:spcPts val="0"/>
              </a:spcAft>
              <a:buNone/>
            </a:pPr>
            <a:r>
              <a:rPr lang="en-US"/>
              <a:t>Some vendors offer FCoE ports in their storage systems. These storage systems connect directly to FCoE switches. The FCoE switches form FCoE fabrics between compute and storage systems and provide end-to-end FCoE support. The figure on the slide shows an FCoE implementation with an FCoE-capable storage system.</a:t>
            </a:r>
            <a:endParaRPr/>
          </a:p>
        </p:txBody>
      </p:sp>
      <p:sp>
        <p:nvSpPr>
          <p:cNvPr id="670" name="Google Shape;670;p50: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51: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51: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The cloud tenets of rapid elasticity, resource pooling, and broad network create a sense of availability of limitless resources in a cloud infrastructure that can be accessed from any location over a network. However a single cloud does not have an infinite number of resources. A cloud that does not have adequate resources to satisfy service requests from clients, may be able to fulfill the requests if it is able to access the</a:t>
            </a:r>
            <a:r>
              <a:rPr lang="en-US">
                <a:solidFill>
                  <a:srgbClr val="FFC000"/>
                </a:solidFill>
              </a:rPr>
              <a:t> </a:t>
            </a:r>
            <a:r>
              <a:rPr lang="en-US"/>
              <a:t>resources from another cloud. For example, in a hybrid cloud scenario, a private cloud may access resources from a public cloud during peak workload periods. There may be several combinations of inter-cloud connectivity as depicted in the figure on the slide. Inter-cloud connectivity enables clouds to balance workloads by accessing and using computing resources, such as processing power and storage resources from other cloud infrastructures. The cloud p</a:t>
            </a:r>
            <a:r>
              <a:rPr i="0" lang="en-US"/>
              <a:t>rovider has to ensure network connectivity of the cloud infrastructure over a WAN to the other clouds for resource access and workload distribution.</a:t>
            </a:r>
            <a:endParaRPr i="0"/>
          </a:p>
        </p:txBody>
      </p:sp>
      <p:sp>
        <p:nvSpPr>
          <p:cNvPr id="679" name="Google Shape;679;p51: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52: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 name="Google Shape;686;p52: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This lesson covered the types of network communication, compute-to-compute communication, and compute-to-storage communication over a storage area network (SAN). This lesson also covered the classification of SAN—FC SAN, IP SAN, and FCoE SAN—and described the components and architecture of each. Finally, this lesson covered inter-cloud communication.</a:t>
            </a:r>
            <a:endParaRPr/>
          </a:p>
        </p:txBody>
      </p:sp>
      <p:sp>
        <p:nvSpPr>
          <p:cNvPr id="687" name="Google Shape;687;p52: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53: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4" name="Google Shape;694;p53: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The Concepts in Practice section covers EMC VMAX, EMC VNX, EMC ECS Appliance, EMC Isilon, EMC Atmos, EMC XtremIO, and EMC Connectrix.</a:t>
            </a:r>
            <a:endParaRPr/>
          </a:p>
          <a:p>
            <a:pPr indent="0" lvl="0" marL="0" rtl="0" algn="l">
              <a:spcBef>
                <a:spcPts val="1200"/>
              </a:spcBef>
              <a:spcAft>
                <a:spcPts val="0"/>
              </a:spcAft>
              <a:buNone/>
            </a:pPr>
            <a:r>
              <a:t/>
            </a:r>
            <a:endParaRPr/>
          </a:p>
          <a:p>
            <a:pPr indent="0" lvl="0" marL="0" rtl="0" algn="l">
              <a:spcBef>
                <a:spcPts val="1200"/>
              </a:spcBef>
              <a:spcAft>
                <a:spcPts val="0"/>
              </a:spcAft>
              <a:buNone/>
            </a:pPr>
            <a:r>
              <a:rPr i="1" lang="en-US"/>
              <a:t>Note:</a:t>
            </a:r>
            <a:endParaRPr/>
          </a:p>
          <a:p>
            <a:pPr indent="0" lvl="0" marL="0" rtl="0" algn="l">
              <a:spcBef>
                <a:spcPts val="1200"/>
              </a:spcBef>
              <a:spcAft>
                <a:spcPts val="0"/>
              </a:spcAft>
              <a:buNone/>
            </a:pPr>
            <a:r>
              <a:rPr i="1" lang="en-US"/>
              <a:t>For the latest information on EMC products, visit www.emc.com.</a:t>
            </a:r>
            <a:endParaRPr/>
          </a:p>
        </p:txBody>
      </p:sp>
      <p:sp>
        <p:nvSpPr>
          <p:cNvPr id="695" name="Google Shape;695;p53: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54: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p54: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Verdana"/>
              <a:buNone/>
            </a:pPr>
            <a:r>
              <a:rPr b="0" lang="en-US">
                <a:solidFill>
                  <a:schemeClr val="dk1"/>
                </a:solidFill>
              </a:rPr>
              <a:t>The </a:t>
            </a:r>
            <a:r>
              <a:rPr b="1" lang="en-US">
                <a:solidFill>
                  <a:schemeClr val="dk1"/>
                </a:solidFill>
              </a:rPr>
              <a:t>EMC</a:t>
            </a:r>
            <a:r>
              <a:rPr b="0" lang="en-US">
                <a:solidFill>
                  <a:schemeClr val="dk1"/>
                </a:solidFill>
              </a:rPr>
              <a:t> </a:t>
            </a:r>
            <a:r>
              <a:rPr b="1" lang="en-US">
                <a:solidFill>
                  <a:schemeClr val="dk1"/>
                </a:solidFill>
              </a:rPr>
              <a:t>VMAX</a:t>
            </a:r>
            <a:r>
              <a:rPr lang="en-US">
                <a:solidFill>
                  <a:schemeClr val="dk1"/>
                </a:solidFill>
              </a:rPr>
              <a:t> </a:t>
            </a:r>
            <a:r>
              <a:rPr b="0" i="0" lang="en-US" sz="1000">
                <a:solidFill>
                  <a:schemeClr val="dk1"/>
                </a:solidFill>
                <a:latin typeface="Verdana"/>
                <a:ea typeface="Verdana"/>
                <a:cs typeface="Verdana"/>
                <a:sym typeface="Verdana"/>
              </a:rPr>
              <a:t>family of storage arrays is </a:t>
            </a:r>
            <a:r>
              <a:rPr lang="en-US"/>
              <a:t>a full line of high-end enterprise storage platforms from EMC. The VMAX series </a:t>
            </a:r>
            <a:r>
              <a:rPr lang="en-US">
                <a:solidFill>
                  <a:schemeClr val="dk1"/>
                </a:solidFill>
              </a:rPr>
              <a:t>provides block-based storage that delivers enterprise storage with scalability, performance, and availability to meet </a:t>
            </a:r>
            <a:r>
              <a:rPr lang="en-US"/>
              <a:t>the</a:t>
            </a:r>
            <a:r>
              <a:rPr lang="en-US">
                <a:solidFill>
                  <a:schemeClr val="dk1"/>
                </a:solidFill>
              </a:rPr>
              <a:t> business requirements. The VMAX series is an innovative platform built around a scalable Virtual Matrix architecture to support the future storage growth demands of virtual data centers and cloud environments. It also supports multiple protocols for host connectivity. VMAX storage systems provide business continuity solution by supporting various local and remote replications.</a:t>
            </a:r>
            <a:endParaRPr/>
          </a:p>
          <a:p>
            <a:pPr indent="0" lvl="0" marL="0" marR="0" rtl="0" algn="l">
              <a:spcBef>
                <a:spcPts val="1200"/>
              </a:spcBef>
              <a:spcAft>
                <a:spcPts val="0"/>
              </a:spcAft>
              <a:buClr>
                <a:schemeClr val="dk1"/>
              </a:buClr>
              <a:buSzPts val="1000"/>
              <a:buFont typeface="Verdana"/>
              <a:buNone/>
            </a:pPr>
            <a:r>
              <a:rPr lang="en-US"/>
              <a:t>The </a:t>
            </a:r>
            <a:r>
              <a:rPr b="1" lang="en-US"/>
              <a:t>EMC VNX</a:t>
            </a:r>
            <a:r>
              <a:rPr lang="en-US"/>
              <a:t> family is a group of products that provide a unified storage platform that consolidates block, file, and object access into one solution. The VNX series is built for small to medium-sized businesses and enterprises. It enables organizations to dynamically grow, share, and manage multi-protocol file systems and multi-protocol block storage access. The VNX operating environment enables Windows and UNIX/Linux users to share files using NFS and CIFS. It also supports FC, iSCSI, and FCoE access.</a:t>
            </a:r>
            <a:endParaRPr/>
          </a:p>
          <a:p>
            <a:pPr indent="0" lvl="0" marL="0" marR="0" rtl="0" algn="l">
              <a:spcBef>
                <a:spcPts val="1200"/>
              </a:spcBef>
              <a:spcAft>
                <a:spcPts val="0"/>
              </a:spcAft>
              <a:buClr>
                <a:schemeClr val="dk1"/>
              </a:buClr>
              <a:buSzPts val="1000"/>
              <a:buFont typeface="Verdana"/>
              <a:buNone/>
            </a:pPr>
            <a:r>
              <a:rPr b="1" i="0" lang="en-US" sz="1000">
                <a:solidFill>
                  <a:schemeClr val="dk1"/>
                </a:solidFill>
              </a:rPr>
              <a:t>EMC ECS Appliance </a:t>
            </a:r>
            <a:r>
              <a:rPr b="0" i="0" lang="en-US" sz="1000">
                <a:solidFill>
                  <a:schemeClr val="dk1"/>
                </a:solidFill>
              </a:rPr>
              <a:t>is a hyper-scale storage infrastructure that provides </a:t>
            </a:r>
            <a:r>
              <a:rPr lang="en-US" sz="1000">
                <a:solidFill>
                  <a:schemeClr val="dk1"/>
                </a:solidFill>
                <a:latin typeface="Verdana"/>
                <a:ea typeface="Verdana"/>
                <a:cs typeface="Verdana"/>
                <a:sym typeface="Verdana"/>
              </a:rPr>
              <a:t>universal protocol support in a single, highly-available platform for block, file, object, and Hadoop Distributed File System (HDFS) storage. ECS Appliance enables cloud providers to deliver competitive cloud storage services at scale. It provides geo-efficient protection, multi-tenancy, self-service portal, and detailed metering capabilities and enables scaling to Exabyte levels. ECS provides a single platform for all </a:t>
            </a:r>
            <a:r>
              <a:rPr lang="en-US"/>
              <a:t>web</a:t>
            </a:r>
            <a:r>
              <a:rPr lang="en-US" sz="1000">
                <a:solidFill>
                  <a:schemeClr val="dk1"/>
                </a:solidFill>
                <a:latin typeface="Verdana"/>
                <a:ea typeface="Verdana"/>
                <a:cs typeface="Verdana"/>
                <a:sym typeface="Verdana"/>
              </a:rPr>
              <a:t>, mobile, Big Data, and social media applications. There are two types of data services within ECS: Block Data Services and Unstructured Data Services that support unstructured, block</a:t>
            </a:r>
            <a:r>
              <a:rPr lang="en-US" sz="1000">
                <a:latin typeface="Verdana"/>
                <a:ea typeface="Verdana"/>
                <a:cs typeface="Verdana"/>
                <a:sym typeface="Verdana"/>
              </a:rPr>
              <a:t>,</a:t>
            </a:r>
            <a:r>
              <a:rPr lang="en-US" sz="1000">
                <a:solidFill>
                  <a:schemeClr val="dk1"/>
                </a:solidFill>
                <a:latin typeface="Verdana"/>
                <a:ea typeface="Verdana"/>
                <a:cs typeface="Verdana"/>
                <a:sym typeface="Verdana"/>
              </a:rPr>
              <a:t> and mixed use cases.</a:t>
            </a:r>
            <a:endParaRPr b="0" i="0" sz="1000">
              <a:solidFill>
                <a:schemeClr val="dk1"/>
              </a:solidFill>
            </a:endParaRPr>
          </a:p>
        </p:txBody>
      </p:sp>
      <p:sp>
        <p:nvSpPr>
          <p:cNvPr id="703" name="Google Shape;703;p54: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55: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p55: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a:t>EMC Isilon</a:t>
            </a:r>
            <a:r>
              <a:rPr lang="en-US"/>
              <a:t> is a scale-out NAS storage product family </a:t>
            </a:r>
            <a:r>
              <a:rPr b="0" i="0" lang="en-US" sz="1000">
                <a:solidFill>
                  <a:schemeClr val="dk1"/>
                </a:solidFill>
              </a:rPr>
              <a:t>powered by the OneFS operating environment.</a:t>
            </a:r>
            <a:r>
              <a:rPr lang="en-US"/>
              <a:t> Isilon enables pooling multiple nodes together to construct a clustered NAS system. OneFS is the operating environment that creates a single file system that spans across all nodes in an Isilon cluster. EMC Isilon provides the capability to manage and store large (petabyte-scale), high-growth data in a single system with the flexibility to meet a broad range of performance requirements. </a:t>
            </a:r>
            <a:endParaRPr/>
          </a:p>
          <a:p>
            <a:pPr indent="0" lvl="0" marL="0" rtl="0" algn="l">
              <a:spcBef>
                <a:spcPts val="1200"/>
              </a:spcBef>
              <a:spcAft>
                <a:spcPts val="0"/>
              </a:spcAft>
              <a:buNone/>
            </a:pPr>
            <a:r>
              <a:rPr b="1" lang="en-US"/>
              <a:t>EMC Atmos</a:t>
            </a:r>
            <a:r>
              <a:rPr lang="en-US"/>
              <a:t> is a cloud storage platform for enterprises and service providers to deploy public, private, or hybrid cloud storage. It enables to store, manage, and protect globally distributed, unstructured content at scale. Atmos is a scale-out object architecture that stores data as objects with the</a:t>
            </a:r>
            <a:r>
              <a:rPr lang="en-US">
                <a:solidFill>
                  <a:srgbClr val="FFC000"/>
                </a:solidFill>
              </a:rPr>
              <a:t> </a:t>
            </a:r>
            <a:r>
              <a:rPr lang="en-US"/>
              <a:t>associated metadata. It enables storage to be scaled out without the need to rewrite applications. Some of the key cloud features of Atmos include a global namespace, REST API-driven storage, multi-tenancy, self-service, and metering and chargeback.</a:t>
            </a:r>
            <a:endParaRPr/>
          </a:p>
        </p:txBody>
      </p:sp>
      <p:sp>
        <p:nvSpPr>
          <p:cNvPr id="711" name="Google Shape;711;p55: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56: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8" name="Google Shape;718;p56: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a:t>EMC XtremIO </a:t>
            </a:r>
            <a:r>
              <a:rPr lang="en-US"/>
              <a:t>is an all-flash, block-based, scale-out enterprise storage array that provides substantial improvements to I/O performance. It is purpose-built to leverage flash media and delivers new levels of real-world performance, administrative ease, and advanced data services for applications. It uses a scale-out clustered design that grows capacity and performance linearly to meet any requirement. XtremIO arrays are created from building blocks called "X-Bricks" that are each a high-availability, high-performance, fully active/active storage system with no single point of failure. XtremIO's powerful operating system, XIOS, manages the XtremIO storage cluster. XIOS ensures that the system remains balanced and always delivers the highest levels of performance with no administrator intervention. XtremIO helps the administrators to become more efficient by enabling system configuration in a few clicks, provisioning storage in seconds, and monitoring the environment with real-time metrics.</a:t>
            </a:r>
            <a:endParaRPr/>
          </a:p>
          <a:p>
            <a:pPr indent="0" lvl="0" marL="0" marR="0" rtl="0" algn="l">
              <a:spcBef>
                <a:spcPts val="1200"/>
              </a:spcBef>
              <a:spcAft>
                <a:spcPts val="0"/>
              </a:spcAft>
              <a:buClr>
                <a:schemeClr val="dk1"/>
              </a:buClr>
              <a:buSzPts val="1000"/>
              <a:buFont typeface="Verdana"/>
              <a:buNone/>
            </a:pPr>
            <a:r>
              <a:rPr lang="en-US"/>
              <a:t>The </a:t>
            </a:r>
            <a:r>
              <a:rPr b="1" lang="en-US"/>
              <a:t>EMC Connectrix </a:t>
            </a:r>
            <a:r>
              <a:rPr lang="en-US"/>
              <a:t>family is a group of networked storage connectivity products. EMC offers the following connectivity products under the Connectrix brand:</a:t>
            </a:r>
            <a:endParaRPr/>
          </a:p>
          <a:p>
            <a:pPr indent="-171450" lvl="0" marL="171450" rtl="0" algn="l">
              <a:spcBef>
                <a:spcPts val="1200"/>
              </a:spcBef>
              <a:spcAft>
                <a:spcPts val="0"/>
              </a:spcAft>
              <a:buClr>
                <a:schemeClr val="dk1"/>
              </a:buClr>
              <a:buSzPts val="1000"/>
              <a:buFont typeface="Arial"/>
              <a:buChar char="•"/>
            </a:pPr>
            <a:r>
              <a:rPr lang="en-US"/>
              <a:t>Enterprise directors: Ideal </a:t>
            </a:r>
            <a:r>
              <a:rPr lang="en-US" sz="1000"/>
              <a:t>for large enterprise connectivity. Offer high port density and high component redundancy. Deployed in high-availability or large-scale environments </a:t>
            </a:r>
            <a:endParaRPr/>
          </a:p>
          <a:p>
            <a:pPr indent="-171450" lvl="0" marL="171450" rtl="0" algn="l">
              <a:spcBef>
                <a:spcPts val="1200"/>
              </a:spcBef>
              <a:spcAft>
                <a:spcPts val="0"/>
              </a:spcAft>
              <a:buClr>
                <a:schemeClr val="dk1"/>
              </a:buClr>
              <a:buSzPts val="1000"/>
              <a:buFont typeface="Arial"/>
              <a:buChar char="•"/>
            </a:pPr>
            <a:r>
              <a:rPr lang="en-US"/>
              <a:t>Departmental switches: D</a:t>
            </a:r>
            <a:r>
              <a:rPr lang="en-US" sz="1000"/>
              <a:t>esigned to meet workgroup-level, </a:t>
            </a:r>
            <a:r>
              <a:rPr lang="en-US" sz="1000">
                <a:solidFill>
                  <a:schemeClr val="dk1"/>
                </a:solidFill>
              </a:rPr>
              <a:t>department-level, and enterprise-level requirements. Provide high availability through features such as non-disruptive software and port upgrade, and redundant and hot-swappable components</a:t>
            </a:r>
            <a:endParaRPr/>
          </a:p>
          <a:p>
            <a:pPr indent="-171450" lvl="0" marL="171450" rtl="0" algn="l">
              <a:spcBef>
                <a:spcPts val="1200"/>
              </a:spcBef>
              <a:spcAft>
                <a:spcPts val="0"/>
              </a:spcAft>
              <a:buClr>
                <a:schemeClr val="dk1"/>
              </a:buClr>
              <a:buSzPts val="1000"/>
              <a:buFont typeface="Arial"/>
              <a:buChar char="•"/>
            </a:pPr>
            <a:r>
              <a:rPr lang="en-US"/>
              <a:t>Multi-purpose switches: S</a:t>
            </a:r>
            <a:r>
              <a:rPr lang="en-US">
                <a:solidFill>
                  <a:schemeClr val="dk1"/>
                </a:solidFill>
              </a:rPr>
              <a:t>upport various protocols such as FC, iSCSI, FCIP, FCoE, and FICON. Include FCoE switches, FCIP gateways, and iSCSI gateways. Multiprotocol capabilities offer many benefits, including long-distance SAN extension, greater resource sharing, and simplified management.</a:t>
            </a:r>
            <a:endParaRPr/>
          </a:p>
        </p:txBody>
      </p:sp>
      <p:sp>
        <p:nvSpPr>
          <p:cNvPr id="719" name="Google Shape;719;p56: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57: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57: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This module covered the key components of a compute system and the common types of physical compute systems: tower, rack-mounted, and blade. This module also covered the common types of persistent storage devices, the different RAID techniques (striping, mirroring, and parity), and the types of storage system architectures: block-based, file-based, object-based, and unified storage systems. Finally, this module covered compute-to-compute communication, compute-to-storage communication (SAN), and SAN classification: FC SAN, IP SAN, and FCoE SAN. Finally, this module covered inter-cloud communication.</a:t>
            </a:r>
            <a:endParaRPr/>
          </a:p>
        </p:txBody>
      </p:sp>
      <p:sp>
        <p:nvSpPr>
          <p:cNvPr id="727" name="Google Shape;727;p57: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58:notes"/>
          <p:cNvSpPr/>
          <p:nvPr>
            <p:ph idx="2" type="sldImg"/>
          </p:nvPr>
        </p:nvSpPr>
        <p:spPr>
          <a:xfrm>
            <a:off x="1058863" y="685800"/>
            <a:ext cx="4740275" cy="2667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p58:notes"/>
          <p:cNvSpPr txBox="1"/>
          <p:nvPr>
            <p:ph idx="1" type="body"/>
          </p:nvPr>
        </p:nvSpPr>
        <p:spPr>
          <a:xfrm>
            <a:off x="457200" y="3581400"/>
            <a:ext cx="5943600" cy="526517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a:solidFill>
                <a:schemeClr val="dk1"/>
              </a:solidFill>
            </a:endParaRPr>
          </a:p>
        </p:txBody>
      </p:sp>
      <p:sp>
        <p:nvSpPr>
          <p:cNvPr id="735" name="Google Shape;735;p58:notes"/>
          <p:cNvSpPr txBox="1"/>
          <p:nvPr>
            <p:ph idx="11" type="ftr"/>
          </p:nvPr>
        </p:nvSpPr>
        <p:spPr>
          <a:xfrm>
            <a:off x="2209800" y="8984259"/>
            <a:ext cx="4210202" cy="15974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6.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emc.force.com/EducationSupport" TargetMode="External"/><Relationship Id="rId3"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Objectives and Summary">
  <p:cSld name="Module Objectives and Summary">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60"/>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60"/>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lvl1pPr indent="-355600" lvl="0" marL="457200" marR="0" rtl="0" algn="l">
              <a:spcBef>
                <a:spcPts val="1200"/>
              </a:spcBef>
              <a:spcAft>
                <a:spcPts val="0"/>
              </a:spcAft>
              <a:buClr>
                <a:schemeClr val="dk2"/>
              </a:buClr>
              <a:buSzPts val="2000"/>
              <a:buFont typeface="Arial"/>
              <a:buChar char="•"/>
              <a:defRPr b="0" i="0" sz="20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17500" lvl="3" marL="1828800" marR="0" rtl="0" algn="l">
              <a:spcBef>
                <a:spcPts val="300"/>
              </a:spcBef>
              <a:spcAft>
                <a:spcPts val="0"/>
              </a:spcAft>
              <a:buClr>
                <a:schemeClr val="dk2"/>
              </a:buClr>
              <a:buSzPts val="1400"/>
              <a:buFont typeface="Arial"/>
              <a:buChar char="–"/>
              <a:defRPr b="0" i="0" sz="14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15" name="Google Shape;15;p60"/>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16" name="Google Shape;16;p60"/>
          <p:cNvPicPr preferRelativeResize="0"/>
          <p:nvPr/>
        </p:nvPicPr>
        <p:blipFill rotWithShape="1">
          <a:blip r:embed="rId3">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sp>
        <p:nvSpPr>
          <p:cNvPr id="18" name="Google Shape;18;p61"/>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61"/>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lvl1pPr indent="-355600" lvl="0" marL="457200" marR="0" rtl="0" algn="l">
              <a:spcBef>
                <a:spcPts val="1200"/>
              </a:spcBef>
              <a:spcAft>
                <a:spcPts val="0"/>
              </a:spcAft>
              <a:buClr>
                <a:schemeClr val="dk2"/>
              </a:buClr>
              <a:buSzPts val="2000"/>
              <a:buFont typeface="Arial"/>
              <a:buChar char="•"/>
              <a:defRPr b="0" i="0" sz="20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17500" lvl="3" marL="1828800" marR="0" rtl="0" algn="l">
              <a:spcBef>
                <a:spcPts val="300"/>
              </a:spcBef>
              <a:spcAft>
                <a:spcPts val="0"/>
              </a:spcAft>
              <a:buClr>
                <a:schemeClr val="dk2"/>
              </a:buClr>
              <a:buSzPts val="1400"/>
              <a:buFont typeface="Arial"/>
              <a:buChar char="–"/>
              <a:defRPr b="0" i="0" sz="14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20" name="Google Shape;20;p61"/>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21" name="Google Shape;21;p61"/>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opics and Summary">
  <p:cSld name="Lesson Topics and Summary">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62"/>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 name="Google Shape;24;p62"/>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lvl1pPr indent="-355600" lvl="0" marL="457200" marR="0" rtl="0" algn="l">
              <a:spcBef>
                <a:spcPts val="1200"/>
              </a:spcBef>
              <a:spcAft>
                <a:spcPts val="0"/>
              </a:spcAft>
              <a:buClr>
                <a:schemeClr val="dk2"/>
              </a:buClr>
              <a:buSzPts val="2000"/>
              <a:buFont typeface="Arial"/>
              <a:buChar char="•"/>
              <a:defRPr b="0" i="0" sz="20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17500" lvl="3" marL="1828800" marR="0" rtl="0" algn="l">
              <a:spcBef>
                <a:spcPts val="300"/>
              </a:spcBef>
              <a:spcAft>
                <a:spcPts val="0"/>
              </a:spcAft>
              <a:buClr>
                <a:schemeClr val="dk2"/>
              </a:buClr>
              <a:buSzPts val="1400"/>
              <a:buFont typeface="Arial"/>
              <a:buChar char="–"/>
              <a:defRPr b="0" i="0" sz="14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25" name="Google Shape;25;p62"/>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26" name="Google Shape;26;p62"/>
          <p:cNvPicPr preferRelativeResize="0"/>
          <p:nvPr/>
        </p:nvPicPr>
        <p:blipFill rotWithShape="1">
          <a:blip r:embed="rId3">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 name="Shape 27"/>
        <p:cNvGrpSpPr/>
        <p:nvPr/>
      </p:nvGrpSpPr>
      <p:grpSpPr>
        <a:xfrm>
          <a:off x="0" y="0"/>
          <a:ext cx="0" cy="0"/>
          <a:chOff x="0" y="0"/>
          <a:chExt cx="0" cy="0"/>
        </a:xfrm>
      </p:grpSpPr>
      <p:sp>
        <p:nvSpPr>
          <p:cNvPr id="28" name="Google Shape;28;p63"/>
          <p:cNvSpPr txBox="1"/>
          <p:nvPr>
            <p:ph type="ctrTitle"/>
          </p:nvPr>
        </p:nvSpPr>
        <p:spPr>
          <a:xfrm>
            <a:off x="379413" y="228601"/>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63"/>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30" name="Google Shape;30;p63"/>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Cover Page">
    <p:spTree>
      <p:nvGrpSpPr>
        <p:cNvPr id="31" name="Shape 31"/>
        <p:cNvGrpSpPr/>
        <p:nvPr/>
      </p:nvGrpSpPr>
      <p:grpSpPr>
        <a:xfrm>
          <a:off x="0" y="0"/>
          <a:ext cx="0" cy="0"/>
          <a:chOff x="0" y="0"/>
          <a:chExt cx="0" cy="0"/>
        </a:xfrm>
      </p:grpSpPr>
      <p:sp>
        <p:nvSpPr>
          <p:cNvPr id="32" name="Google Shape;32;p64"/>
          <p:cNvSpPr txBox="1"/>
          <p:nvPr>
            <p:ph type="ctrTitle"/>
          </p:nvPr>
        </p:nvSpPr>
        <p:spPr>
          <a:xfrm>
            <a:off x="1028804" y="1809750"/>
            <a:ext cx="6743596" cy="1194689"/>
          </a:xfrm>
          <a:prstGeom prst="rect">
            <a:avLst/>
          </a:prstGeom>
          <a:noFill/>
          <a:ln>
            <a:noFill/>
          </a:ln>
        </p:spPr>
        <p:txBody>
          <a:bodyPr anchorCtr="0" anchor="b" bIns="0" lIns="0" spcFirstLastPara="1" rIns="0" wrap="square" tIns="0">
            <a:noAutofit/>
          </a:bodyPr>
          <a:lstStyle>
            <a:lvl1pPr lvl="0" marR="0" rtl="0" algn="ctr">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64"/>
          <p:cNvSpPr txBox="1"/>
          <p:nvPr>
            <p:ph idx="1" type="subTitle"/>
          </p:nvPr>
        </p:nvSpPr>
        <p:spPr>
          <a:xfrm>
            <a:off x="1028805" y="3105150"/>
            <a:ext cx="6743595" cy="816769"/>
          </a:xfrm>
          <a:prstGeom prst="rect">
            <a:avLst/>
          </a:prstGeom>
          <a:noFill/>
          <a:ln>
            <a:noFill/>
          </a:ln>
        </p:spPr>
        <p:txBody>
          <a:bodyPr anchorCtr="0" anchor="t" bIns="0" lIns="0" spcFirstLastPara="1" rIns="0" wrap="square" tIns="0">
            <a:noAutofit/>
          </a:bodyPr>
          <a:lstStyle>
            <a:lvl1pPr lvl="0" marR="0" rtl="0" algn="ctr">
              <a:spcBef>
                <a:spcPts val="480"/>
              </a:spcBef>
              <a:spcAft>
                <a:spcPts val="0"/>
              </a:spcAft>
              <a:buClr>
                <a:schemeClr val="dk1"/>
              </a:buClr>
              <a:buSzPts val="2400"/>
              <a:buFont typeface="Arial"/>
              <a:buNone/>
              <a:defRPr b="0" i="0" sz="2400" u="none" cap="none" strike="noStrike">
                <a:solidFill>
                  <a:schemeClr val="dk1"/>
                </a:solidFill>
                <a:latin typeface="Verdana"/>
                <a:ea typeface="Verdana"/>
                <a:cs typeface="Verdana"/>
                <a:sym typeface="Verdana"/>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Verdana"/>
                <a:ea typeface="Verdana"/>
                <a:cs typeface="Verdana"/>
                <a:sym typeface="Verdana"/>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Verdana"/>
                <a:ea typeface="Verdana"/>
                <a:cs typeface="Verdana"/>
                <a:sym typeface="Verdana"/>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9pPr>
          </a:lstStyle>
          <a:p/>
        </p:txBody>
      </p:sp>
      <p:sp>
        <p:nvSpPr>
          <p:cNvPr id="34" name="Google Shape;34;p64"/>
          <p:cNvSpPr txBox="1"/>
          <p:nvPr/>
        </p:nvSpPr>
        <p:spPr>
          <a:xfrm>
            <a:off x="5257800" y="4933950"/>
            <a:ext cx="2114550" cy="153988"/>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000">
                <a:solidFill>
                  <a:srgbClr val="10100F"/>
                </a:solidFill>
                <a:latin typeface="Calibri"/>
                <a:ea typeface="Calibri"/>
                <a:cs typeface="Calibri"/>
                <a:sym typeface="Calibri"/>
              </a:rPr>
              <a:t>Support Contact: </a:t>
            </a:r>
            <a:r>
              <a:rPr lang="en-US" sz="1000" u="sng">
                <a:solidFill>
                  <a:schemeClr val="dk1"/>
                </a:solidFill>
                <a:latin typeface="Calibri"/>
                <a:ea typeface="Calibri"/>
                <a:cs typeface="Calibri"/>
                <a:sym typeface="Calibri"/>
                <a:hlinkClick r:id="rId2">
                  <a:extLst>
                    <a:ext uri="{A12FA001-AC4F-418D-AE19-62706E023703}">
                      <ahyp:hlinkClr val="tx"/>
                    </a:ext>
                  </a:extLst>
                </a:hlinkClick>
              </a:rPr>
              <a:t>Education Services</a:t>
            </a:r>
            <a:endParaRPr sz="1000">
              <a:solidFill>
                <a:schemeClr val="dk1"/>
              </a:solidFill>
              <a:latin typeface="Calibri"/>
              <a:ea typeface="Calibri"/>
              <a:cs typeface="Calibri"/>
              <a:sym typeface="Calibri"/>
            </a:endParaRPr>
          </a:p>
        </p:txBody>
      </p:sp>
      <p:pic>
        <p:nvPicPr>
          <p:cNvPr id="35" name="Google Shape;35;p64"/>
          <p:cNvPicPr preferRelativeResize="0"/>
          <p:nvPr/>
        </p:nvPicPr>
        <p:blipFill rotWithShape="1">
          <a:blip r:embed="rId3">
            <a:alphaModFix/>
          </a:blip>
          <a:srcRect b="0" l="0" r="0" t="0"/>
          <a:stretch/>
        </p:blipFill>
        <p:spPr>
          <a:xfrm>
            <a:off x="7686675" y="4086561"/>
            <a:ext cx="923925" cy="108064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36" name="Shape 36"/>
        <p:cNvGrpSpPr/>
        <p:nvPr/>
      </p:nvGrpSpPr>
      <p:grpSpPr>
        <a:xfrm>
          <a:off x="0" y="0"/>
          <a:ext cx="0" cy="0"/>
          <a:chOff x="0" y="0"/>
          <a:chExt cx="0" cy="0"/>
        </a:xfrm>
      </p:grpSpPr>
      <p:sp>
        <p:nvSpPr>
          <p:cNvPr id="37" name="Google Shape;37;p65"/>
          <p:cNvSpPr txBox="1"/>
          <p:nvPr>
            <p:ph type="ctrTitle"/>
          </p:nvPr>
        </p:nvSpPr>
        <p:spPr>
          <a:xfrm>
            <a:off x="379413" y="228601"/>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8" name="Google Shape;38;p65"/>
          <p:cNvSpPr txBox="1"/>
          <p:nvPr>
            <p:ph idx="1" type="subTitle"/>
          </p:nvPr>
        </p:nvSpPr>
        <p:spPr>
          <a:xfrm>
            <a:off x="379413" y="703000"/>
            <a:ext cx="8449733" cy="302417"/>
          </a:xfrm>
          <a:prstGeom prst="rect">
            <a:avLst/>
          </a:prstGeom>
          <a:noFill/>
          <a:ln>
            <a:noFill/>
          </a:ln>
        </p:spPr>
        <p:txBody>
          <a:bodyPr anchorCtr="0" anchor="t" bIns="0" lIns="0" spcFirstLastPara="1" rIns="0" wrap="square" tIns="0">
            <a:noAutofit/>
          </a:bodyPr>
          <a:lstStyle>
            <a:lvl1pPr lvl="0" marR="0" rtl="0" algn="l">
              <a:spcBef>
                <a:spcPts val="400"/>
              </a:spcBef>
              <a:spcAft>
                <a:spcPts val="0"/>
              </a:spcAft>
              <a:buClr>
                <a:schemeClr val="dk1"/>
              </a:buClr>
              <a:buSzPts val="2000"/>
              <a:buFont typeface="Arial"/>
              <a:buNone/>
              <a:defRPr b="0" i="0" sz="2000" u="none" cap="none" strike="noStrike">
                <a:solidFill>
                  <a:schemeClr val="dk1"/>
                </a:solidFill>
                <a:latin typeface="Verdana"/>
                <a:ea typeface="Verdana"/>
                <a:cs typeface="Verdana"/>
                <a:sym typeface="Verdana"/>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Verdana"/>
                <a:ea typeface="Verdana"/>
                <a:cs typeface="Verdana"/>
                <a:sym typeface="Verdana"/>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Verdana"/>
                <a:ea typeface="Verdana"/>
                <a:cs typeface="Verdana"/>
                <a:sym typeface="Verdana"/>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9pPr>
          </a:lstStyle>
          <a:p/>
        </p:txBody>
      </p:sp>
      <p:sp>
        <p:nvSpPr>
          <p:cNvPr id="39" name="Google Shape;39;p65"/>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40" name="Google Shape;40;p65"/>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41" name="Shape 41"/>
        <p:cNvGrpSpPr/>
        <p:nvPr/>
      </p:nvGrpSpPr>
      <p:grpSpPr>
        <a:xfrm>
          <a:off x="0" y="0"/>
          <a:ext cx="0" cy="0"/>
          <a:chOff x="0" y="0"/>
          <a:chExt cx="0" cy="0"/>
        </a:xfrm>
      </p:grpSpPr>
      <p:sp>
        <p:nvSpPr>
          <p:cNvPr id="42" name="Google Shape;42;p66"/>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 name="Google Shape;43;p66"/>
          <p:cNvSpPr txBox="1"/>
          <p:nvPr>
            <p:ph idx="1" type="body"/>
          </p:nvPr>
        </p:nvSpPr>
        <p:spPr>
          <a:xfrm>
            <a:off x="379413" y="1295400"/>
            <a:ext cx="8458200" cy="3124200"/>
          </a:xfrm>
          <a:prstGeom prst="rect">
            <a:avLst/>
          </a:prstGeom>
          <a:noFill/>
          <a:ln>
            <a:noFill/>
          </a:ln>
        </p:spPr>
        <p:txBody>
          <a:bodyPr anchorCtr="0" anchor="t" bIns="0" lIns="0" spcFirstLastPara="1" rIns="0" wrap="square" tIns="0">
            <a:noAutofit/>
          </a:bodyPr>
          <a:lstStyle>
            <a:lvl1pPr indent="-355600" lvl="0" marL="457200" marR="0" rtl="0" algn="l">
              <a:spcBef>
                <a:spcPts val="1200"/>
              </a:spcBef>
              <a:spcAft>
                <a:spcPts val="0"/>
              </a:spcAft>
              <a:buClr>
                <a:schemeClr val="dk2"/>
              </a:buClr>
              <a:buSzPts val="2000"/>
              <a:buFont typeface="Arial"/>
              <a:buChar char="•"/>
              <a:defRPr b="0" i="0" sz="20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17500" lvl="3" marL="1828800" marR="0" rtl="0" algn="l">
              <a:spcBef>
                <a:spcPts val="300"/>
              </a:spcBef>
              <a:spcAft>
                <a:spcPts val="0"/>
              </a:spcAft>
              <a:buClr>
                <a:schemeClr val="dk2"/>
              </a:buClr>
              <a:buSzPts val="1400"/>
              <a:buFont typeface="Arial"/>
              <a:buChar char="–"/>
              <a:defRPr b="0" i="0" sz="14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44" name="Google Shape;44;p66"/>
          <p:cNvSpPr txBox="1"/>
          <p:nvPr>
            <p:ph idx="2" type="subTitle"/>
          </p:nvPr>
        </p:nvSpPr>
        <p:spPr>
          <a:xfrm>
            <a:off x="379413" y="703000"/>
            <a:ext cx="8449733" cy="302417"/>
          </a:xfrm>
          <a:prstGeom prst="rect">
            <a:avLst/>
          </a:prstGeom>
          <a:noFill/>
          <a:ln>
            <a:noFill/>
          </a:ln>
        </p:spPr>
        <p:txBody>
          <a:bodyPr anchorCtr="0" anchor="t" bIns="0" lIns="0" spcFirstLastPara="1" rIns="0" wrap="square" tIns="0">
            <a:noAutofit/>
          </a:bodyPr>
          <a:lstStyle>
            <a:lvl1pPr lvl="0" marR="0" rtl="0" algn="l">
              <a:spcBef>
                <a:spcPts val="400"/>
              </a:spcBef>
              <a:spcAft>
                <a:spcPts val="0"/>
              </a:spcAft>
              <a:buClr>
                <a:schemeClr val="dk1"/>
              </a:buClr>
              <a:buSzPts val="2000"/>
              <a:buFont typeface="Arial"/>
              <a:buNone/>
              <a:defRPr b="0" i="0" sz="2000" u="none" cap="none" strike="noStrike">
                <a:solidFill>
                  <a:schemeClr val="dk1"/>
                </a:solidFill>
                <a:latin typeface="Verdana"/>
                <a:ea typeface="Verdana"/>
                <a:cs typeface="Verdana"/>
                <a:sym typeface="Verdana"/>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Verdana"/>
                <a:ea typeface="Verdana"/>
                <a:cs typeface="Verdana"/>
                <a:sym typeface="Verdana"/>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Verdana"/>
                <a:ea typeface="Verdana"/>
                <a:cs typeface="Verdana"/>
                <a:sym typeface="Verdana"/>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9pPr>
          </a:lstStyle>
          <a:p/>
        </p:txBody>
      </p:sp>
      <p:sp>
        <p:nvSpPr>
          <p:cNvPr id="45" name="Google Shape;45;p66"/>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46" name="Google Shape;46;p66"/>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47" name="Shape 47"/>
        <p:cNvGrpSpPr/>
        <p:nvPr/>
      </p:nvGrpSpPr>
      <p:grpSpPr>
        <a:xfrm>
          <a:off x="0" y="0"/>
          <a:ext cx="0" cy="0"/>
          <a:chOff x="0" y="0"/>
          <a:chExt cx="0" cy="0"/>
        </a:xfrm>
      </p:grpSpPr>
      <p:sp>
        <p:nvSpPr>
          <p:cNvPr id="48" name="Google Shape;48;p67"/>
          <p:cNvSpPr txBox="1"/>
          <p:nvPr>
            <p:ph type="ctrTitle"/>
          </p:nvPr>
        </p:nvSpPr>
        <p:spPr>
          <a:xfrm>
            <a:off x="379413" y="228601"/>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 name="Google Shape;49;p67"/>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50" name="Google Shape;50;p67"/>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
        <p:nvSpPr>
          <p:cNvPr id="51" name="Google Shape;51;p67"/>
          <p:cNvSpPr/>
          <p:nvPr>
            <p:ph idx="2" type="tbl"/>
          </p:nvPr>
        </p:nvSpPr>
        <p:spPr>
          <a:xfrm>
            <a:off x="381000" y="819150"/>
            <a:ext cx="8458200" cy="3538648"/>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1"/>
              </a:buClr>
              <a:buSzPts val="1600"/>
              <a:buFont typeface="Verdana"/>
              <a:buNone/>
              <a:defRPr sz="1600">
                <a:solidFill>
                  <a:schemeClr val="dk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graphic area on left">
  <p:cSld name="Title, Content, graphic area on left">
    <p:spTree>
      <p:nvGrpSpPr>
        <p:cNvPr id="52" name="Shape 52"/>
        <p:cNvGrpSpPr/>
        <p:nvPr/>
      </p:nvGrpSpPr>
      <p:grpSpPr>
        <a:xfrm>
          <a:off x="0" y="0"/>
          <a:ext cx="0" cy="0"/>
          <a:chOff x="0" y="0"/>
          <a:chExt cx="0" cy="0"/>
        </a:xfrm>
      </p:grpSpPr>
      <p:sp>
        <p:nvSpPr>
          <p:cNvPr id="53" name="Google Shape;53;p68"/>
          <p:cNvSpPr txBox="1"/>
          <p:nvPr>
            <p:ph type="ctrTitle"/>
          </p:nvPr>
        </p:nvSpPr>
        <p:spPr>
          <a:xfrm>
            <a:off x="391794" y="228601"/>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68"/>
          <p:cNvSpPr txBox="1"/>
          <p:nvPr>
            <p:ph idx="1" type="body"/>
          </p:nvPr>
        </p:nvSpPr>
        <p:spPr>
          <a:xfrm>
            <a:off x="2743200" y="990599"/>
            <a:ext cx="6096000" cy="3429000"/>
          </a:xfrm>
          <a:prstGeom prst="rect">
            <a:avLst/>
          </a:prstGeom>
          <a:noFill/>
          <a:ln>
            <a:noFill/>
          </a:ln>
        </p:spPr>
        <p:txBody>
          <a:bodyPr anchorCtr="0" anchor="t" bIns="0" lIns="0" spcFirstLastPara="1" rIns="0" wrap="square" tIns="0">
            <a:noAutofit/>
          </a:bodyPr>
          <a:lstStyle>
            <a:lvl1pPr indent="-355600" lvl="0" marL="457200" marR="0" rtl="0" algn="l">
              <a:spcBef>
                <a:spcPts val="1200"/>
              </a:spcBef>
              <a:spcAft>
                <a:spcPts val="0"/>
              </a:spcAft>
              <a:buClr>
                <a:schemeClr val="dk2"/>
              </a:buClr>
              <a:buSzPts val="2000"/>
              <a:buFont typeface="Arial"/>
              <a:buChar char="•"/>
              <a:defRPr b="0" i="0" sz="20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17500" lvl="3" marL="1828800" marR="0" rtl="0" algn="l">
              <a:spcBef>
                <a:spcPts val="300"/>
              </a:spcBef>
              <a:spcAft>
                <a:spcPts val="0"/>
              </a:spcAft>
              <a:buClr>
                <a:schemeClr val="dk2"/>
              </a:buClr>
              <a:buSzPts val="1400"/>
              <a:buFont typeface="Arial"/>
              <a:buChar char="–"/>
              <a:defRPr b="0" i="0" sz="14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55" name="Google Shape;55;p68"/>
          <p:cNvSpPr/>
          <p:nvPr>
            <p:ph idx="2" type="pic"/>
          </p:nvPr>
        </p:nvSpPr>
        <p:spPr>
          <a:xfrm>
            <a:off x="381000" y="990600"/>
            <a:ext cx="2133600" cy="3429000"/>
          </a:xfrm>
          <a:prstGeom prst="rect">
            <a:avLst/>
          </a:prstGeom>
          <a:noFill/>
          <a:ln>
            <a:noFill/>
          </a:ln>
        </p:spPr>
      </p:sp>
      <p:sp>
        <p:nvSpPr>
          <p:cNvPr id="56" name="Google Shape;56;p68"/>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57" name="Google Shape;57;p68"/>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with graphic area at left">
  <p:cSld name="Title, Subtitle, and Content with graphic area at left">
    <p:spTree>
      <p:nvGrpSpPr>
        <p:cNvPr id="58" name="Shape 58"/>
        <p:cNvGrpSpPr/>
        <p:nvPr/>
      </p:nvGrpSpPr>
      <p:grpSpPr>
        <a:xfrm>
          <a:off x="0" y="0"/>
          <a:ext cx="0" cy="0"/>
          <a:chOff x="0" y="0"/>
          <a:chExt cx="0" cy="0"/>
        </a:xfrm>
      </p:grpSpPr>
      <p:sp>
        <p:nvSpPr>
          <p:cNvPr id="59" name="Google Shape;59;p69"/>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69"/>
          <p:cNvSpPr txBox="1"/>
          <p:nvPr>
            <p:ph idx="1" type="body"/>
          </p:nvPr>
        </p:nvSpPr>
        <p:spPr>
          <a:xfrm>
            <a:off x="2743200" y="1295399"/>
            <a:ext cx="6096000" cy="3124200"/>
          </a:xfrm>
          <a:prstGeom prst="rect">
            <a:avLst/>
          </a:prstGeom>
          <a:noFill/>
          <a:ln>
            <a:noFill/>
          </a:ln>
        </p:spPr>
        <p:txBody>
          <a:bodyPr anchorCtr="0" anchor="t" bIns="0" lIns="0" spcFirstLastPara="1" rIns="0" wrap="square" tIns="0">
            <a:noAutofit/>
          </a:bodyPr>
          <a:lstStyle>
            <a:lvl1pPr indent="-342900" lvl="0" marL="457200" marR="0" rtl="0" algn="l">
              <a:spcBef>
                <a:spcPts val="12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17500" lvl="3" marL="1828800" marR="0" rtl="0" algn="l">
              <a:spcBef>
                <a:spcPts val="300"/>
              </a:spcBef>
              <a:spcAft>
                <a:spcPts val="0"/>
              </a:spcAft>
              <a:buClr>
                <a:schemeClr val="dk2"/>
              </a:buClr>
              <a:buSzPts val="1400"/>
              <a:buFont typeface="Arial"/>
              <a:buChar char="–"/>
              <a:defRPr b="0" i="0" sz="14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61" name="Google Shape;61;p69"/>
          <p:cNvSpPr/>
          <p:nvPr>
            <p:ph idx="2" type="pic"/>
          </p:nvPr>
        </p:nvSpPr>
        <p:spPr>
          <a:xfrm>
            <a:off x="381000" y="1295400"/>
            <a:ext cx="2133600" cy="3124200"/>
          </a:xfrm>
          <a:prstGeom prst="rect">
            <a:avLst/>
          </a:prstGeom>
          <a:noFill/>
          <a:ln>
            <a:noFill/>
          </a:ln>
        </p:spPr>
      </p:sp>
      <p:sp>
        <p:nvSpPr>
          <p:cNvPr id="62" name="Google Shape;62;p69"/>
          <p:cNvSpPr txBox="1"/>
          <p:nvPr>
            <p:ph idx="3" type="subTitle"/>
          </p:nvPr>
        </p:nvSpPr>
        <p:spPr>
          <a:xfrm>
            <a:off x="379413" y="703000"/>
            <a:ext cx="8449733" cy="302417"/>
          </a:xfrm>
          <a:prstGeom prst="rect">
            <a:avLst/>
          </a:prstGeom>
          <a:noFill/>
          <a:ln>
            <a:noFill/>
          </a:ln>
        </p:spPr>
        <p:txBody>
          <a:bodyPr anchorCtr="0" anchor="t" bIns="0" lIns="0" spcFirstLastPara="1" rIns="0" wrap="square" tIns="0">
            <a:noAutofit/>
          </a:bodyPr>
          <a:lstStyle>
            <a:lvl1pPr lvl="0" marR="0" rtl="0" algn="l">
              <a:spcBef>
                <a:spcPts val="400"/>
              </a:spcBef>
              <a:spcAft>
                <a:spcPts val="0"/>
              </a:spcAft>
              <a:buClr>
                <a:schemeClr val="dk1"/>
              </a:buClr>
              <a:buSzPts val="2000"/>
              <a:buFont typeface="Arial"/>
              <a:buNone/>
              <a:defRPr b="0" i="0" sz="2000" u="none" cap="none" strike="noStrike">
                <a:solidFill>
                  <a:schemeClr val="dk1"/>
                </a:solidFill>
                <a:latin typeface="Verdana"/>
                <a:ea typeface="Verdana"/>
                <a:cs typeface="Verdana"/>
                <a:sym typeface="Verdana"/>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Verdana"/>
                <a:ea typeface="Verdana"/>
                <a:cs typeface="Verdana"/>
                <a:sym typeface="Verdana"/>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Verdana"/>
                <a:ea typeface="Verdana"/>
                <a:cs typeface="Verdana"/>
                <a:sym typeface="Verdana"/>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Verdana"/>
                <a:ea typeface="Verdana"/>
                <a:cs typeface="Verdana"/>
                <a:sym typeface="Verdana"/>
              </a:defRPr>
            </a:lvl9pPr>
          </a:lstStyle>
          <a:p/>
        </p:txBody>
      </p:sp>
      <p:sp>
        <p:nvSpPr>
          <p:cNvPr id="63" name="Google Shape;63;p69"/>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64" name="Google Shape;64;p69"/>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Two columns">
    <p:spTree>
      <p:nvGrpSpPr>
        <p:cNvPr id="65" name="Shape 65"/>
        <p:cNvGrpSpPr/>
        <p:nvPr/>
      </p:nvGrpSpPr>
      <p:grpSpPr>
        <a:xfrm>
          <a:off x="0" y="0"/>
          <a:ext cx="0" cy="0"/>
          <a:chOff x="0" y="0"/>
          <a:chExt cx="0" cy="0"/>
        </a:xfrm>
      </p:grpSpPr>
      <p:sp>
        <p:nvSpPr>
          <p:cNvPr id="66" name="Google Shape;66;p70"/>
          <p:cNvSpPr txBox="1"/>
          <p:nvPr>
            <p:ph type="ctrTitle"/>
          </p:nvPr>
        </p:nvSpPr>
        <p:spPr>
          <a:xfrm>
            <a:off x="379413" y="228601"/>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7" name="Google Shape;67;p70"/>
          <p:cNvSpPr txBox="1"/>
          <p:nvPr>
            <p:ph idx="1" type="body"/>
          </p:nvPr>
        </p:nvSpPr>
        <p:spPr>
          <a:xfrm>
            <a:off x="379413" y="990600"/>
            <a:ext cx="4038600" cy="3429000"/>
          </a:xfrm>
          <a:prstGeom prst="rect">
            <a:avLst/>
          </a:prstGeom>
          <a:noFill/>
          <a:ln>
            <a:noFill/>
          </a:ln>
        </p:spPr>
        <p:txBody>
          <a:bodyPr anchorCtr="0" anchor="t" bIns="0" lIns="0" spcFirstLastPara="1" rIns="0" wrap="square" tIns="0">
            <a:noAutofit/>
          </a:bodyPr>
          <a:lstStyle>
            <a:lvl1pPr indent="-355600" lvl="0" marL="457200" marR="0" rtl="0" algn="l">
              <a:spcBef>
                <a:spcPts val="1200"/>
              </a:spcBef>
              <a:spcAft>
                <a:spcPts val="0"/>
              </a:spcAft>
              <a:buClr>
                <a:schemeClr val="dk2"/>
              </a:buClr>
              <a:buSzPts val="2000"/>
              <a:buFont typeface="Arial"/>
              <a:buChar char="•"/>
              <a:defRPr b="0" i="0" sz="20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17500" lvl="3" marL="1828800" marR="0" rtl="0" algn="l">
              <a:spcBef>
                <a:spcPts val="300"/>
              </a:spcBef>
              <a:spcAft>
                <a:spcPts val="0"/>
              </a:spcAft>
              <a:buClr>
                <a:schemeClr val="dk2"/>
              </a:buClr>
              <a:buSzPts val="1400"/>
              <a:buFont typeface="Arial"/>
              <a:buChar char="–"/>
              <a:defRPr b="0" i="0" sz="14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68" name="Google Shape;68;p70"/>
          <p:cNvSpPr txBox="1"/>
          <p:nvPr>
            <p:ph idx="2" type="body"/>
          </p:nvPr>
        </p:nvSpPr>
        <p:spPr>
          <a:xfrm>
            <a:off x="4800600" y="990600"/>
            <a:ext cx="4038600" cy="3429000"/>
          </a:xfrm>
          <a:prstGeom prst="rect">
            <a:avLst/>
          </a:prstGeom>
          <a:noFill/>
          <a:ln>
            <a:noFill/>
          </a:ln>
        </p:spPr>
        <p:txBody>
          <a:bodyPr anchorCtr="0" anchor="t" bIns="0" lIns="0" spcFirstLastPara="1" rIns="0" wrap="square" tIns="0">
            <a:noAutofit/>
          </a:bodyPr>
          <a:lstStyle>
            <a:lvl1pPr indent="-355600" lvl="0" marL="457200" marR="0" rtl="0" algn="l">
              <a:spcBef>
                <a:spcPts val="1200"/>
              </a:spcBef>
              <a:spcAft>
                <a:spcPts val="0"/>
              </a:spcAft>
              <a:buClr>
                <a:schemeClr val="dk2"/>
              </a:buClr>
              <a:buSzPts val="2000"/>
              <a:buFont typeface="Arial"/>
              <a:buChar char="•"/>
              <a:defRPr b="0" i="0" sz="20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04800" lvl="3" marL="18288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69" name="Google Shape;69;p70"/>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70" name="Google Shape;70;p70"/>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left">
  <p:cSld name="1 column left">
    <p:spTree>
      <p:nvGrpSpPr>
        <p:cNvPr id="71" name="Shape 71"/>
        <p:cNvGrpSpPr/>
        <p:nvPr/>
      </p:nvGrpSpPr>
      <p:grpSpPr>
        <a:xfrm>
          <a:off x="0" y="0"/>
          <a:ext cx="0" cy="0"/>
          <a:chOff x="0" y="0"/>
          <a:chExt cx="0" cy="0"/>
        </a:xfrm>
      </p:grpSpPr>
      <p:sp>
        <p:nvSpPr>
          <p:cNvPr id="72" name="Google Shape;72;p71"/>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71"/>
          <p:cNvSpPr txBox="1"/>
          <p:nvPr>
            <p:ph idx="1" type="body"/>
          </p:nvPr>
        </p:nvSpPr>
        <p:spPr>
          <a:xfrm>
            <a:off x="379413" y="990600"/>
            <a:ext cx="4038600" cy="3429000"/>
          </a:xfrm>
          <a:prstGeom prst="rect">
            <a:avLst/>
          </a:prstGeom>
          <a:noFill/>
          <a:ln>
            <a:noFill/>
          </a:ln>
        </p:spPr>
        <p:txBody>
          <a:bodyPr anchorCtr="0" anchor="t" bIns="0" lIns="0" spcFirstLastPara="1" rIns="0" wrap="square" tIns="0">
            <a:noAutofit/>
          </a:bodyPr>
          <a:lstStyle>
            <a:lvl1pPr indent="-355600" lvl="0" marL="457200" marR="0" rtl="0" algn="l">
              <a:spcBef>
                <a:spcPts val="1200"/>
              </a:spcBef>
              <a:spcAft>
                <a:spcPts val="0"/>
              </a:spcAft>
              <a:buClr>
                <a:schemeClr val="dk2"/>
              </a:buClr>
              <a:buSzPts val="2000"/>
              <a:buFont typeface="Arial"/>
              <a:buChar char="•"/>
              <a:defRPr b="0" i="0" sz="20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17500" lvl="3" marL="1828800" marR="0" rtl="0" algn="l">
              <a:spcBef>
                <a:spcPts val="300"/>
              </a:spcBef>
              <a:spcAft>
                <a:spcPts val="0"/>
              </a:spcAft>
              <a:buClr>
                <a:schemeClr val="dk2"/>
              </a:buClr>
              <a:buSzPts val="1400"/>
              <a:buFont typeface="Arial"/>
              <a:buChar char="–"/>
              <a:defRPr b="0" i="0" sz="14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74" name="Google Shape;74;p71"/>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75" name="Google Shape;75;p71"/>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right">
  <p:cSld name="1 column right">
    <p:spTree>
      <p:nvGrpSpPr>
        <p:cNvPr id="76" name="Shape 76"/>
        <p:cNvGrpSpPr/>
        <p:nvPr/>
      </p:nvGrpSpPr>
      <p:grpSpPr>
        <a:xfrm>
          <a:off x="0" y="0"/>
          <a:ext cx="0" cy="0"/>
          <a:chOff x="0" y="0"/>
          <a:chExt cx="0" cy="0"/>
        </a:xfrm>
      </p:grpSpPr>
      <p:sp>
        <p:nvSpPr>
          <p:cNvPr id="77" name="Google Shape;77;p72"/>
          <p:cNvSpPr txBox="1"/>
          <p:nvPr>
            <p:ph type="ctrTitle"/>
          </p:nvPr>
        </p:nvSpPr>
        <p:spPr>
          <a:xfrm>
            <a:off x="379413" y="228601"/>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8" name="Google Shape;78;p72"/>
          <p:cNvSpPr txBox="1"/>
          <p:nvPr>
            <p:ph idx="1" type="body"/>
          </p:nvPr>
        </p:nvSpPr>
        <p:spPr>
          <a:xfrm>
            <a:off x="4800600" y="990600"/>
            <a:ext cx="4038600" cy="3429000"/>
          </a:xfrm>
          <a:prstGeom prst="rect">
            <a:avLst/>
          </a:prstGeom>
          <a:noFill/>
          <a:ln>
            <a:noFill/>
          </a:ln>
        </p:spPr>
        <p:txBody>
          <a:bodyPr anchorCtr="0" anchor="t" bIns="0" lIns="0" spcFirstLastPara="1" rIns="0" wrap="square" tIns="0">
            <a:noAutofit/>
          </a:bodyPr>
          <a:lstStyle>
            <a:lvl1pPr indent="-355600" lvl="0" marL="457200" marR="0" rtl="0" algn="l">
              <a:spcBef>
                <a:spcPts val="1200"/>
              </a:spcBef>
              <a:spcAft>
                <a:spcPts val="0"/>
              </a:spcAft>
              <a:buClr>
                <a:schemeClr val="dk2"/>
              </a:buClr>
              <a:buSzPts val="2000"/>
              <a:buFont typeface="Arial"/>
              <a:buChar char="•"/>
              <a:defRPr b="0" i="0" sz="2000" u="none" cap="none" strike="noStrike">
                <a:solidFill>
                  <a:schemeClr val="dk1"/>
                </a:solidFill>
                <a:latin typeface="Verdana"/>
                <a:ea typeface="Verdana"/>
                <a:cs typeface="Verdana"/>
                <a:sym typeface="Verdana"/>
              </a:defRPr>
            </a:lvl1pPr>
            <a:lvl2pPr indent="-342900" lvl="1" marL="914400" marR="0" rtl="0" algn="l">
              <a:spcBef>
                <a:spcPts val="3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30200" lvl="2" marL="1371600" marR="0" rtl="0" algn="l">
              <a:spcBef>
                <a:spcPts val="300"/>
              </a:spcBef>
              <a:spcAft>
                <a:spcPts val="0"/>
              </a:spcAft>
              <a:buClr>
                <a:schemeClr val="dk2"/>
              </a:buClr>
              <a:buSzPts val="1600"/>
              <a:buFont typeface="Arial"/>
              <a:buChar char="•"/>
              <a:defRPr b="0" i="0" sz="1600" u="none" cap="none" strike="noStrike">
                <a:solidFill>
                  <a:schemeClr val="dk1"/>
                </a:solidFill>
                <a:latin typeface="Verdana"/>
                <a:ea typeface="Verdana"/>
                <a:cs typeface="Verdana"/>
                <a:sym typeface="Verdana"/>
              </a:defRPr>
            </a:lvl3pPr>
            <a:lvl4pPr indent="-317500" lvl="3" marL="1828800" marR="0" rtl="0" algn="l">
              <a:spcBef>
                <a:spcPts val="300"/>
              </a:spcBef>
              <a:spcAft>
                <a:spcPts val="0"/>
              </a:spcAft>
              <a:buClr>
                <a:schemeClr val="dk2"/>
              </a:buClr>
              <a:buSzPts val="1400"/>
              <a:buFont typeface="Arial"/>
              <a:buChar char="–"/>
              <a:defRPr b="0" i="0" sz="1400" u="none" cap="none" strike="noStrike">
                <a:solidFill>
                  <a:schemeClr val="dk1"/>
                </a:solidFill>
                <a:latin typeface="Verdana"/>
                <a:ea typeface="Verdana"/>
                <a:cs typeface="Verdana"/>
                <a:sym typeface="Verdana"/>
              </a:defRPr>
            </a:lvl4pPr>
            <a:lvl5pPr indent="-304800" lvl="4" marL="22860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79" name="Google Shape;79;p72"/>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80" name="Google Shape;80;p72"/>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subtitles">
  <p:cSld name="Two columns with subtitles">
    <p:spTree>
      <p:nvGrpSpPr>
        <p:cNvPr id="81" name="Shape 81"/>
        <p:cNvGrpSpPr/>
        <p:nvPr/>
      </p:nvGrpSpPr>
      <p:grpSpPr>
        <a:xfrm>
          <a:off x="0" y="0"/>
          <a:ext cx="0" cy="0"/>
          <a:chOff x="0" y="0"/>
          <a:chExt cx="0" cy="0"/>
        </a:xfrm>
      </p:grpSpPr>
      <p:sp>
        <p:nvSpPr>
          <p:cNvPr id="82" name="Google Shape;82;p73"/>
          <p:cNvSpPr txBox="1"/>
          <p:nvPr>
            <p:ph type="ctrTitle"/>
          </p:nvPr>
        </p:nvSpPr>
        <p:spPr>
          <a:xfrm>
            <a:off x="374338" y="228601"/>
            <a:ext cx="8458200" cy="4572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2"/>
              </a:buClr>
              <a:buSzPts val="2800"/>
              <a:buFont typeface="Verdana"/>
              <a:buNone/>
              <a:defRPr b="0" i="0" sz="2800" u="none" cap="none" strike="noStrike">
                <a:solidFill>
                  <a:schemeClr val="dk2"/>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3" name="Google Shape;83;p73"/>
          <p:cNvSpPr txBox="1"/>
          <p:nvPr>
            <p:ph idx="1" type="body"/>
          </p:nvPr>
        </p:nvSpPr>
        <p:spPr>
          <a:xfrm>
            <a:off x="374338" y="1011766"/>
            <a:ext cx="4038600" cy="3407833"/>
          </a:xfrm>
          <a:prstGeom prst="rect">
            <a:avLst/>
          </a:prstGeom>
          <a:noFill/>
          <a:ln>
            <a:noFill/>
          </a:ln>
        </p:spPr>
        <p:txBody>
          <a:bodyPr anchorCtr="0" anchor="t" bIns="0" lIns="0" spcFirstLastPara="1" rIns="0" wrap="square" tIns="0">
            <a:noAutofit/>
          </a:bodyPr>
          <a:lstStyle>
            <a:lvl1pPr indent="-228600" lvl="0" marL="457200" marR="0" rtl="0" algn="l">
              <a:spcBef>
                <a:spcPts val="1200"/>
              </a:spcBef>
              <a:spcAft>
                <a:spcPts val="0"/>
              </a:spcAft>
              <a:buClr>
                <a:schemeClr val="dk2"/>
              </a:buClr>
              <a:buSzPts val="2000"/>
              <a:buFont typeface="Arial"/>
              <a:buNone/>
              <a:defRPr b="0" i="0" sz="2000" u="none" cap="none" strike="noStrike">
                <a:solidFill>
                  <a:schemeClr val="dk2"/>
                </a:solidFill>
                <a:latin typeface="Verdana"/>
                <a:ea typeface="Verdana"/>
                <a:cs typeface="Verdana"/>
                <a:sym typeface="Verdana"/>
              </a:defRPr>
            </a:lvl1pPr>
            <a:lvl2pPr indent="-342900" lvl="1" marL="914400" marR="0" rtl="0" algn="l">
              <a:spcBef>
                <a:spcPts val="12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17500" lvl="2" marL="1371600" marR="0" rtl="0" algn="l">
              <a:spcBef>
                <a:spcPts val="300"/>
              </a:spcBef>
              <a:spcAft>
                <a:spcPts val="0"/>
              </a:spcAft>
              <a:buClr>
                <a:schemeClr val="dk2"/>
              </a:buClr>
              <a:buSzPts val="1400"/>
              <a:buFont typeface="Merriweather Sans"/>
              <a:buChar char="­"/>
              <a:defRPr b="0" i="0" sz="1400" u="none" cap="none" strike="noStrike">
                <a:solidFill>
                  <a:schemeClr val="dk1"/>
                </a:solidFill>
                <a:latin typeface="Verdana"/>
                <a:ea typeface="Verdana"/>
                <a:cs typeface="Verdana"/>
                <a:sym typeface="Verdana"/>
              </a:defRPr>
            </a:lvl3pPr>
            <a:lvl4pPr indent="-304800" lvl="3" marL="18288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4pPr>
            <a:lvl5pPr indent="-292100" lvl="4" marL="2286000" marR="0" rtl="0" algn="l">
              <a:spcBef>
                <a:spcPts val="300"/>
              </a:spcBef>
              <a:spcAft>
                <a:spcPts val="0"/>
              </a:spcAft>
              <a:buClr>
                <a:schemeClr val="dk2"/>
              </a:buClr>
              <a:buSzPts val="1000"/>
              <a:buFont typeface="Arial"/>
              <a:buChar char="–"/>
              <a:defRPr b="0" i="0" sz="10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84" name="Google Shape;84;p73"/>
          <p:cNvSpPr txBox="1"/>
          <p:nvPr>
            <p:ph idx="2" type="body"/>
          </p:nvPr>
        </p:nvSpPr>
        <p:spPr>
          <a:xfrm>
            <a:off x="4809067" y="1011766"/>
            <a:ext cx="4038600" cy="3407833"/>
          </a:xfrm>
          <a:prstGeom prst="rect">
            <a:avLst/>
          </a:prstGeom>
          <a:noFill/>
          <a:ln>
            <a:noFill/>
          </a:ln>
        </p:spPr>
        <p:txBody>
          <a:bodyPr anchorCtr="0" anchor="t" bIns="0" lIns="0" spcFirstLastPara="1" rIns="0" wrap="square" tIns="0">
            <a:noAutofit/>
          </a:bodyPr>
          <a:lstStyle>
            <a:lvl1pPr indent="-228600" lvl="0" marL="457200" marR="0" rtl="0" algn="l">
              <a:spcBef>
                <a:spcPts val="1200"/>
              </a:spcBef>
              <a:spcAft>
                <a:spcPts val="0"/>
              </a:spcAft>
              <a:buClr>
                <a:schemeClr val="dk2"/>
              </a:buClr>
              <a:buSzPts val="2000"/>
              <a:buFont typeface="Arial"/>
              <a:buNone/>
              <a:defRPr b="0" i="0" sz="2000" u="none" cap="none" strike="noStrike">
                <a:solidFill>
                  <a:schemeClr val="dk2"/>
                </a:solidFill>
                <a:latin typeface="Verdana"/>
                <a:ea typeface="Verdana"/>
                <a:cs typeface="Verdana"/>
                <a:sym typeface="Verdana"/>
              </a:defRPr>
            </a:lvl1pPr>
            <a:lvl2pPr indent="-342900" lvl="1" marL="914400" marR="0" rtl="0" algn="l">
              <a:spcBef>
                <a:spcPts val="1200"/>
              </a:spcBef>
              <a:spcAft>
                <a:spcPts val="0"/>
              </a:spcAft>
              <a:buClr>
                <a:schemeClr val="dk2"/>
              </a:buClr>
              <a:buSzPts val="1800"/>
              <a:buFont typeface="Arial"/>
              <a:buChar char="•"/>
              <a:defRPr b="0" i="0" sz="1800" u="none" cap="none" strike="noStrike">
                <a:solidFill>
                  <a:schemeClr val="dk1"/>
                </a:solidFill>
                <a:latin typeface="Verdana"/>
                <a:ea typeface="Verdana"/>
                <a:cs typeface="Verdana"/>
                <a:sym typeface="Verdana"/>
              </a:defRPr>
            </a:lvl2pPr>
            <a:lvl3pPr indent="-317500" lvl="2" marL="1371600" marR="0" rtl="0" algn="l">
              <a:spcBef>
                <a:spcPts val="300"/>
              </a:spcBef>
              <a:spcAft>
                <a:spcPts val="0"/>
              </a:spcAft>
              <a:buClr>
                <a:schemeClr val="dk2"/>
              </a:buClr>
              <a:buSzPts val="1400"/>
              <a:buFont typeface="Merriweather Sans"/>
              <a:buChar char="­"/>
              <a:defRPr b="0" i="0" sz="1400" u="none" cap="none" strike="noStrike">
                <a:solidFill>
                  <a:schemeClr val="dk1"/>
                </a:solidFill>
                <a:latin typeface="Verdana"/>
                <a:ea typeface="Verdana"/>
                <a:cs typeface="Verdana"/>
                <a:sym typeface="Verdana"/>
              </a:defRPr>
            </a:lvl3pPr>
            <a:lvl4pPr indent="-304800" lvl="3" marL="1828800" marR="0" rtl="0" algn="l">
              <a:spcBef>
                <a:spcPts val="300"/>
              </a:spcBef>
              <a:spcAft>
                <a:spcPts val="0"/>
              </a:spcAft>
              <a:buClr>
                <a:schemeClr val="dk2"/>
              </a:buClr>
              <a:buSzPts val="1200"/>
              <a:buFont typeface="Arial"/>
              <a:buChar char="•"/>
              <a:defRPr b="0" i="0" sz="1200" u="none" cap="none" strike="noStrike">
                <a:solidFill>
                  <a:schemeClr val="dk1"/>
                </a:solidFill>
                <a:latin typeface="Verdana"/>
                <a:ea typeface="Verdana"/>
                <a:cs typeface="Verdana"/>
                <a:sym typeface="Verdana"/>
              </a:defRPr>
            </a:lvl4pPr>
            <a:lvl5pPr indent="-292100" lvl="4" marL="2286000" marR="0" rtl="0" algn="l">
              <a:spcBef>
                <a:spcPts val="300"/>
              </a:spcBef>
              <a:spcAft>
                <a:spcPts val="0"/>
              </a:spcAft>
              <a:buClr>
                <a:schemeClr val="dk2"/>
              </a:buClr>
              <a:buSzPts val="1000"/>
              <a:buFont typeface="Arial"/>
              <a:buChar char="–"/>
              <a:defRPr b="0" i="0" sz="10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9pPr>
          </a:lstStyle>
          <a:p/>
        </p:txBody>
      </p:sp>
      <p:sp>
        <p:nvSpPr>
          <p:cNvPr id="85" name="Google Shape;85;p73"/>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86" name="Google Shape;86;p73"/>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left blank">
  <p:cSld name="Slide left blank">
    <p:spTree>
      <p:nvGrpSpPr>
        <p:cNvPr id="87" name="Shape 87"/>
        <p:cNvGrpSpPr/>
        <p:nvPr/>
      </p:nvGrpSpPr>
      <p:grpSpPr>
        <a:xfrm>
          <a:off x="0" y="0"/>
          <a:ext cx="0" cy="0"/>
          <a:chOff x="0" y="0"/>
          <a:chExt cx="0" cy="0"/>
        </a:xfrm>
      </p:grpSpPr>
      <p:sp>
        <p:nvSpPr>
          <p:cNvPr id="88" name="Google Shape;88;p74"/>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sz="600">
                <a:solidFill>
                  <a:schemeClr val="lt2"/>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pic>
        <p:nvPicPr>
          <p:cNvPr id="89" name="Google Shape;89;p74"/>
          <p:cNvPicPr preferRelativeResize="0"/>
          <p:nvPr/>
        </p:nvPicPr>
        <p:blipFill rotWithShape="1">
          <a:blip r:embed="rId2">
            <a:alphaModFix/>
          </a:blip>
          <a:srcRect b="0" l="0" r="0" t="0"/>
          <a:stretch/>
        </p:blipFill>
        <p:spPr>
          <a:xfrm>
            <a:off x="8077200" y="4433998"/>
            <a:ext cx="606609" cy="709502"/>
          </a:xfrm>
          <a:prstGeom prst="rect">
            <a:avLst/>
          </a:prstGeom>
          <a:noFill/>
          <a:ln>
            <a:noFill/>
          </a:ln>
        </p:spPr>
      </p:pic>
      <p:sp>
        <p:nvSpPr>
          <p:cNvPr id="90" name="Google Shape;90;p74"/>
          <p:cNvSpPr txBox="1"/>
          <p:nvPr/>
        </p:nvSpPr>
        <p:spPr>
          <a:xfrm>
            <a:off x="381000" y="2126218"/>
            <a:ext cx="8458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Verdana"/>
                <a:ea typeface="Verdana"/>
                <a:cs typeface="Verdana"/>
                <a:sym typeface="Verdana"/>
              </a:rPr>
              <a:t>This slide intentionally left blank.</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bg>
      <p:bgPr>
        <a:solidFill>
          <a:schemeClr val="accent1"/>
        </a:solidFill>
      </p:bgPr>
    </p:bg>
    <p:spTree>
      <p:nvGrpSpPr>
        <p:cNvPr id="91" name="Shape 91"/>
        <p:cNvGrpSpPr/>
        <p:nvPr/>
      </p:nvGrpSpPr>
      <p:grpSpPr>
        <a:xfrm>
          <a:off x="0" y="0"/>
          <a:ext cx="0" cy="0"/>
          <a:chOff x="0" y="0"/>
          <a:chExt cx="0" cy="0"/>
        </a:xfrm>
      </p:grpSpPr>
      <p:pic>
        <p:nvPicPr>
          <p:cNvPr descr="EMC logo white_300dpi.png" id="92" name="Google Shape;92;p75"/>
          <p:cNvPicPr preferRelativeResize="0"/>
          <p:nvPr/>
        </p:nvPicPr>
        <p:blipFill rotWithShape="1">
          <a:blip r:embed="rId2">
            <a:alphaModFix/>
          </a:blip>
          <a:srcRect b="0" l="0" r="0" t="0"/>
          <a:stretch/>
        </p:blipFill>
        <p:spPr>
          <a:xfrm>
            <a:off x="2102997" y="1657351"/>
            <a:ext cx="4899905" cy="158147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sp>
        <p:nvSpPr>
          <p:cNvPr id="9" name="Google Shape;9;p59"/>
          <p:cNvSpPr txBox="1"/>
          <p:nvPr/>
        </p:nvSpPr>
        <p:spPr>
          <a:xfrm>
            <a:off x="8801100" y="5033041"/>
            <a:ext cx="285750" cy="92333"/>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chemeClr val="lt2"/>
              </a:buClr>
              <a:buSzPts val="600"/>
              <a:buFont typeface="Verdana"/>
              <a:buNone/>
            </a:pPr>
            <a:fld id="{00000000-1234-1234-1234-123412341234}" type="slidenum">
              <a:rPr b="0" i="0" lang="en-US" sz="600" u="none" cap="none" strike="noStrike">
                <a:solidFill>
                  <a:schemeClr val="lt2"/>
                </a:solidFill>
                <a:latin typeface="Verdana"/>
                <a:ea typeface="Verdana"/>
                <a:cs typeface="Verdana"/>
                <a:sym typeface="Verdana"/>
              </a:rPr>
              <a:t>‹#›</a:t>
            </a:fld>
            <a:endParaRPr b="0" i="0" sz="600" u="none" cap="none" strike="noStrike">
              <a:solidFill>
                <a:schemeClr val="lt2"/>
              </a:solidFill>
              <a:latin typeface="Verdana"/>
              <a:ea typeface="Verdana"/>
              <a:cs typeface="Verdana"/>
              <a:sym typeface="Verdana"/>
            </a:endParaRPr>
          </a:p>
        </p:txBody>
      </p:sp>
      <p:sp>
        <p:nvSpPr>
          <p:cNvPr id="10" name="Google Shape;10;p59"/>
          <p:cNvSpPr txBox="1"/>
          <p:nvPr/>
        </p:nvSpPr>
        <p:spPr>
          <a:xfrm>
            <a:off x="366714" y="5033041"/>
            <a:ext cx="2164054" cy="9233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2"/>
              </a:buClr>
              <a:buSzPts val="600"/>
              <a:buFont typeface="Verdana"/>
              <a:buNone/>
            </a:pPr>
            <a:r>
              <a:rPr b="0" i="0" lang="en-US" sz="600" u="none" cap="none" strike="noStrike">
                <a:solidFill>
                  <a:schemeClr val="lt2"/>
                </a:solidFill>
                <a:latin typeface="Verdana"/>
                <a:ea typeface="Verdana"/>
                <a:cs typeface="Verdana"/>
                <a:sym typeface="Verdana"/>
              </a:rPr>
              <a:t>© Copyright 2014 EMC Corporation. All rights reserved.</a:t>
            </a:r>
            <a:endParaRPr/>
          </a:p>
        </p:txBody>
      </p:sp>
      <p:sp>
        <p:nvSpPr>
          <p:cNvPr id="11" name="Google Shape;11;p59"/>
          <p:cNvSpPr txBox="1"/>
          <p:nvPr/>
        </p:nvSpPr>
        <p:spPr>
          <a:xfrm>
            <a:off x="366714" y="5033041"/>
            <a:ext cx="2164054" cy="9233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2"/>
              </a:buClr>
              <a:buSzPts val="600"/>
              <a:buFont typeface="Verdana"/>
              <a:buNone/>
            </a:pPr>
            <a:r>
              <a:rPr b="0" i="0" lang="en-US" sz="600" u="none" cap="none" strike="noStrike">
                <a:solidFill>
                  <a:schemeClr val="lt2"/>
                </a:solidFill>
                <a:latin typeface="Verdana"/>
                <a:ea typeface="Verdana"/>
                <a:cs typeface="Verdana"/>
                <a:sym typeface="Verdana"/>
              </a:rPr>
              <a:t>© Copyright 2014 EMC Corporation. All rights reserved.</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image" Target="../media/image1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Module: Physical Layer</a:t>
            </a:r>
            <a:endParaRPr/>
          </a:p>
        </p:txBody>
      </p:sp>
      <p:sp>
        <p:nvSpPr>
          <p:cNvPr id="99" name="Google Shape;99;p1"/>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lang="en-US"/>
              <a:t>Upon completion of this module, you should be able to:</a:t>
            </a:r>
            <a:endParaRPr/>
          </a:p>
          <a:p>
            <a:pPr indent="-228600" lvl="0" marL="228600" rtl="0" algn="l">
              <a:spcBef>
                <a:spcPts val="1200"/>
              </a:spcBef>
              <a:spcAft>
                <a:spcPts val="0"/>
              </a:spcAft>
              <a:buSzPts val="2000"/>
              <a:buChar char="•"/>
            </a:pPr>
            <a:r>
              <a:rPr lang="en-US"/>
              <a:t>Describe compute system components and types</a:t>
            </a:r>
            <a:endParaRPr/>
          </a:p>
          <a:p>
            <a:pPr indent="-228600" lvl="0" marL="228600" rtl="0" algn="l">
              <a:spcBef>
                <a:spcPts val="1200"/>
              </a:spcBef>
              <a:spcAft>
                <a:spcPts val="0"/>
              </a:spcAft>
              <a:buSzPts val="2000"/>
              <a:buChar char="•"/>
            </a:pPr>
            <a:r>
              <a:rPr lang="en-US"/>
              <a:t>Describe storage system architectures</a:t>
            </a:r>
            <a:endParaRPr/>
          </a:p>
          <a:p>
            <a:pPr indent="-228600" lvl="0" marL="228600" rtl="0" algn="l">
              <a:spcBef>
                <a:spcPts val="1200"/>
              </a:spcBef>
              <a:spcAft>
                <a:spcPts val="0"/>
              </a:spcAft>
              <a:buSzPts val="2000"/>
              <a:buChar char="•"/>
            </a:pPr>
            <a:r>
              <a:rPr lang="en-US"/>
              <a:t>Describe network connectivity and the types of network communication</a:t>
            </a:r>
            <a:endParaRPr/>
          </a:p>
        </p:txBody>
      </p:sp>
      <p:sp>
        <p:nvSpPr>
          <p:cNvPr id="100" name="Google Shape;100;p1"/>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107" name="Google Shape;107;p2"/>
          <p:cNvPicPr preferRelativeResize="0"/>
          <p:nvPr/>
        </p:nvPicPr>
        <p:blipFill rotWithShape="1">
          <a:blip r:embed="rId3">
            <a:alphaModFix/>
          </a:blip>
          <a:srcRect b="0" l="0" r="0" t="0"/>
          <a:stretch/>
        </p:blipFill>
        <p:spPr>
          <a:xfrm>
            <a:off x="1417320" y="1275606"/>
            <a:ext cx="6309360" cy="3566160"/>
          </a:xfrm>
          <a:prstGeom prst="rect">
            <a:avLst/>
          </a:prstGeom>
          <a:noFill/>
          <a:ln>
            <a:noFill/>
          </a:ln>
        </p:spPr>
      </p:pic>
      <p:sp>
        <p:nvSpPr>
          <p:cNvPr id="108" name="Google Shape;108;p2"/>
          <p:cNvSpPr txBox="1"/>
          <p:nvPr>
            <p:ph type="ctrTitle"/>
          </p:nvPr>
        </p:nvSpPr>
        <p:spPr>
          <a:xfrm>
            <a:off x="379413" y="228601"/>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b="0" i="0" lang="en-US" sz="2800" u="none" cap="none" strike="noStrike">
                <a:solidFill>
                  <a:schemeClr val="dk2"/>
                </a:solidFill>
                <a:latin typeface="Verdana"/>
                <a:ea typeface="Verdana"/>
                <a:cs typeface="Verdana"/>
                <a:sym typeface="Verdana"/>
              </a:rPr>
              <a:t>Cloud Computing Reference Model</a:t>
            </a:r>
            <a:endParaRPr/>
          </a:p>
        </p:txBody>
      </p:sp>
      <p:sp>
        <p:nvSpPr>
          <p:cNvPr id="109" name="Google Shape;109;p2"/>
          <p:cNvSpPr txBox="1"/>
          <p:nvPr/>
        </p:nvSpPr>
        <p:spPr>
          <a:xfrm>
            <a:off x="379413" y="703000"/>
            <a:ext cx="8449733" cy="30241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Verdana"/>
                <a:ea typeface="Verdana"/>
                <a:cs typeface="Verdana"/>
                <a:sym typeface="Verdana"/>
              </a:rPr>
              <a:t>Physical Layer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Physical Layer Overview</a:t>
            </a:r>
            <a:endParaRPr/>
          </a:p>
        </p:txBody>
      </p:sp>
      <p:sp>
        <p:nvSpPr>
          <p:cNvPr id="116" name="Google Shape;116;p3"/>
          <p:cNvSpPr txBox="1"/>
          <p:nvPr>
            <p:ph idx="1" type="body"/>
          </p:nvPr>
        </p:nvSpPr>
        <p:spPr>
          <a:xfrm>
            <a:off x="379413" y="990600"/>
            <a:ext cx="6136803"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The physical layer comprises physical compute, storage, and network resources</a:t>
            </a:r>
            <a:endParaRPr/>
          </a:p>
          <a:p>
            <a:pPr indent="-228600" lvl="0" marL="228600" rtl="0" algn="l">
              <a:spcBef>
                <a:spcPts val="1200"/>
              </a:spcBef>
              <a:spcAft>
                <a:spcPts val="0"/>
              </a:spcAft>
              <a:buClr>
                <a:schemeClr val="dk2"/>
              </a:buClr>
              <a:buSzPts val="2000"/>
              <a:buChar char="•"/>
            </a:pPr>
            <a:r>
              <a:rPr lang="en-US"/>
              <a:t>Compute systems execute software of providers and consumers</a:t>
            </a:r>
            <a:endParaRPr/>
          </a:p>
          <a:p>
            <a:pPr indent="-228600" lvl="0" marL="228600" rtl="0" algn="l">
              <a:spcBef>
                <a:spcPts val="1200"/>
              </a:spcBef>
              <a:spcAft>
                <a:spcPts val="0"/>
              </a:spcAft>
              <a:buClr>
                <a:schemeClr val="dk2"/>
              </a:buClr>
              <a:buSzPts val="2000"/>
              <a:buChar char="•"/>
            </a:pPr>
            <a:r>
              <a:rPr lang="en-US"/>
              <a:t>Storage systems store business and application data</a:t>
            </a:r>
            <a:endParaRPr/>
          </a:p>
          <a:p>
            <a:pPr indent="-228600" lvl="0" marL="228600" rtl="0" algn="l">
              <a:spcBef>
                <a:spcPts val="1200"/>
              </a:spcBef>
              <a:spcAft>
                <a:spcPts val="0"/>
              </a:spcAft>
              <a:buClr>
                <a:schemeClr val="dk2"/>
              </a:buClr>
              <a:buSzPts val="2000"/>
              <a:buChar char="•"/>
            </a:pPr>
            <a:r>
              <a:rPr lang="en-US"/>
              <a:t>Networks connect compute systems with each other and with storage systems </a:t>
            </a:r>
            <a:endParaRPr/>
          </a:p>
          <a:p>
            <a:pPr indent="-285750" lvl="1" marL="742950" rtl="0" algn="l">
              <a:spcBef>
                <a:spcPts val="300"/>
              </a:spcBef>
              <a:spcAft>
                <a:spcPts val="0"/>
              </a:spcAft>
              <a:buSzPts val="1800"/>
              <a:buChar char="–"/>
            </a:pPr>
            <a:r>
              <a:rPr lang="en-US"/>
              <a:t>Networks also connect multiple data centers or multiple clouds to one another</a:t>
            </a:r>
            <a:endParaRPr/>
          </a:p>
        </p:txBody>
      </p:sp>
      <p:sp>
        <p:nvSpPr>
          <p:cNvPr id="117" name="Google Shape;117;p3"/>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118" name="Google Shape;118;p3"/>
          <p:cNvPicPr preferRelativeResize="0"/>
          <p:nvPr/>
        </p:nvPicPr>
        <p:blipFill rotWithShape="1">
          <a:blip r:embed="rId3">
            <a:alphaModFix/>
          </a:blip>
          <a:srcRect b="0" l="0" r="0" t="0"/>
          <a:stretch/>
        </p:blipFill>
        <p:spPr>
          <a:xfrm>
            <a:off x="6599074" y="990601"/>
            <a:ext cx="2437422" cy="3381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Lesson: Compute System</a:t>
            </a:r>
            <a:endParaRPr/>
          </a:p>
        </p:txBody>
      </p:sp>
      <p:sp>
        <p:nvSpPr>
          <p:cNvPr id="125" name="Google Shape;125;p4"/>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lang="en-US"/>
              <a:t>This lesson covers the following topics:</a:t>
            </a:r>
            <a:endParaRPr/>
          </a:p>
          <a:p>
            <a:pPr indent="-228600" lvl="0" marL="228600" rtl="0" algn="l">
              <a:spcBef>
                <a:spcPts val="1200"/>
              </a:spcBef>
              <a:spcAft>
                <a:spcPts val="0"/>
              </a:spcAft>
              <a:buSzPts val="2000"/>
              <a:buChar char="•"/>
            </a:pPr>
            <a:r>
              <a:rPr lang="en-US"/>
              <a:t>Key components of a compute system</a:t>
            </a:r>
            <a:endParaRPr/>
          </a:p>
          <a:p>
            <a:pPr indent="-228600" lvl="0" marL="228600" rtl="0" algn="l">
              <a:spcBef>
                <a:spcPts val="1200"/>
              </a:spcBef>
              <a:spcAft>
                <a:spcPts val="0"/>
              </a:spcAft>
              <a:buSzPts val="2000"/>
              <a:buChar char="•"/>
            </a:pPr>
            <a:r>
              <a:rPr lang="en-US"/>
              <a:t>Software deployed on compute systems</a:t>
            </a:r>
            <a:endParaRPr/>
          </a:p>
          <a:p>
            <a:pPr indent="-228600" lvl="0" marL="228600" rtl="0" algn="l">
              <a:spcBef>
                <a:spcPts val="1200"/>
              </a:spcBef>
              <a:spcAft>
                <a:spcPts val="0"/>
              </a:spcAft>
              <a:buSzPts val="2000"/>
              <a:buChar char="•"/>
            </a:pPr>
            <a:r>
              <a:rPr lang="en-US"/>
              <a:t>Types of compute systems</a:t>
            </a:r>
            <a:endParaRPr/>
          </a:p>
        </p:txBody>
      </p:sp>
      <p:sp>
        <p:nvSpPr>
          <p:cNvPr id="126" name="Google Shape;126;p4"/>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Introduction to Compute System</a:t>
            </a:r>
            <a:endParaRPr/>
          </a:p>
        </p:txBody>
      </p:sp>
      <p:sp>
        <p:nvSpPr>
          <p:cNvPr id="133" name="Google Shape;133;p5"/>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A computing platform (hardware, firmware, and software) that runs platform and application software</a:t>
            </a:r>
            <a:endParaRPr/>
          </a:p>
          <a:p>
            <a:pPr indent="-285750" lvl="1" marL="742950" rtl="0" algn="l">
              <a:spcBef>
                <a:spcPts val="300"/>
              </a:spcBef>
              <a:spcAft>
                <a:spcPts val="0"/>
              </a:spcAft>
              <a:buSzPts val="1800"/>
              <a:buChar char="–"/>
            </a:pPr>
            <a:r>
              <a:rPr lang="en-US"/>
              <a:t>Executes the provider’s as well as the consumers’ software</a:t>
            </a:r>
            <a:endParaRPr/>
          </a:p>
          <a:p>
            <a:pPr indent="-285750" lvl="1" marL="742950" rtl="0" algn="l">
              <a:spcBef>
                <a:spcPts val="300"/>
              </a:spcBef>
              <a:spcAft>
                <a:spcPts val="0"/>
              </a:spcAft>
              <a:buSzPts val="1800"/>
              <a:buChar char="–"/>
            </a:pPr>
            <a:r>
              <a:rPr lang="en-US"/>
              <a:t>Typically x86-based servers or hosts</a:t>
            </a:r>
            <a:endParaRPr/>
          </a:p>
          <a:p>
            <a:pPr indent="-228600" lvl="0" marL="228600" rtl="0" algn="l">
              <a:spcBef>
                <a:spcPts val="1200"/>
              </a:spcBef>
              <a:spcAft>
                <a:spcPts val="0"/>
              </a:spcAft>
              <a:buClr>
                <a:schemeClr val="dk2"/>
              </a:buClr>
              <a:buSzPts val="2000"/>
              <a:buChar char="•"/>
            </a:pPr>
            <a:r>
              <a:rPr lang="en-US"/>
              <a:t>Compute systems are provided to consumers in two ways:</a:t>
            </a:r>
            <a:endParaRPr/>
          </a:p>
          <a:p>
            <a:pPr indent="-285750" lvl="1" marL="742950" rtl="0" algn="l">
              <a:spcBef>
                <a:spcPts val="300"/>
              </a:spcBef>
              <a:spcAft>
                <a:spcPts val="0"/>
              </a:spcAft>
              <a:buSzPts val="1800"/>
              <a:buChar char="–"/>
            </a:pPr>
            <a:r>
              <a:rPr lang="en-US"/>
              <a:t>Shared hosting: Multiple consumers share compute systems</a:t>
            </a:r>
            <a:endParaRPr/>
          </a:p>
          <a:p>
            <a:pPr indent="-285750" lvl="1" marL="742950" rtl="0" algn="l">
              <a:spcBef>
                <a:spcPts val="300"/>
              </a:spcBef>
              <a:spcAft>
                <a:spcPts val="0"/>
              </a:spcAft>
              <a:buSzPts val="1800"/>
              <a:buChar char="–"/>
            </a:pPr>
            <a:r>
              <a:rPr lang="en-US"/>
              <a:t>Dedicated hosting: Individual consumers have dedicated compute systems</a:t>
            </a:r>
            <a:endParaRPr/>
          </a:p>
          <a:p>
            <a:pPr indent="-228600" lvl="0" marL="228600" rtl="0" algn="l">
              <a:spcBef>
                <a:spcPts val="1200"/>
              </a:spcBef>
              <a:spcAft>
                <a:spcPts val="0"/>
              </a:spcAft>
              <a:buClr>
                <a:schemeClr val="dk2"/>
              </a:buClr>
              <a:buSzPts val="2000"/>
              <a:buChar char="•"/>
            </a:pPr>
            <a:r>
              <a:rPr lang="en-US"/>
              <a:t>Typically providers use compute virtualization and offer compute systems in the form of virtual machines</a:t>
            </a:r>
            <a:endParaRPr/>
          </a:p>
        </p:txBody>
      </p:sp>
      <p:sp>
        <p:nvSpPr>
          <p:cNvPr id="134" name="Google Shape;134;p5"/>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Key Components of a Compute System</a:t>
            </a:r>
            <a:endParaRPr/>
          </a:p>
        </p:txBody>
      </p:sp>
      <p:sp>
        <p:nvSpPr>
          <p:cNvPr id="141" name="Google Shape;141;p6"/>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pSp>
        <p:nvGrpSpPr>
          <p:cNvPr id="142" name="Google Shape;142;p6"/>
          <p:cNvGrpSpPr/>
          <p:nvPr/>
        </p:nvGrpSpPr>
        <p:grpSpPr>
          <a:xfrm>
            <a:off x="379413" y="992106"/>
            <a:ext cx="8458199" cy="3425986"/>
            <a:chOff x="0" y="1506"/>
            <a:chExt cx="8458199" cy="3425986"/>
          </a:xfrm>
        </p:grpSpPr>
        <p:sp>
          <p:nvSpPr>
            <p:cNvPr id="143" name="Google Shape;143;p6"/>
            <p:cNvSpPr/>
            <p:nvPr/>
          </p:nvSpPr>
          <p:spPr>
            <a:xfrm rot="5400000">
              <a:off x="5488038" y="-2375695"/>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txBox="1"/>
            <p:nvPr/>
          </p:nvSpPr>
          <p:spPr>
            <a:xfrm>
              <a:off x="3044951" y="93122"/>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An IC that executes software programs by performing arithmetical, logical, and input/output operations</a:t>
              </a:r>
              <a:endParaRPr/>
            </a:p>
          </p:txBody>
        </p:sp>
        <p:sp>
          <p:nvSpPr>
            <p:cNvPr id="145" name="Google Shape;145;p6"/>
            <p:cNvSpPr/>
            <p:nvPr/>
          </p:nvSpPr>
          <p:spPr>
            <a:xfrm>
              <a:off x="0" y="1506"/>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txBox="1"/>
            <p:nvPr/>
          </p:nvSpPr>
          <p:spPr>
            <a:xfrm>
              <a:off x="32162" y="33668"/>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Processor</a:t>
              </a:r>
              <a:endParaRPr/>
            </a:p>
          </p:txBody>
        </p:sp>
        <p:sp>
          <p:nvSpPr>
            <p:cNvPr id="147" name="Google Shape;147;p6"/>
            <p:cNvSpPr/>
            <p:nvPr/>
          </p:nvSpPr>
          <p:spPr>
            <a:xfrm rot="5400000">
              <a:off x="5488038" y="-1683909"/>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txBox="1"/>
            <p:nvPr/>
          </p:nvSpPr>
          <p:spPr>
            <a:xfrm>
              <a:off x="3044951" y="784908"/>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 volatile data storage device containing the programs for execution and the data used by the processor</a:t>
              </a:r>
              <a:endParaRPr/>
            </a:p>
          </p:txBody>
        </p:sp>
        <p:sp>
          <p:nvSpPr>
            <p:cNvPr id="149" name="Google Shape;149;p6"/>
            <p:cNvSpPr/>
            <p:nvPr/>
          </p:nvSpPr>
          <p:spPr>
            <a:xfrm>
              <a:off x="0" y="693292"/>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txBox="1"/>
            <p:nvPr/>
          </p:nvSpPr>
          <p:spPr>
            <a:xfrm>
              <a:off x="32162" y="725454"/>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Random-Access Memory</a:t>
              </a:r>
              <a:endParaRPr/>
            </a:p>
          </p:txBody>
        </p:sp>
        <p:sp>
          <p:nvSpPr>
            <p:cNvPr id="151" name="Google Shape;151;p6"/>
            <p:cNvSpPr/>
            <p:nvPr/>
          </p:nvSpPr>
          <p:spPr>
            <a:xfrm rot="5400000">
              <a:off x="5488038" y="-992124"/>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txBox="1"/>
            <p:nvPr/>
          </p:nvSpPr>
          <p:spPr>
            <a:xfrm>
              <a:off x="3044951" y="1476693"/>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 semiconductor memory containing boot, power management, and other device-specific firmware</a:t>
              </a:r>
              <a:endParaRPr/>
            </a:p>
          </p:txBody>
        </p:sp>
        <p:sp>
          <p:nvSpPr>
            <p:cNvPr id="153" name="Google Shape;153;p6"/>
            <p:cNvSpPr/>
            <p:nvPr/>
          </p:nvSpPr>
          <p:spPr>
            <a:xfrm>
              <a:off x="0" y="1385078"/>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txBox="1"/>
            <p:nvPr/>
          </p:nvSpPr>
          <p:spPr>
            <a:xfrm>
              <a:off x="32162" y="1417240"/>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Read-Only Memory</a:t>
              </a:r>
              <a:endParaRPr/>
            </a:p>
          </p:txBody>
        </p:sp>
        <p:sp>
          <p:nvSpPr>
            <p:cNvPr id="155" name="Google Shape;155;p6"/>
            <p:cNvSpPr/>
            <p:nvPr/>
          </p:nvSpPr>
          <p:spPr>
            <a:xfrm rot="5400000">
              <a:off x="5488038" y="-300338"/>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txBox="1"/>
            <p:nvPr/>
          </p:nvSpPr>
          <p:spPr>
            <a:xfrm>
              <a:off x="3044951" y="2168479"/>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 PCB that holds the processor, RAM, ROM, network and I/O ports, and other integrated components, such as GPU and NIC</a:t>
              </a:r>
              <a:endParaRPr/>
            </a:p>
          </p:txBody>
        </p:sp>
        <p:sp>
          <p:nvSpPr>
            <p:cNvPr id="157" name="Google Shape;157;p6"/>
            <p:cNvSpPr/>
            <p:nvPr/>
          </p:nvSpPr>
          <p:spPr>
            <a:xfrm>
              <a:off x="0" y="2076863"/>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txBox="1"/>
            <p:nvPr/>
          </p:nvSpPr>
          <p:spPr>
            <a:xfrm>
              <a:off x="32162" y="2109025"/>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Motherboard</a:t>
              </a:r>
              <a:endParaRPr/>
            </a:p>
          </p:txBody>
        </p:sp>
        <p:sp>
          <p:nvSpPr>
            <p:cNvPr id="159" name="Google Shape;159;p6"/>
            <p:cNvSpPr/>
            <p:nvPr/>
          </p:nvSpPr>
          <p:spPr>
            <a:xfrm rot="5400000">
              <a:off x="5488038" y="391447"/>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txBox="1"/>
            <p:nvPr/>
          </p:nvSpPr>
          <p:spPr>
            <a:xfrm>
              <a:off x="3044951" y="2860264"/>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 collection of microchips on a motherboard to manage specific functions, such as processor access to RAM and to peripheral ports</a:t>
              </a:r>
              <a:endParaRPr/>
            </a:p>
          </p:txBody>
        </p:sp>
        <p:sp>
          <p:nvSpPr>
            <p:cNvPr id="161" name="Google Shape;161;p6"/>
            <p:cNvSpPr/>
            <p:nvPr/>
          </p:nvSpPr>
          <p:spPr>
            <a:xfrm>
              <a:off x="0" y="2768649"/>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txBox="1"/>
            <p:nvPr/>
          </p:nvSpPr>
          <p:spPr>
            <a:xfrm>
              <a:off x="32162" y="2800811"/>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Chipset</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 name="Shape 167"/>
        <p:cNvGrpSpPr/>
        <p:nvPr/>
      </p:nvGrpSpPr>
      <p:grpSpPr>
        <a:xfrm>
          <a:off x="0" y="0"/>
          <a:ext cx="0" cy="0"/>
          <a:chOff x="0" y="0"/>
          <a:chExt cx="0" cy="0"/>
        </a:xfrm>
      </p:grpSpPr>
      <p:sp>
        <p:nvSpPr>
          <p:cNvPr id="168" name="Google Shape;168;p7"/>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Key Components of a Compute System</a:t>
            </a:r>
            <a:endParaRPr/>
          </a:p>
        </p:txBody>
      </p:sp>
      <p:sp>
        <p:nvSpPr>
          <p:cNvPr id="169" name="Google Shape;169;p7"/>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pSp>
        <p:nvGrpSpPr>
          <p:cNvPr id="170" name="Google Shape;170;p7"/>
          <p:cNvGrpSpPr/>
          <p:nvPr/>
        </p:nvGrpSpPr>
        <p:grpSpPr>
          <a:xfrm>
            <a:off x="379413" y="992106"/>
            <a:ext cx="8458199" cy="3425986"/>
            <a:chOff x="0" y="1506"/>
            <a:chExt cx="8458199" cy="3425986"/>
          </a:xfrm>
        </p:grpSpPr>
        <p:sp>
          <p:nvSpPr>
            <p:cNvPr id="171" name="Google Shape;171;p7"/>
            <p:cNvSpPr/>
            <p:nvPr/>
          </p:nvSpPr>
          <p:spPr>
            <a:xfrm rot="5400000">
              <a:off x="5488038" y="-2375695"/>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txBox="1"/>
            <p:nvPr/>
          </p:nvSpPr>
          <p:spPr>
            <a:xfrm>
              <a:off x="3044951" y="93122"/>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An IC that executes software programs by performing arithmetical, logical, and input/output operations</a:t>
              </a:r>
              <a:endParaRPr/>
            </a:p>
          </p:txBody>
        </p:sp>
        <p:sp>
          <p:nvSpPr>
            <p:cNvPr id="173" name="Google Shape;173;p7"/>
            <p:cNvSpPr/>
            <p:nvPr/>
          </p:nvSpPr>
          <p:spPr>
            <a:xfrm>
              <a:off x="0" y="1506"/>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txBox="1"/>
            <p:nvPr/>
          </p:nvSpPr>
          <p:spPr>
            <a:xfrm>
              <a:off x="32162" y="33668"/>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Processor</a:t>
              </a:r>
              <a:endParaRPr/>
            </a:p>
          </p:txBody>
        </p:sp>
        <p:sp>
          <p:nvSpPr>
            <p:cNvPr id="175" name="Google Shape;175;p7"/>
            <p:cNvSpPr/>
            <p:nvPr/>
          </p:nvSpPr>
          <p:spPr>
            <a:xfrm rot="5400000">
              <a:off x="5488038" y="-1683909"/>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txBox="1"/>
            <p:nvPr/>
          </p:nvSpPr>
          <p:spPr>
            <a:xfrm>
              <a:off x="3044951" y="784908"/>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 volatile data storage device containing the programs for execution and the data used by the processor</a:t>
              </a:r>
              <a:endParaRPr/>
            </a:p>
          </p:txBody>
        </p:sp>
        <p:sp>
          <p:nvSpPr>
            <p:cNvPr id="177" name="Google Shape;177;p7"/>
            <p:cNvSpPr/>
            <p:nvPr/>
          </p:nvSpPr>
          <p:spPr>
            <a:xfrm>
              <a:off x="0" y="693292"/>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txBox="1"/>
            <p:nvPr/>
          </p:nvSpPr>
          <p:spPr>
            <a:xfrm>
              <a:off x="32162" y="725454"/>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Random-Access Memory</a:t>
              </a:r>
              <a:endParaRPr/>
            </a:p>
          </p:txBody>
        </p:sp>
        <p:sp>
          <p:nvSpPr>
            <p:cNvPr id="179" name="Google Shape;179;p7"/>
            <p:cNvSpPr/>
            <p:nvPr/>
          </p:nvSpPr>
          <p:spPr>
            <a:xfrm rot="5400000">
              <a:off x="5488038" y="-992124"/>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txBox="1"/>
            <p:nvPr/>
          </p:nvSpPr>
          <p:spPr>
            <a:xfrm>
              <a:off x="3044951" y="1476693"/>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 semiconductor memory containing boot, power management, and other device-specific firmware</a:t>
              </a:r>
              <a:endParaRPr/>
            </a:p>
          </p:txBody>
        </p:sp>
        <p:sp>
          <p:nvSpPr>
            <p:cNvPr id="181" name="Google Shape;181;p7"/>
            <p:cNvSpPr/>
            <p:nvPr/>
          </p:nvSpPr>
          <p:spPr>
            <a:xfrm>
              <a:off x="0" y="1385078"/>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txBox="1"/>
            <p:nvPr/>
          </p:nvSpPr>
          <p:spPr>
            <a:xfrm>
              <a:off x="32162" y="1417240"/>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Read-Only Memory</a:t>
              </a:r>
              <a:endParaRPr/>
            </a:p>
          </p:txBody>
        </p:sp>
        <p:sp>
          <p:nvSpPr>
            <p:cNvPr id="183" name="Google Shape;183;p7"/>
            <p:cNvSpPr/>
            <p:nvPr/>
          </p:nvSpPr>
          <p:spPr>
            <a:xfrm rot="5400000">
              <a:off x="5488038" y="-300338"/>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txBox="1"/>
            <p:nvPr/>
          </p:nvSpPr>
          <p:spPr>
            <a:xfrm>
              <a:off x="3044951" y="2168479"/>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 PCB that holds the processor, RAM, ROM, network and I/O ports, and other integrated components, such as GPU and NIC</a:t>
              </a:r>
              <a:endParaRPr/>
            </a:p>
          </p:txBody>
        </p:sp>
        <p:sp>
          <p:nvSpPr>
            <p:cNvPr id="185" name="Google Shape;185;p7"/>
            <p:cNvSpPr/>
            <p:nvPr/>
          </p:nvSpPr>
          <p:spPr>
            <a:xfrm>
              <a:off x="0" y="2076863"/>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txBox="1"/>
            <p:nvPr/>
          </p:nvSpPr>
          <p:spPr>
            <a:xfrm>
              <a:off x="32162" y="2109025"/>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Motherboard</a:t>
              </a:r>
              <a:endParaRPr/>
            </a:p>
          </p:txBody>
        </p:sp>
        <p:sp>
          <p:nvSpPr>
            <p:cNvPr id="187" name="Google Shape;187;p7"/>
            <p:cNvSpPr/>
            <p:nvPr/>
          </p:nvSpPr>
          <p:spPr>
            <a:xfrm rot="5400000">
              <a:off x="5488038" y="391447"/>
              <a:ext cx="527074"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txBox="1"/>
            <p:nvPr/>
          </p:nvSpPr>
          <p:spPr>
            <a:xfrm>
              <a:off x="3044951" y="2860264"/>
              <a:ext cx="5387518" cy="475614"/>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A collection of microchips on a motherboard to manage specific functions, such as processor access to RAM and to peripheral ports</a:t>
              </a:r>
              <a:endParaRPr/>
            </a:p>
          </p:txBody>
        </p:sp>
        <p:sp>
          <p:nvSpPr>
            <p:cNvPr id="189" name="Google Shape;189;p7"/>
            <p:cNvSpPr/>
            <p:nvPr/>
          </p:nvSpPr>
          <p:spPr>
            <a:xfrm>
              <a:off x="0" y="2768649"/>
              <a:ext cx="3044952" cy="658843"/>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txBox="1"/>
            <p:nvPr/>
          </p:nvSpPr>
          <p:spPr>
            <a:xfrm>
              <a:off x="32162" y="2800811"/>
              <a:ext cx="2980628" cy="594519"/>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Chipset</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Software Deployed on Compute Systems</a:t>
            </a:r>
            <a:endParaRPr/>
          </a:p>
        </p:txBody>
      </p:sp>
      <p:sp>
        <p:nvSpPr>
          <p:cNvPr id="197" name="Google Shape;197;p8"/>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pSp>
        <p:nvGrpSpPr>
          <p:cNvPr id="198" name="Google Shape;198;p8"/>
          <p:cNvGrpSpPr/>
          <p:nvPr/>
        </p:nvGrpSpPr>
        <p:grpSpPr>
          <a:xfrm>
            <a:off x="379413" y="991541"/>
            <a:ext cx="8458199" cy="3427116"/>
            <a:chOff x="0" y="941"/>
            <a:chExt cx="8458199" cy="3427116"/>
          </a:xfrm>
        </p:grpSpPr>
        <p:sp>
          <p:nvSpPr>
            <p:cNvPr id="199" name="Google Shape;199;p8"/>
            <p:cNvSpPr/>
            <p:nvPr/>
          </p:nvSpPr>
          <p:spPr>
            <a:xfrm rot="5400000">
              <a:off x="5532240" y="-2431512"/>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txBox="1"/>
            <p:nvPr/>
          </p:nvSpPr>
          <p:spPr>
            <a:xfrm>
              <a:off x="3044951" y="77191"/>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Enables consumers to view and request cloud services</a:t>
              </a:r>
              <a:endParaRPr/>
            </a:p>
          </p:txBody>
        </p:sp>
        <p:sp>
          <p:nvSpPr>
            <p:cNvPr id="201" name="Google Shape;201;p8"/>
            <p:cNvSpPr/>
            <p:nvPr/>
          </p:nvSpPr>
          <p:spPr>
            <a:xfrm>
              <a:off x="0" y="941"/>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txBox="1"/>
            <p:nvPr/>
          </p:nvSpPr>
          <p:spPr>
            <a:xfrm>
              <a:off x="26768" y="27709"/>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Self-service portal</a:t>
              </a:r>
              <a:endParaRPr/>
            </a:p>
          </p:txBody>
        </p:sp>
        <p:sp>
          <p:nvSpPr>
            <p:cNvPr id="203" name="Google Shape;203;p8"/>
            <p:cNvSpPr/>
            <p:nvPr/>
          </p:nvSpPr>
          <p:spPr>
            <a:xfrm rot="5400000">
              <a:off x="5532240" y="-1855757"/>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txBox="1"/>
            <p:nvPr/>
          </p:nvSpPr>
          <p:spPr>
            <a:xfrm>
              <a:off x="3044951" y="652946"/>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Includes the software that the provider offers through PaaS</a:t>
              </a:r>
              <a:endParaRPr/>
            </a:p>
          </p:txBody>
        </p:sp>
        <p:sp>
          <p:nvSpPr>
            <p:cNvPr id="205" name="Google Shape;205;p8"/>
            <p:cNvSpPr/>
            <p:nvPr/>
          </p:nvSpPr>
          <p:spPr>
            <a:xfrm>
              <a:off x="0" y="576697"/>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txBox="1"/>
            <p:nvPr/>
          </p:nvSpPr>
          <p:spPr>
            <a:xfrm>
              <a:off x="26768" y="603465"/>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Platform software</a:t>
              </a:r>
              <a:endParaRPr/>
            </a:p>
          </p:txBody>
        </p:sp>
        <p:sp>
          <p:nvSpPr>
            <p:cNvPr id="207" name="Google Shape;207;p8"/>
            <p:cNvSpPr/>
            <p:nvPr/>
          </p:nvSpPr>
          <p:spPr>
            <a:xfrm rot="5400000">
              <a:off x="5532240" y="-1280001"/>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txBox="1"/>
            <p:nvPr/>
          </p:nvSpPr>
          <p:spPr>
            <a:xfrm>
              <a:off x="3044951" y="1228702"/>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Includes the applications that the provider offers through SaaS</a:t>
              </a:r>
              <a:endParaRPr/>
            </a:p>
          </p:txBody>
        </p:sp>
        <p:sp>
          <p:nvSpPr>
            <p:cNvPr id="209" name="Google Shape;209;p8"/>
            <p:cNvSpPr/>
            <p:nvPr/>
          </p:nvSpPr>
          <p:spPr>
            <a:xfrm>
              <a:off x="0" y="1152452"/>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txBox="1"/>
            <p:nvPr/>
          </p:nvSpPr>
          <p:spPr>
            <a:xfrm>
              <a:off x="26768" y="1179220"/>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Application software</a:t>
              </a:r>
              <a:endParaRPr/>
            </a:p>
          </p:txBody>
        </p:sp>
        <p:sp>
          <p:nvSpPr>
            <p:cNvPr id="211" name="Google Shape;211;p8"/>
            <p:cNvSpPr/>
            <p:nvPr/>
          </p:nvSpPr>
          <p:spPr>
            <a:xfrm rot="5400000">
              <a:off x="5532240" y="-704246"/>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txBox="1"/>
            <p:nvPr/>
          </p:nvSpPr>
          <p:spPr>
            <a:xfrm>
              <a:off x="3044951" y="1804457"/>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Enables resource pooling and creation of virtual resources</a:t>
              </a:r>
              <a:endParaRPr/>
            </a:p>
          </p:txBody>
        </p:sp>
        <p:sp>
          <p:nvSpPr>
            <p:cNvPr id="213" name="Google Shape;213;p8"/>
            <p:cNvSpPr/>
            <p:nvPr/>
          </p:nvSpPr>
          <p:spPr>
            <a:xfrm>
              <a:off x="0" y="1728208"/>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txBox="1"/>
            <p:nvPr/>
          </p:nvSpPr>
          <p:spPr>
            <a:xfrm>
              <a:off x="26768" y="1754976"/>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Virtualization software</a:t>
              </a:r>
              <a:endParaRPr/>
            </a:p>
          </p:txBody>
        </p:sp>
        <p:sp>
          <p:nvSpPr>
            <p:cNvPr id="215" name="Google Shape;215;p8"/>
            <p:cNvSpPr/>
            <p:nvPr/>
          </p:nvSpPr>
          <p:spPr>
            <a:xfrm rot="5400000">
              <a:off x="5532240" y="-128490"/>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txBox="1"/>
            <p:nvPr/>
          </p:nvSpPr>
          <p:spPr>
            <a:xfrm>
              <a:off x="3044951" y="2380213"/>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Enables a provider to manage the cloud infrastructure and services</a:t>
              </a:r>
              <a:endParaRPr/>
            </a:p>
          </p:txBody>
        </p:sp>
        <p:sp>
          <p:nvSpPr>
            <p:cNvPr id="217" name="Google Shape;217;p8"/>
            <p:cNvSpPr/>
            <p:nvPr/>
          </p:nvSpPr>
          <p:spPr>
            <a:xfrm>
              <a:off x="0" y="2303964"/>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txBox="1"/>
            <p:nvPr/>
          </p:nvSpPr>
          <p:spPr>
            <a:xfrm>
              <a:off x="26768" y="2330732"/>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Cloud management software</a:t>
              </a:r>
              <a:endParaRPr/>
            </a:p>
          </p:txBody>
        </p:sp>
        <p:sp>
          <p:nvSpPr>
            <p:cNvPr id="219" name="Google Shape;219;p8"/>
            <p:cNvSpPr/>
            <p:nvPr/>
          </p:nvSpPr>
          <p:spPr>
            <a:xfrm rot="5400000">
              <a:off x="5532240" y="447264"/>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txBox="1"/>
            <p:nvPr/>
          </p:nvSpPr>
          <p:spPr>
            <a:xfrm>
              <a:off x="3044951" y="2955967"/>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Includes a consumer’s platform software and business applications</a:t>
              </a:r>
              <a:endParaRPr/>
            </a:p>
          </p:txBody>
        </p:sp>
        <p:sp>
          <p:nvSpPr>
            <p:cNvPr id="221" name="Google Shape;221;p8"/>
            <p:cNvSpPr/>
            <p:nvPr/>
          </p:nvSpPr>
          <p:spPr>
            <a:xfrm>
              <a:off x="0" y="2879719"/>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txBox="1"/>
            <p:nvPr/>
          </p:nvSpPr>
          <p:spPr>
            <a:xfrm>
              <a:off x="26768" y="2906487"/>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Consumer software</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9"/>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Types of Compute Systems</a:t>
            </a:r>
            <a:endParaRPr/>
          </a:p>
        </p:txBody>
      </p:sp>
      <p:sp>
        <p:nvSpPr>
          <p:cNvPr id="229" name="Google Shape;229;p9"/>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Tower compute system</a:t>
            </a:r>
            <a:endParaRPr/>
          </a:p>
          <a:p>
            <a:pPr indent="-228600" lvl="0" marL="228600" rtl="0" algn="l">
              <a:spcBef>
                <a:spcPts val="1200"/>
              </a:spcBef>
              <a:spcAft>
                <a:spcPts val="0"/>
              </a:spcAft>
              <a:buClr>
                <a:schemeClr val="dk2"/>
              </a:buClr>
              <a:buSzPts val="2000"/>
              <a:buChar char="•"/>
            </a:pPr>
            <a:r>
              <a:rPr lang="en-US"/>
              <a:t>Rack-mounted compute system</a:t>
            </a:r>
            <a:endParaRPr/>
          </a:p>
          <a:p>
            <a:pPr indent="-228600" lvl="0" marL="228600" rtl="0" algn="l">
              <a:spcBef>
                <a:spcPts val="1200"/>
              </a:spcBef>
              <a:spcAft>
                <a:spcPts val="0"/>
              </a:spcAft>
              <a:buClr>
                <a:schemeClr val="dk2"/>
              </a:buClr>
              <a:buSzPts val="2000"/>
              <a:buChar char="•"/>
            </a:pPr>
            <a:r>
              <a:rPr lang="en-US"/>
              <a:t>Blade compute system</a:t>
            </a:r>
            <a:endParaRPr/>
          </a:p>
        </p:txBody>
      </p:sp>
      <p:sp>
        <p:nvSpPr>
          <p:cNvPr id="230" name="Google Shape;230;p9"/>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0"/>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Tower Compute System</a:t>
            </a:r>
            <a:endParaRPr/>
          </a:p>
        </p:txBody>
      </p:sp>
      <p:sp>
        <p:nvSpPr>
          <p:cNvPr id="237" name="Google Shape;237;p10"/>
          <p:cNvSpPr txBox="1"/>
          <p:nvPr>
            <p:ph idx="1" type="body"/>
          </p:nvPr>
        </p:nvSpPr>
        <p:spPr>
          <a:xfrm>
            <a:off x="379413" y="990600"/>
            <a:ext cx="6326187"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Built in an upright enclosure called a “tower”</a:t>
            </a:r>
            <a:endParaRPr/>
          </a:p>
          <a:p>
            <a:pPr indent="-228600" lvl="0" marL="228600" rtl="0" algn="l">
              <a:spcBef>
                <a:spcPts val="1200"/>
              </a:spcBef>
              <a:spcAft>
                <a:spcPts val="0"/>
              </a:spcAft>
              <a:buClr>
                <a:schemeClr val="dk2"/>
              </a:buClr>
              <a:buSzPts val="2000"/>
              <a:buChar char="•"/>
            </a:pPr>
            <a:r>
              <a:rPr lang="en-US"/>
              <a:t>Has integrated power supply and cooling</a:t>
            </a:r>
            <a:endParaRPr/>
          </a:p>
          <a:p>
            <a:pPr indent="-228600" lvl="0" marL="228600" rtl="0" algn="l">
              <a:spcBef>
                <a:spcPts val="1200"/>
              </a:spcBef>
              <a:spcAft>
                <a:spcPts val="0"/>
              </a:spcAft>
              <a:buClr>
                <a:schemeClr val="dk2"/>
              </a:buClr>
              <a:buSzPts val="2000"/>
              <a:buChar char="•"/>
            </a:pPr>
            <a:r>
              <a:rPr lang="en-US"/>
              <a:t>A group of towers occupies significant floor space, requires complex cabling, and generates noise from cooling units</a:t>
            </a:r>
            <a:endParaRPr/>
          </a:p>
          <a:p>
            <a:pPr indent="-228600" lvl="0" marL="228600" rtl="0" algn="l">
              <a:spcBef>
                <a:spcPts val="1200"/>
              </a:spcBef>
              <a:spcAft>
                <a:spcPts val="0"/>
              </a:spcAft>
              <a:buClr>
                <a:schemeClr val="dk2"/>
              </a:buClr>
              <a:buSzPts val="2000"/>
              <a:buChar char="•"/>
            </a:pPr>
            <a:r>
              <a:rPr lang="en-US"/>
              <a:t>Deploying in large environments may involve substantial expenditure</a:t>
            </a:r>
            <a:endParaRPr/>
          </a:p>
        </p:txBody>
      </p:sp>
      <p:sp>
        <p:nvSpPr>
          <p:cNvPr id="238" name="Google Shape;238;p10"/>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descr="server" id="239" name="Google Shape;239;p10"/>
          <p:cNvPicPr preferRelativeResize="0"/>
          <p:nvPr/>
        </p:nvPicPr>
        <p:blipFill rotWithShape="1">
          <a:blip r:embed="rId3">
            <a:alphaModFix/>
          </a:blip>
          <a:srcRect b="0" l="0" r="0" t="0"/>
          <a:stretch/>
        </p:blipFill>
        <p:spPr>
          <a:xfrm>
            <a:off x="6804248" y="990600"/>
            <a:ext cx="2063394" cy="2134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1"/>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Rack-mounted Compute System</a:t>
            </a:r>
            <a:endParaRPr/>
          </a:p>
        </p:txBody>
      </p:sp>
      <p:sp>
        <p:nvSpPr>
          <p:cNvPr id="246" name="Google Shape;246;p11"/>
          <p:cNvSpPr txBox="1"/>
          <p:nvPr>
            <p:ph idx="1" type="body"/>
          </p:nvPr>
        </p:nvSpPr>
        <p:spPr>
          <a:xfrm>
            <a:off x="379413" y="990600"/>
            <a:ext cx="6136803"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Designed to be fixed on a frame called a “rack”</a:t>
            </a:r>
            <a:endParaRPr/>
          </a:p>
          <a:p>
            <a:pPr indent="-285750" lvl="1" marL="742950" rtl="0" algn="l">
              <a:spcBef>
                <a:spcPts val="300"/>
              </a:spcBef>
              <a:spcAft>
                <a:spcPts val="0"/>
              </a:spcAft>
              <a:buSzPts val="1800"/>
              <a:buChar char="–"/>
            </a:pPr>
            <a:r>
              <a:rPr lang="en-US"/>
              <a:t>A rack is a standardized enclosure with mounting slots for vertically stacking compute systems</a:t>
            </a:r>
            <a:endParaRPr/>
          </a:p>
          <a:p>
            <a:pPr indent="-228600" lvl="0" marL="228600" rtl="0" algn="l">
              <a:spcBef>
                <a:spcPts val="1200"/>
              </a:spcBef>
              <a:spcAft>
                <a:spcPts val="0"/>
              </a:spcAft>
              <a:buClr>
                <a:schemeClr val="dk2"/>
              </a:buClr>
              <a:buSzPts val="2000"/>
              <a:buChar char="•"/>
            </a:pPr>
            <a:r>
              <a:rPr lang="en-US"/>
              <a:t>Simplifies network cabling, consolidates network equipment, and reduces floor space use</a:t>
            </a:r>
            <a:endParaRPr/>
          </a:p>
          <a:p>
            <a:pPr indent="-228600" lvl="0" marL="228600" rtl="0" algn="l">
              <a:spcBef>
                <a:spcPts val="1200"/>
              </a:spcBef>
              <a:spcAft>
                <a:spcPts val="0"/>
              </a:spcAft>
              <a:buClr>
                <a:schemeClr val="dk2"/>
              </a:buClr>
              <a:buSzPts val="2000"/>
              <a:buChar char="•"/>
            </a:pPr>
            <a:r>
              <a:rPr lang="en-US"/>
              <a:t>Administrators may use a console mounted on the rack to manage the compute systems</a:t>
            </a:r>
            <a:endParaRPr/>
          </a:p>
        </p:txBody>
      </p:sp>
      <p:sp>
        <p:nvSpPr>
          <p:cNvPr id="247" name="Google Shape;247;p11"/>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descr="C:\Users\prasap1\Desktop\ucs_c_460_large.jpg" id="248" name="Google Shape;248;p11"/>
          <p:cNvPicPr preferRelativeResize="0"/>
          <p:nvPr/>
        </p:nvPicPr>
        <p:blipFill rotWithShape="1">
          <a:blip r:embed="rId3">
            <a:alphaModFix/>
          </a:blip>
          <a:srcRect b="0" l="0" r="0" t="0"/>
          <a:stretch/>
        </p:blipFill>
        <p:spPr>
          <a:xfrm>
            <a:off x="6711748" y="990600"/>
            <a:ext cx="2152968" cy="1066800"/>
          </a:xfrm>
          <a:prstGeom prst="rect">
            <a:avLst/>
          </a:prstGeom>
          <a:noFill/>
          <a:ln>
            <a:noFill/>
          </a:ln>
        </p:spPr>
      </p:pic>
      <p:pic>
        <p:nvPicPr>
          <p:cNvPr descr="C:\Users\prasap1\Desktop\Server-Rack-psd47615.png" id="249" name="Google Shape;249;p11"/>
          <p:cNvPicPr preferRelativeResize="0"/>
          <p:nvPr/>
        </p:nvPicPr>
        <p:blipFill rotWithShape="1">
          <a:blip r:embed="rId4">
            <a:alphaModFix/>
          </a:blip>
          <a:srcRect b="11223" l="0" r="3832" t="0"/>
          <a:stretch/>
        </p:blipFill>
        <p:spPr>
          <a:xfrm>
            <a:off x="6620716" y="2185200"/>
            <a:ext cx="2335032" cy="2186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2"/>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Blade Compute System</a:t>
            </a:r>
            <a:endParaRPr/>
          </a:p>
        </p:txBody>
      </p:sp>
      <p:sp>
        <p:nvSpPr>
          <p:cNvPr id="256" name="Google Shape;256;p12"/>
          <p:cNvSpPr txBox="1"/>
          <p:nvPr>
            <p:ph idx="1" type="body"/>
          </p:nvPr>
        </p:nvSpPr>
        <p:spPr>
          <a:xfrm>
            <a:off x="379413" y="990600"/>
            <a:ext cx="6136803"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Comprises an electronic circuit board with only the core processing components</a:t>
            </a:r>
            <a:endParaRPr/>
          </a:p>
          <a:p>
            <a:pPr indent="-228600" lvl="0" marL="228600" rtl="0" algn="l">
              <a:spcBef>
                <a:spcPts val="1200"/>
              </a:spcBef>
              <a:spcAft>
                <a:spcPts val="0"/>
              </a:spcAft>
              <a:buClr>
                <a:schemeClr val="dk2"/>
              </a:buClr>
              <a:buSzPts val="2000"/>
              <a:buChar char="•"/>
            </a:pPr>
            <a:r>
              <a:rPr lang="en-US"/>
              <a:t>Multiple blades are housed in a blade chassis</a:t>
            </a:r>
            <a:endParaRPr/>
          </a:p>
          <a:p>
            <a:pPr indent="-285750" lvl="1" marL="742950" rtl="0" algn="l">
              <a:spcBef>
                <a:spcPts val="300"/>
              </a:spcBef>
              <a:spcAft>
                <a:spcPts val="0"/>
              </a:spcAft>
              <a:buSzPts val="1800"/>
              <a:buChar char="–"/>
            </a:pPr>
            <a:r>
              <a:rPr lang="en-US"/>
              <a:t>The chassis provides integrated power supply, cooling, networking, and management</a:t>
            </a:r>
            <a:endParaRPr/>
          </a:p>
          <a:p>
            <a:pPr indent="-228600" lvl="0" marL="228600" rtl="0" algn="l">
              <a:spcBef>
                <a:spcPts val="1200"/>
              </a:spcBef>
              <a:spcAft>
                <a:spcPts val="0"/>
              </a:spcAft>
              <a:buClr>
                <a:schemeClr val="dk2"/>
              </a:buClr>
              <a:buSzPts val="2000"/>
              <a:buChar char="•"/>
            </a:pPr>
            <a:r>
              <a:rPr lang="en-US"/>
              <a:t>Blades are interconnected via a high speed bus</a:t>
            </a:r>
            <a:endParaRPr/>
          </a:p>
          <a:p>
            <a:pPr indent="-228600" lvl="0" marL="228600" rtl="0" algn="l">
              <a:spcBef>
                <a:spcPts val="1200"/>
              </a:spcBef>
              <a:spcAft>
                <a:spcPts val="0"/>
              </a:spcAft>
              <a:buClr>
                <a:schemeClr val="dk2"/>
              </a:buClr>
              <a:buSzPts val="2000"/>
              <a:buChar char="•"/>
            </a:pPr>
            <a:r>
              <a:rPr lang="en-US"/>
              <a:t>Modular design increases compute system density and scalability</a:t>
            </a:r>
            <a:endParaRPr/>
          </a:p>
        </p:txBody>
      </p:sp>
      <p:sp>
        <p:nvSpPr>
          <p:cNvPr id="257" name="Google Shape;257;p12"/>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descr="C:\Users\prasap1\Desktop\b200_m3_blade_large.jpg" id="258" name="Google Shape;258;p12"/>
          <p:cNvPicPr preferRelativeResize="0"/>
          <p:nvPr/>
        </p:nvPicPr>
        <p:blipFill rotWithShape="1">
          <a:blip r:embed="rId3">
            <a:alphaModFix/>
          </a:blip>
          <a:srcRect b="0" l="0" r="0" t="0"/>
          <a:stretch/>
        </p:blipFill>
        <p:spPr>
          <a:xfrm>
            <a:off x="6698869" y="990600"/>
            <a:ext cx="2152800" cy="1065600"/>
          </a:xfrm>
          <a:prstGeom prst="rect">
            <a:avLst/>
          </a:prstGeom>
          <a:noFill/>
          <a:ln>
            <a:noFill/>
          </a:ln>
        </p:spPr>
      </p:pic>
      <p:pic>
        <p:nvPicPr>
          <p:cNvPr descr="C:\Users\prasap1\Desktop\UCS_HW.gif" id="259" name="Google Shape;259;p12"/>
          <p:cNvPicPr preferRelativeResize="0"/>
          <p:nvPr/>
        </p:nvPicPr>
        <p:blipFill rotWithShape="1">
          <a:blip r:embed="rId4">
            <a:alphaModFix/>
          </a:blip>
          <a:srcRect b="0" l="3437" r="0" t="0"/>
          <a:stretch/>
        </p:blipFill>
        <p:spPr>
          <a:xfrm>
            <a:off x="6483595" y="2260457"/>
            <a:ext cx="2583347" cy="209928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3"/>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C95DD"/>
              </a:buClr>
              <a:buSzPts val="2800"/>
              <a:buFont typeface="Verdana"/>
              <a:buNone/>
            </a:pPr>
            <a:r>
              <a:rPr lang="en-US">
                <a:solidFill>
                  <a:srgbClr val="2C95DD"/>
                </a:solidFill>
              </a:rPr>
              <a:t>Lesson Summary</a:t>
            </a:r>
            <a:endParaRPr/>
          </a:p>
        </p:txBody>
      </p:sp>
      <p:sp>
        <p:nvSpPr>
          <p:cNvPr id="266" name="Google Shape;266;p13"/>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lang="en-US"/>
              <a:t>During this lesson the following topics were covered:</a:t>
            </a:r>
            <a:endParaRPr/>
          </a:p>
          <a:p>
            <a:pPr indent="-228600" lvl="0" marL="228600" rtl="0" algn="l">
              <a:spcBef>
                <a:spcPts val="1200"/>
              </a:spcBef>
              <a:spcAft>
                <a:spcPts val="0"/>
              </a:spcAft>
              <a:buClr>
                <a:schemeClr val="dk2"/>
              </a:buClr>
              <a:buSzPts val="2000"/>
              <a:buChar char="•"/>
            </a:pPr>
            <a:r>
              <a:rPr lang="en-US"/>
              <a:t>Key components of a compute system</a:t>
            </a:r>
            <a:endParaRPr/>
          </a:p>
          <a:p>
            <a:pPr indent="-228600" lvl="0" marL="228600" rtl="0" algn="l">
              <a:spcBef>
                <a:spcPts val="1200"/>
              </a:spcBef>
              <a:spcAft>
                <a:spcPts val="0"/>
              </a:spcAft>
              <a:buClr>
                <a:schemeClr val="dk2"/>
              </a:buClr>
              <a:buSzPts val="2000"/>
              <a:buChar char="•"/>
            </a:pPr>
            <a:r>
              <a:rPr lang="en-US"/>
              <a:t>Software deployed on compute systems</a:t>
            </a:r>
            <a:endParaRPr/>
          </a:p>
          <a:p>
            <a:pPr indent="-228600" lvl="0" marL="228600" rtl="0" algn="l">
              <a:spcBef>
                <a:spcPts val="1200"/>
              </a:spcBef>
              <a:spcAft>
                <a:spcPts val="0"/>
              </a:spcAft>
              <a:buClr>
                <a:schemeClr val="dk2"/>
              </a:buClr>
              <a:buSzPts val="2000"/>
              <a:buChar char="•"/>
            </a:pPr>
            <a:r>
              <a:rPr lang="en-US"/>
              <a:t>Types of compute systems: tower, rack-mounted, and blade</a:t>
            </a:r>
            <a:endParaRPr/>
          </a:p>
        </p:txBody>
      </p:sp>
      <p:sp>
        <p:nvSpPr>
          <p:cNvPr id="267" name="Google Shape;267;p13"/>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4"/>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Lesson: Storage System</a:t>
            </a:r>
            <a:endParaRPr/>
          </a:p>
        </p:txBody>
      </p:sp>
      <p:sp>
        <p:nvSpPr>
          <p:cNvPr id="274" name="Google Shape;274;p14"/>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lang="en-US"/>
              <a:t>This lesson covers the following topics:</a:t>
            </a:r>
            <a:endParaRPr/>
          </a:p>
          <a:p>
            <a:pPr indent="-228600" lvl="0" marL="228600" rtl="0" algn="l">
              <a:spcBef>
                <a:spcPts val="1200"/>
              </a:spcBef>
              <a:spcAft>
                <a:spcPts val="0"/>
              </a:spcAft>
              <a:buSzPts val="2000"/>
              <a:buChar char="•"/>
            </a:pPr>
            <a:r>
              <a:rPr lang="en-US"/>
              <a:t>Types of storage devices</a:t>
            </a:r>
            <a:endParaRPr/>
          </a:p>
          <a:p>
            <a:pPr indent="-228600" lvl="0" marL="228600" rtl="0" algn="l">
              <a:spcBef>
                <a:spcPts val="1200"/>
              </a:spcBef>
              <a:spcAft>
                <a:spcPts val="0"/>
              </a:spcAft>
              <a:buSzPts val="2000"/>
              <a:buChar char="•"/>
            </a:pPr>
            <a:r>
              <a:rPr lang="en-US"/>
              <a:t>Redundant Array of Independent Disks (RAID)</a:t>
            </a:r>
            <a:endParaRPr/>
          </a:p>
          <a:p>
            <a:pPr indent="-228600" lvl="0" marL="228600" rtl="0" algn="l">
              <a:spcBef>
                <a:spcPts val="1200"/>
              </a:spcBef>
              <a:spcAft>
                <a:spcPts val="0"/>
              </a:spcAft>
              <a:buSzPts val="2000"/>
              <a:buChar char="•"/>
            </a:pPr>
            <a:r>
              <a:rPr lang="en-US"/>
              <a:t>Storage system architectures</a:t>
            </a:r>
            <a:endParaRPr/>
          </a:p>
        </p:txBody>
      </p:sp>
      <p:sp>
        <p:nvSpPr>
          <p:cNvPr id="275" name="Google Shape;275;p14"/>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5"/>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Introduction to Storage System</a:t>
            </a:r>
            <a:endParaRPr/>
          </a:p>
        </p:txBody>
      </p:sp>
      <p:sp>
        <p:nvSpPr>
          <p:cNvPr id="282" name="Google Shape;282;p15"/>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A storage system is the repository for saving and retrieving electronic data</a:t>
            </a:r>
            <a:endParaRPr/>
          </a:p>
          <a:p>
            <a:pPr indent="-228600" lvl="0" marL="228600" rtl="0" algn="l">
              <a:spcBef>
                <a:spcPts val="1200"/>
              </a:spcBef>
              <a:spcAft>
                <a:spcPts val="0"/>
              </a:spcAft>
              <a:buClr>
                <a:schemeClr val="dk2"/>
              </a:buClr>
              <a:buSzPts val="2000"/>
              <a:buChar char="•"/>
            </a:pPr>
            <a:r>
              <a:rPr lang="en-US"/>
              <a:t>Providers offer storage capacity along with compute systems, or as a service</a:t>
            </a:r>
            <a:endParaRPr/>
          </a:p>
          <a:p>
            <a:pPr indent="-285750" lvl="1" marL="742950" rtl="0" algn="l">
              <a:spcBef>
                <a:spcPts val="300"/>
              </a:spcBef>
              <a:spcAft>
                <a:spcPts val="0"/>
              </a:spcAft>
              <a:buSzPts val="1800"/>
              <a:buChar char="–"/>
            </a:pPr>
            <a:r>
              <a:rPr lang="en-US"/>
              <a:t>Storage as a Service enables data backup and long-term data retention</a:t>
            </a:r>
            <a:endParaRPr/>
          </a:p>
          <a:p>
            <a:pPr indent="-228600" lvl="0" marL="228600" rtl="0" algn="l">
              <a:spcBef>
                <a:spcPts val="1200"/>
              </a:spcBef>
              <a:spcAft>
                <a:spcPts val="0"/>
              </a:spcAft>
              <a:buClr>
                <a:schemeClr val="dk2"/>
              </a:buClr>
              <a:buSzPts val="2000"/>
              <a:buChar char="•"/>
            </a:pPr>
            <a:r>
              <a:rPr lang="en-US"/>
              <a:t>Cloud storage provides massive scalability and rapid elasticity of storage resources</a:t>
            </a:r>
            <a:endParaRPr/>
          </a:p>
          <a:p>
            <a:pPr indent="-228600" lvl="0" marL="228600" rtl="0" algn="l">
              <a:spcBef>
                <a:spcPts val="1200"/>
              </a:spcBef>
              <a:spcAft>
                <a:spcPts val="0"/>
              </a:spcAft>
              <a:buClr>
                <a:schemeClr val="dk2"/>
              </a:buClr>
              <a:buSzPts val="2000"/>
              <a:buChar char="•"/>
            </a:pPr>
            <a:r>
              <a:rPr lang="en-US"/>
              <a:t>Typically, a provider uses virtualization to create storage pools that are shared by multiple consumers</a:t>
            </a:r>
            <a:endParaRPr/>
          </a:p>
        </p:txBody>
      </p:sp>
      <p:sp>
        <p:nvSpPr>
          <p:cNvPr id="283" name="Google Shape;283;p15"/>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6"/>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Types of Storage Devices</a:t>
            </a:r>
            <a:endParaRPr/>
          </a:p>
        </p:txBody>
      </p:sp>
      <p:sp>
        <p:nvSpPr>
          <p:cNvPr id="290" name="Google Shape;290;p16"/>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pSp>
        <p:nvGrpSpPr>
          <p:cNvPr id="291" name="Google Shape;291;p16"/>
          <p:cNvGrpSpPr/>
          <p:nvPr/>
        </p:nvGrpSpPr>
        <p:grpSpPr>
          <a:xfrm>
            <a:off x="379413" y="992316"/>
            <a:ext cx="8458199" cy="3425566"/>
            <a:chOff x="0" y="1716"/>
            <a:chExt cx="8458199" cy="3425566"/>
          </a:xfrm>
        </p:grpSpPr>
        <p:sp>
          <p:nvSpPr>
            <p:cNvPr id="292" name="Google Shape;292;p16"/>
            <p:cNvSpPr/>
            <p:nvPr/>
          </p:nvSpPr>
          <p:spPr>
            <a:xfrm rot="5400000">
              <a:off x="5421400" y="-2292188"/>
              <a:ext cx="66035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txBox="1"/>
            <p:nvPr/>
          </p:nvSpPr>
          <p:spPr>
            <a:xfrm>
              <a:off x="3044951" y="116497"/>
              <a:ext cx="5381012" cy="595878"/>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Stores data on a circular disk with a ferromagnetic coating</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Provides random read/write access</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Most popular storage device with large storage capacity</a:t>
              </a:r>
              <a:endParaRPr/>
            </a:p>
          </p:txBody>
        </p:sp>
        <p:sp>
          <p:nvSpPr>
            <p:cNvPr id="294" name="Google Shape;294;p16"/>
            <p:cNvSpPr/>
            <p:nvPr/>
          </p:nvSpPr>
          <p:spPr>
            <a:xfrm>
              <a:off x="0" y="1716"/>
              <a:ext cx="3044952" cy="825437"/>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txBox="1"/>
            <p:nvPr/>
          </p:nvSpPr>
          <p:spPr>
            <a:xfrm>
              <a:off x="40295" y="42011"/>
              <a:ext cx="2964362" cy="744847"/>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Magnetic disk drive</a:t>
              </a:r>
              <a:endParaRPr/>
            </a:p>
          </p:txBody>
        </p:sp>
        <p:sp>
          <p:nvSpPr>
            <p:cNvPr id="296" name="Google Shape;296;p16"/>
            <p:cNvSpPr/>
            <p:nvPr/>
          </p:nvSpPr>
          <p:spPr>
            <a:xfrm rot="5400000">
              <a:off x="5421400" y="-1425478"/>
              <a:ext cx="66035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txBox="1"/>
            <p:nvPr/>
          </p:nvSpPr>
          <p:spPr>
            <a:xfrm>
              <a:off x="3044951" y="983207"/>
              <a:ext cx="5381012" cy="595878"/>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Stores data on a semiconductor-based memory</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Very low latency per I/O, low power requirements, and very high throughput</a:t>
              </a:r>
              <a:endParaRPr/>
            </a:p>
          </p:txBody>
        </p:sp>
        <p:sp>
          <p:nvSpPr>
            <p:cNvPr id="298" name="Google Shape;298;p16"/>
            <p:cNvSpPr/>
            <p:nvPr/>
          </p:nvSpPr>
          <p:spPr>
            <a:xfrm>
              <a:off x="0" y="868426"/>
              <a:ext cx="3044952" cy="825437"/>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txBox="1"/>
            <p:nvPr/>
          </p:nvSpPr>
          <p:spPr>
            <a:xfrm>
              <a:off x="40295" y="908721"/>
              <a:ext cx="2964362" cy="744847"/>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Solid-state (flash) drive</a:t>
              </a:r>
              <a:endParaRPr/>
            </a:p>
          </p:txBody>
        </p:sp>
        <p:sp>
          <p:nvSpPr>
            <p:cNvPr id="300" name="Google Shape;300;p16"/>
            <p:cNvSpPr/>
            <p:nvPr/>
          </p:nvSpPr>
          <p:spPr>
            <a:xfrm rot="5400000">
              <a:off x="5421400" y="-558769"/>
              <a:ext cx="66035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6"/>
            <p:cNvSpPr txBox="1"/>
            <p:nvPr/>
          </p:nvSpPr>
          <p:spPr>
            <a:xfrm>
              <a:off x="3044951" y="1849916"/>
              <a:ext cx="5381012" cy="595878"/>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Stores data on a thin plastic film with a magnetic coating</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Provides only sequential data access</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Low-cost solution for long term data storage</a:t>
              </a:r>
              <a:endParaRPr/>
            </a:p>
          </p:txBody>
        </p:sp>
        <p:sp>
          <p:nvSpPr>
            <p:cNvPr id="302" name="Google Shape;302;p16"/>
            <p:cNvSpPr/>
            <p:nvPr/>
          </p:nvSpPr>
          <p:spPr>
            <a:xfrm>
              <a:off x="0" y="1735135"/>
              <a:ext cx="3044952" cy="825437"/>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txBox="1"/>
            <p:nvPr/>
          </p:nvSpPr>
          <p:spPr>
            <a:xfrm>
              <a:off x="40295" y="1775430"/>
              <a:ext cx="2964362" cy="744847"/>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Magnetic tape drive</a:t>
              </a:r>
              <a:endParaRPr/>
            </a:p>
          </p:txBody>
        </p:sp>
        <p:sp>
          <p:nvSpPr>
            <p:cNvPr id="304" name="Google Shape;304;p16"/>
            <p:cNvSpPr/>
            <p:nvPr/>
          </p:nvSpPr>
          <p:spPr>
            <a:xfrm rot="5400000">
              <a:off x="5421400" y="307940"/>
              <a:ext cx="66035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6"/>
            <p:cNvSpPr txBox="1"/>
            <p:nvPr/>
          </p:nvSpPr>
          <p:spPr>
            <a:xfrm>
              <a:off x="3044951" y="2716625"/>
              <a:ext cx="5381012" cy="595878"/>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Stores data on a polycarbonate disc with a reflective coating</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Write Once and Read Many capability: CD, DVD, BD</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Low-cost solution for long-term data storage</a:t>
              </a:r>
              <a:endParaRPr/>
            </a:p>
          </p:txBody>
        </p:sp>
        <p:sp>
          <p:nvSpPr>
            <p:cNvPr id="306" name="Google Shape;306;p16"/>
            <p:cNvSpPr/>
            <p:nvPr/>
          </p:nvSpPr>
          <p:spPr>
            <a:xfrm>
              <a:off x="0" y="2601845"/>
              <a:ext cx="3044952" cy="825437"/>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6"/>
            <p:cNvSpPr txBox="1"/>
            <p:nvPr/>
          </p:nvSpPr>
          <p:spPr>
            <a:xfrm>
              <a:off x="40295" y="2642140"/>
              <a:ext cx="2964362" cy="744847"/>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Optical disc drive</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 name="Shape 312"/>
        <p:cNvGrpSpPr/>
        <p:nvPr/>
      </p:nvGrpSpPr>
      <p:grpSpPr>
        <a:xfrm>
          <a:off x="0" y="0"/>
          <a:ext cx="0" cy="0"/>
          <a:chOff x="0" y="0"/>
          <a:chExt cx="0" cy="0"/>
        </a:xfrm>
      </p:grpSpPr>
      <p:sp>
        <p:nvSpPr>
          <p:cNvPr id="313" name="Google Shape;313;p17"/>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Types of Storage Devices</a:t>
            </a:r>
            <a:endParaRPr/>
          </a:p>
        </p:txBody>
      </p:sp>
      <p:sp>
        <p:nvSpPr>
          <p:cNvPr id="314" name="Google Shape;314;p17"/>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pSp>
        <p:nvGrpSpPr>
          <p:cNvPr id="315" name="Google Shape;315;p17"/>
          <p:cNvGrpSpPr/>
          <p:nvPr/>
        </p:nvGrpSpPr>
        <p:grpSpPr>
          <a:xfrm>
            <a:off x="379413" y="992316"/>
            <a:ext cx="8458199" cy="3425566"/>
            <a:chOff x="0" y="1716"/>
            <a:chExt cx="8458199" cy="3425566"/>
          </a:xfrm>
        </p:grpSpPr>
        <p:sp>
          <p:nvSpPr>
            <p:cNvPr id="316" name="Google Shape;316;p17"/>
            <p:cNvSpPr/>
            <p:nvPr/>
          </p:nvSpPr>
          <p:spPr>
            <a:xfrm rot="5400000">
              <a:off x="5421400" y="-2292188"/>
              <a:ext cx="66035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7"/>
            <p:cNvSpPr txBox="1"/>
            <p:nvPr/>
          </p:nvSpPr>
          <p:spPr>
            <a:xfrm>
              <a:off x="3044951" y="116497"/>
              <a:ext cx="5381012" cy="595878"/>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Stores data on a circular disk with a ferromagnetic coating</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Provides random read/write access</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Most popular storage device with large storage capacity</a:t>
              </a:r>
              <a:endParaRPr/>
            </a:p>
          </p:txBody>
        </p:sp>
        <p:sp>
          <p:nvSpPr>
            <p:cNvPr id="318" name="Google Shape;318;p17"/>
            <p:cNvSpPr/>
            <p:nvPr/>
          </p:nvSpPr>
          <p:spPr>
            <a:xfrm>
              <a:off x="0" y="1716"/>
              <a:ext cx="3044952" cy="825437"/>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7"/>
            <p:cNvSpPr txBox="1"/>
            <p:nvPr/>
          </p:nvSpPr>
          <p:spPr>
            <a:xfrm>
              <a:off x="40295" y="42011"/>
              <a:ext cx="2964362" cy="744847"/>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Magnetic disk drive</a:t>
              </a:r>
              <a:endParaRPr/>
            </a:p>
          </p:txBody>
        </p:sp>
        <p:sp>
          <p:nvSpPr>
            <p:cNvPr id="320" name="Google Shape;320;p17"/>
            <p:cNvSpPr/>
            <p:nvPr/>
          </p:nvSpPr>
          <p:spPr>
            <a:xfrm rot="5400000">
              <a:off x="5421400" y="-1425478"/>
              <a:ext cx="66035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7"/>
            <p:cNvSpPr txBox="1"/>
            <p:nvPr/>
          </p:nvSpPr>
          <p:spPr>
            <a:xfrm>
              <a:off x="3044951" y="983207"/>
              <a:ext cx="5381012" cy="595878"/>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Stores data on a semiconductor-based memory</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Very low latency per I/O, low power requirements, and very high throughput</a:t>
              </a:r>
              <a:endParaRPr/>
            </a:p>
          </p:txBody>
        </p:sp>
        <p:sp>
          <p:nvSpPr>
            <p:cNvPr id="322" name="Google Shape;322;p17"/>
            <p:cNvSpPr/>
            <p:nvPr/>
          </p:nvSpPr>
          <p:spPr>
            <a:xfrm>
              <a:off x="0" y="868426"/>
              <a:ext cx="3044952" cy="825437"/>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txBox="1"/>
            <p:nvPr/>
          </p:nvSpPr>
          <p:spPr>
            <a:xfrm>
              <a:off x="40295" y="908721"/>
              <a:ext cx="2964362" cy="744847"/>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Solid-state (flash) drive</a:t>
              </a:r>
              <a:endParaRPr/>
            </a:p>
          </p:txBody>
        </p:sp>
        <p:sp>
          <p:nvSpPr>
            <p:cNvPr id="324" name="Google Shape;324;p17"/>
            <p:cNvSpPr/>
            <p:nvPr/>
          </p:nvSpPr>
          <p:spPr>
            <a:xfrm rot="5400000">
              <a:off x="5421400" y="-558769"/>
              <a:ext cx="66035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
            <p:cNvSpPr txBox="1"/>
            <p:nvPr/>
          </p:nvSpPr>
          <p:spPr>
            <a:xfrm>
              <a:off x="3044951" y="1849916"/>
              <a:ext cx="5381012" cy="595878"/>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Stores data on a thin plastic film with a magnetic coating</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Provides only sequential data access</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Low-cost solution for long term data storage</a:t>
              </a:r>
              <a:endParaRPr/>
            </a:p>
          </p:txBody>
        </p:sp>
        <p:sp>
          <p:nvSpPr>
            <p:cNvPr id="326" name="Google Shape;326;p17"/>
            <p:cNvSpPr/>
            <p:nvPr/>
          </p:nvSpPr>
          <p:spPr>
            <a:xfrm>
              <a:off x="0" y="1735135"/>
              <a:ext cx="3044952" cy="825437"/>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7"/>
            <p:cNvSpPr txBox="1"/>
            <p:nvPr/>
          </p:nvSpPr>
          <p:spPr>
            <a:xfrm>
              <a:off x="40295" y="1775430"/>
              <a:ext cx="2964362" cy="744847"/>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Magnetic tape drive</a:t>
              </a:r>
              <a:endParaRPr/>
            </a:p>
          </p:txBody>
        </p:sp>
        <p:sp>
          <p:nvSpPr>
            <p:cNvPr id="328" name="Google Shape;328;p17"/>
            <p:cNvSpPr/>
            <p:nvPr/>
          </p:nvSpPr>
          <p:spPr>
            <a:xfrm rot="5400000">
              <a:off x="5421400" y="307940"/>
              <a:ext cx="66035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txBox="1"/>
            <p:nvPr/>
          </p:nvSpPr>
          <p:spPr>
            <a:xfrm>
              <a:off x="3044951" y="2716625"/>
              <a:ext cx="5381012" cy="595878"/>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Stores data on a polycarbonate disc with a reflective coating</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Write Once and Read Many capability: CD, DVD, BD</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Low-cost solution for long-term data storage</a:t>
              </a:r>
              <a:endParaRPr/>
            </a:p>
          </p:txBody>
        </p:sp>
        <p:sp>
          <p:nvSpPr>
            <p:cNvPr id="330" name="Google Shape;330;p17"/>
            <p:cNvSpPr/>
            <p:nvPr/>
          </p:nvSpPr>
          <p:spPr>
            <a:xfrm>
              <a:off x="0" y="2601845"/>
              <a:ext cx="3044952" cy="825437"/>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7"/>
            <p:cNvSpPr txBox="1"/>
            <p:nvPr/>
          </p:nvSpPr>
          <p:spPr>
            <a:xfrm>
              <a:off x="40295" y="2642140"/>
              <a:ext cx="2964362" cy="744847"/>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b="0" i="0" lang="en-US" sz="1500" u="none" cap="none" strike="noStrike">
                  <a:solidFill>
                    <a:schemeClr val="lt1"/>
                  </a:solidFill>
                  <a:latin typeface="Verdana"/>
                  <a:ea typeface="Verdana"/>
                  <a:cs typeface="Verdana"/>
                  <a:sym typeface="Verdana"/>
                </a:rPr>
                <a:t>Optical disc drive</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8"/>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Redundant Array of Independent Disks (RAID)</a:t>
            </a:r>
            <a:endParaRPr/>
          </a:p>
        </p:txBody>
      </p:sp>
      <p:sp>
        <p:nvSpPr>
          <p:cNvPr id="338" name="Google Shape;338;p18"/>
          <p:cNvSpPr txBox="1"/>
          <p:nvPr>
            <p:ph idx="1" type="body"/>
          </p:nvPr>
        </p:nvSpPr>
        <p:spPr>
          <a:xfrm>
            <a:off x="379413" y="2211710"/>
            <a:ext cx="8458200" cy="220789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Improves storage system performance by serving I/Os from multiple drives simultaneously</a:t>
            </a:r>
            <a:endParaRPr/>
          </a:p>
          <a:p>
            <a:pPr indent="-228600" lvl="0" marL="228600" rtl="0" algn="l">
              <a:spcBef>
                <a:spcPts val="1200"/>
              </a:spcBef>
              <a:spcAft>
                <a:spcPts val="0"/>
              </a:spcAft>
              <a:buClr>
                <a:schemeClr val="dk2"/>
              </a:buClr>
              <a:buSzPts val="2000"/>
              <a:buChar char="•"/>
            </a:pPr>
            <a:r>
              <a:rPr lang="en-US"/>
              <a:t>Provides data protection against drive failures</a:t>
            </a:r>
            <a:endParaRPr/>
          </a:p>
          <a:p>
            <a:pPr indent="-228600" lvl="0" marL="228600" rtl="0" algn="l">
              <a:spcBef>
                <a:spcPts val="1200"/>
              </a:spcBef>
              <a:spcAft>
                <a:spcPts val="0"/>
              </a:spcAft>
              <a:buClr>
                <a:schemeClr val="dk2"/>
              </a:buClr>
              <a:buSzPts val="2000"/>
              <a:buChar char="•"/>
            </a:pPr>
            <a:r>
              <a:rPr lang="en-US"/>
              <a:t>Three key techniques used for RAID: striping, mirroring, and parity</a:t>
            </a:r>
            <a:endParaRPr/>
          </a:p>
        </p:txBody>
      </p:sp>
      <p:sp>
        <p:nvSpPr>
          <p:cNvPr id="339" name="Google Shape;339;p18"/>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340" name="Google Shape;340;p18"/>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41" name="Google Shape;341;p18"/>
          <p:cNvSpPr/>
          <p:nvPr/>
        </p:nvSpPr>
        <p:spPr>
          <a:xfrm>
            <a:off x="609600" y="1113130"/>
            <a:ext cx="8229600" cy="882556"/>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b="0" i="0" lang="en-US" sz="1600" u="none" cap="none" strike="noStrike">
                <a:solidFill>
                  <a:schemeClr val="dk1"/>
                </a:solidFill>
                <a:latin typeface="Verdana"/>
                <a:ea typeface="Verdana"/>
                <a:cs typeface="Verdana"/>
                <a:sym typeface="Verdana"/>
              </a:rPr>
              <a:t>A storage technology in which data is written in blocks across multiple disk drives that are combined into a logical unit called a RAID group.</a:t>
            </a:r>
            <a:endParaRPr/>
          </a:p>
        </p:txBody>
      </p:sp>
      <p:sp>
        <p:nvSpPr>
          <p:cNvPr id="342" name="Google Shape;342;p18"/>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RAID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9"/>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RAID Technique: Striping</a:t>
            </a:r>
            <a:endParaRPr/>
          </a:p>
        </p:txBody>
      </p:sp>
      <p:sp>
        <p:nvSpPr>
          <p:cNvPr id="349" name="Google Shape;349;p19"/>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350" name="Google Shape;350;p19"/>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51" name="Google Shape;351;p19"/>
          <p:cNvSpPr/>
          <p:nvPr/>
        </p:nvSpPr>
        <p:spPr>
          <a:xfrm>
            <a:off x="609600" y="1113130"/>
            <a:ext cx="8229600" cy="882556"/>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A RAID technique to spread data across multiple drives in order to use the drives in parallel.</a:t>
            </a:r>
            <a:endParaRPr/>
          </a:p>
        </p:txBody>
      </p:sp>
      <p:sp>
        <p:nvSpPr>
          <p:cNvPr id="352" name="Google Shape;352;p19"/>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Striping</a:t>
            </a:r>
            <a:endParaRPr/>
          </a:p>
        </p:txBody>
      </p:sp>
      <p:pic>
        <p:nvPicPr>
          <p:cNvPr id="353" name="Google Shape;353;p19"/>
          <p:cNvPicPr preferRelativeResize="0"/>
          <p:nvPr/>
        </p:nvPicPr>
        <p:blipFill rotWithShape="1">
          <a:blip r:embed="rId3">
            <a:alphaModFix/>
          </a:blip>
          <a:srcRect b="0" l="0" r="0" t="0"/>
          <a:stretch/>
        </p:blipFill>
        <p:spPr>
          <a:xfrm>
            <a:off x="1294774" y="2132154"/>
            <a:ext cx="6554452" cy="26141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0"/>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RAID Technique: Mirroring</a:t>
            </a:r>
            <a:endParaRPr/>
          </a:p>
        </p:txBody>
      </p:sp>
      <p:sp>
        <p:nvSpPr>
          <p:cNvPr id="360" name="Google Shape;360;p20"/>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361" name="Google Shape;361;p20"/>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62" name="Google Shape;362;p20"/>
          <p:cNvSpPr/>
          <p:nvPr/>
        </p:nvSpPr>
        <p:spPr>
          <a:xfrm>
            <a:off x="609600" y="1113130"/>
            <a:ext cx="8229600" cy="882556"/>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A RAID technique to store the same data simultaneously on two different drives, yielding two copies of the data.</a:t>
            </a:r>
            <a:endParaRPr/>
          </a:p>
        </p:txBody>
      </p:sp>
      <p:sp>
        <p:nvSpPr>
          <p:cNvPr id="363" name="Google Shape;363;p20"/>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Mirroring</a:t>
            </a:r>
            <a:endParaRPr/>
          </a:p>
        </p:txBody>
      </p:sp>
      <p:pic>
        <p:nvPicPr>
          <p:cNvPr id="364" name="Google Shape;364;p20"/>
          <p:cNvPicPr preferRelativeResize="0"/>
          <p:nvPr/>
        </p:nvPicPr>
        <p:blipFill rotWithShape="1">
          <a:blip r:embed="rId3">
            <a:alphaModFix/>
          </a:blip>
          <a:srcRect b="0" l="0" r="0" t="0"/>
          <a:stretch/>
        </p:blipFill>
        <p:spPr>
          <a:xfrm>
            <a:off x="1441662" y="2193518"/>
            <a:ext cx="6260677" cy="21064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1"/>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RAID Technique: Parity</a:t>
            </a:r>
            <a:endParaRPr/>
          </a:p>
        </p:txBody>
      </p:sp>
      <p:sp>
        <p:nvSpPr>
          <p:cNvPr id="371" name="Google Shape;371;p21"/>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372" name="Google Shape;372;p21"/>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373" name="Google Shape;373;p21"/>
          <p:cNvSpPr/>
          <p:nvPr/>
        </p:nvSpPr>
        <p:spPr>
          <a:xfrm>
            <a:off x="609600" y="1113130"/>
            <a:ext cx="8229600" cy="1098580"/>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A RAID technique to protect striped data from drive failure by performing a mathematical operation on individual strips and storing the result on a portion of the RAID group.</a:t>
            </a:r>
            <a:endParaRPr/>
          </a:p>
        </p:txBody>
      </p:sp>
      <p:sp>
        <p:nvSpPr>
          <p:cNvPr id="374" name="Google Shape;374;p21"/>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Parity</a:t>
            </a:r>
            <a:endParaRPr/>
          </a:p>
        </p:txBody>
      </p:sp>
      <p:pic>
        <p:nvPicPr>
          <p:cNvPr id="375" name="Google Shape;375;p21"/>
          <p:cNvPicPr preferRelativeResize="0"/>
          <p:nvPr/>
        </p:nvPicPr>
        <p:blipFill rotWithShape="1">
          <a:blip r:embed="rId3">
            <a:alphaModFix/>
          </a:blip>
          <a:srcRect b="0" l="0" r="0" t="0"/>
          <a:stretch/>
        </p:blipFill>
        <p:spPr>
          <a:xfrm>
            <a:off x="2514576" y="2308226"/>
            <a:ext cx="4114849" cy="243546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2"/>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Common RAID Levels</a:t>
            </a:r>
            <a:endParaRPr/>
          </a:p>
        </p:txBody>
      </p:sp>
      <p:sp>
        <p:nvSpPr>
          <p:cNvPr id="382" name="Google Shape;382;p22"/>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pSp>
        <p:nvGrpSpPr>
          <p:cNvPr id="383" name="Google Shape;383;p22"/>
          <p:cNvGrpSpPr/>
          <p:nvPr/>
        </p:nvGrpSpPr>
        <p:grpSpPr>
          <a:xfrm>
            <a:off x="379413" y="991541"/>
            <a:ext cx="8458199" cy="3427116"/>
            <a:chOff x="0" y="941"/>
            <a:chExt cx="8458199" cy="3427116"/>
          </a:xfrm>
        </p:grpSpPr>
        <p:sp>
          <p:nvSpPr>
            <p:cNvPr id="384" name="Google Shape;384;p22"/>
            <p:cNvSpPr/>
            <p:nvPr/>
          </p:nvSpPr>
          <p:spPr>
            <a:xfrm rot="5400000">
              <a:off x="5532240" y="-2431512"/>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
            <p:cNvSpPr txBox="1"/>
            <p:nvPr/>
          </p:nvSpPr>
          <p:spPr>
            <a:xfrm>
              <a:off x="3044951" y="77191"/>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Striped set with no fault tolerance</a:t>
              </a:r>
              <a:endParaRPr/>
            </a:p>
          </p:txBody>
        </p:sp>
        <p:sp>
          <p:nvSpPr>
            <p:cNvPr id="386" name="Google Shape;386;p22"/>
            <p:cNvSpPr/>
            <p:nvPr/>
          </p:nvSpPr>
          <p:spPr>
            <a:xfrm>
              <a:off x="0" y="941"/>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txBox="1"/>
            <p:nvPr/>
          </p:nvSpPr>
          <p:spPr>
            <a:xfrm>
              <a:off x="26768" y="27709"/>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lang="en-US" sz="1500">
                  <a:solidFill>
                    <a:schemeClr val="lt1"/>
                  </a:solidFill>
                  <a:latin typeface="Verdana"/>
                  <a:ea typeface="Verdana"/>
                  <a:cs typeface="Verdana"/>
                  <a:sym typeface="Verdana"/>
                </a:rPr>
                <a:t>RAID 0</a:t>
              </a:r>
              <a:endParaRPr/>
            </a:p>
          </p:txBody>
        </p:sp>
        <p:sp>
          <p:nvSpPr>
            <p:cNvPr id="388" name="Google Shape;388;p22"/>
            <p:cNvSpPr/>
            <p:nvPr/>
          </p:nvSpPr>
          <p:spPr>
            <a:xfrm rot="5400000">
              <a:off x="5532240" y="-1855757"/>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2"/>
            <p:cNvSpPr txBox="1"/>
            <p:nvPr/>
          </p:nvSpPr>
          <p:spPr>
            <a:xfrm>
              <a:off x="3044951" y="652946"/>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Disk mirroring</a:t>
              </a:r>
              <a:endParaRPr/>
            </a:p>
          </p:txBody>
        </p:sp>
        <p:sp>
          <p:nvSpPr>
            <p:cNvPr id="390" name="Google Shape;390;p22"/>
            <p:cNvSpPr/>
            <p:nvPr/>
          </p:nvSpPr>
          <p:spPr>
            <a:xfrm>
              <a:off x="0" y="576697"/>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2"/>
            <p:cNvSpPr txBox="1"/>
            <p:nvPr/>
          </p:nvSpPr>
          <p:spPr>
            <a:xfrm>
              <a:off x="26768" y="603465"/>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lang="en-US" sz="1500">
                  <a:solidFill>
                    <a:schemeClr val="lt1"/>
                  </a:solidFill>
                  <a:latin typeface="Verdana"/>
                  <a:ea typeface="Verdana"/>
                  <a:cs typeface="Verdana"/>
                  <a:sym typeface="Verdana"/>
                </a:rPr>
                <a:t>RAID 1 </a:t>
              </a:r>
              <a:endParaRPr/>
            </a:p>
          </p:txBody>
        </p:sp>
        <p:sp>
          <p:nvSpPr>
            <p:cNvPr id="392" name="Google Shape;392;p22"/>
            <p:cNvSpPr/>
            <p:nvPr/>
          </p:nvSpPr>
          <p:spPr>
            <a:xfrm rot="5400000">
              <a:off x="5532240" y="-1280001"/>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2"/>
            <p:cNvSpPr txBox="1"/>
            <p:nvPr/>
          </p:nvSpPr>
          <p:spPr>
            <a:xfrm>
              <a:off x="3044951" y="1228702"/>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Nested RAID (striping and mirroring)</a:t>
              </a:r>
              <a:endParaRPr/>
            </a:p>
          </p:txBody>
        </p:sp>
        <p:sp>
          <p:nvSpPr>
            <p:cNvPr id="394" name="Google Shape;394;p22"/>
            <p:cNvSpPr/>
            <p:nvPr/>
          </p:nvSpPr>
          <p:spPr>
            <a:xfrm>
              <a:off x="0" y="1152452"/>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2"/>
            <p:cNvSpPr txBox="1"/>
            <p:nvPr/>
          </p:nvSpPr>
          <p:spPr>
            <a:xfrm>
              <a:off x="26768" y="1179220"/>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lang="en-US" sz="1500">
                  <a:solidFill>
                    <a:schemeClr val="lt1"/>
                  </a:solidFill>
                  <a:latin typeface="Verdana"/>
                  <a:ea typeface="Verdana"/>
                  <a:cs typeface="Verdana"/>
                  <a:sym typeface="Verdana"/>
                </a:rPr>
                <a:t>RAID 1+0 </a:t>
              </a:r>
              <a:endParaRPr/>
            </a:p>
          </p:txBody>
        </p:sp>
        <p:sp>
          <p:nvSpPr>
            <p:cNvPr id="396" name="Google Shape;396;p22"/>
            <p:cNvSpPr/>
            <p:nvPr/>
          </p:nvSpPr>
          <p:spPr>
            <a:xfrm rot="5400000">
              <a:off x="5532240" y="-704246"/>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2"/>
            <p:cNvSpPr txBox="1"/>
            <p:nvPr/>
          </p:nvSpPr>
          <p:spPr>
            <a:xfrm>
              <a:off x="3044951" y="1804457"/>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Striped set with parallel access and a dedicated parity disk</a:t>
              </a:r>
              <a:endParaRPr/>
            </a:p>
          </p:txBody>
        </p:sp>
        <p:sp>
          <p:nvSpPr>
            <p:cNvPr id="398" name="Google Shape;398;p22"/>
            <p:cNvSpPr/>
            <p:nvPr/>
          </p:nvSpPr>
          <p:spPr>
            <a:xfrm>
              <a:off x="0" y="1728208"/>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2"/>
            <p:cNvSpPr txBox="1"/>
            <p:nvPr/>
          </p:nvSpPr>
          <p:spPr>
            <a:xfrm>
              <a:off x="26768" y="1754976"/>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lang="en-US" sz="1500">
                  <a:solidFill>
                    <a:schemeClr val="lt1"/>
                  </a:solidFill>
                  <a:latin typeface="Verdana"/>
                  <a:ea typeface="Verdana"/>
                  <a:cs typeface="Verdana"/>
                  <a:sym typeface="Verdana"/>
                </a:rPr>
                <a:t>RAID 3 </a:t>
              </a:r>
              <a:endParaRPr/>
            </a:p>
          </p:txBody>
        </p:sp>
        <p:sp>
          <p:nvSpPr>
            <p:cNvPr id="400" name="Google Shape;400;p22"/>
            <p:cNvSpPr/>
            <p:nvPr/>
          </p:nvSpPr>
          <p:spPr>
            <a:xfrm rot="5400000">
              <a:off x="5532240" y="-128490"/>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2"/>
            <p:cNvSpPr txBox="1"/>
            <p:nvPr/>
          </p:nvSpPr>
          <p:spPr>
            <a:xfrm>
              <a:off x="3044951" y="2380213"/>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Striped set with independent disk access and distributed parity</a:t>
              </a:r>
              <a:endParaRPr/>
            </a:p>
          </p:txBody>
        </p:sp>
        <p:sp>
          <p:nvSpPr>
            <p:cNvPr id="402" name="Google Shape;402;p22"/>
            <p:cNvSpPr/>
            <p:nvPr/>
          </p:nvSpPr>
          <p:spPr>
            <a:xfrm>
              <a:off x="0" y="2303964"/>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2"/>
            <p:cNvSpPr txBox="1"/>
            <p:nvPr/>
          </p:nvSpPr>
          <p:spPr>
            <a:xfrm>
              <a:off x="26768" y="2330732"/>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lang="en-US" sz="1500">
                  <a:solidFill>
                    <a:schemeClr val="lt1"/>
                  </a:solidFill>
                  <a:latin typeface="Verdana"/>
                  <a:ea typeface="Verdana"/>
                  <a:cs typeface="Verdana"/>
                  <a:sym typeface="Verdana"/>
                </a:rPr>
                <a:t>RAID 5 </a:t>
              </a:r>
              <a:endParaRPr/>
            </a:p>
          </p:txBody>
        </p:sp>
        <p:sp>
          <p:nvSpPr>
            <p:cNvPr id="404" name="Google Shape;404;p22"/>
            <p:cNvSpPr/>
            <p:nvPr/>
          </p:nvSpPr>
          <p:spPr>
            <a:xfrm rot="5400000">
              <a:off x="5532240" y="447264"/>
              <a:ext cx="438670"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2"/>
            <p:cNvSpPr txBox="1"/>
            <p:nvPr/>
          </p:nvSpPr>
          <p:spPr>
            <a:xfrm>
              <a:off x="3044951" y="2955967"/>
              <a:ext cx="5391834" cy="395842"/>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Striped set with independent disk access and dual distributed parity</a:t>
              </a:r>
              <a:endParaRPr/>
            </a:p>
          </p:txBody>
        </p:sp>
        <p:sp>
          <p:nvSpPr>
            <p:cNvPr id="406" name="Google Shape;406;p22"/>
            <p:cNvSpPr/>
            <p:nvPr/>
          </p:nvSpPr>
          <p:spPr>
            <a:xfrm>
              <a:off x="0" y="2879719"/>
              <a:ext cx="3044952" cy="54833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2"/>
            <p:cNvSpPr txBox="1"/>
            <p:nvPr/>
          </p:nvSpPr>
          <p:spPr>
            <a:xfrm>
              <a:off x="26768" y="2906487"/>
              <a:ext cx="2991416" cy="494802"/>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lang="en-US" sz="1500">
                  <a:solidFill>
                    <a:schemeClr val="lt1"/>
                  </a:solidFill>
                  <a:latin typeface="Verdana"/>
                  <a:ea typeface="Verdana"/>
                  <a:cs typeface="Verdana"/>
                  <a:sym typeface="Verdana"/>
                </a:rPr>
                <a:t>RAID 6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3"/>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Data Access Methods</a:t>
            </a:r>
            <a:endParaRPr/>
          </a:p>
        </p:txBody>
      </p:sp>
      <p:sp>
        <p:nvSpPr>
          <p:cNvPr id="414" name="Google Shape;414;p23"/>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415" name="Google Shape;415;p23"/>
          <p:cNvPicPr preferRelativeResize="0"/>
          <p:nvPr/>
        </p:nvPicPr>
        <p:blipFill rotWithShape="1">
          <a:blip r:embed="rId3">
            <a:alphaModFix/>
          </a:blip>
          <a:srcRect b="0" l="0" r="0" t="0"/>
          <a:stretch/>
        </p:blipFill>
        <p:spPr>
          <a:xfrm>
            <a:off x="1122026" y="681750"/>
            <a:ext cx="6899949" cy="3780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4"/>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Storage System Architecture</a:t>
            </a:r>
            <a:endParaRPr/>
          </a:p>
        </p:txBody>
      </p:sp>
      <p:sp>
        <p:nvSpPr>
          <p:cNvPr id="422" name="Google Shape;422;p24"/>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Storage system architectures are based on the data access methods</a:t>
            </a:r>
            <a:endParaRPr/>
          </a:p>
          <a:p>
            <a:pPr indent="-228600" lvl="0" marL="228600" rtl="0" algn="l">
              <a:spcBef>
                <a:spcPts val="1200"/>
              </a:spcBef>
              <a:spcAft>
                <a:spcPts val="0"/>
              </a:spcAft>
              <a:buClr>
                <a:schemeClr val="dk2"/>
              </a:buClr>
              <a:buSzPts val="2000"/>
              <a:buChar char="•"/>
            </a:pPr>
            <a:r>
              <a:rPr lang="en-US"/>
              <a:t>Common storage system options are:</a:t>
            </a:r>
            <a:endParaRPr/>
          </a:p>
          <a:p>
            <a:pPr indent="-285750" lvl="1" marL="742950" rtl="0" algn="l">
              <a:spcBef>
                <a:spcPts val="300"/>
              </a:spcBef>
              <a:spcAft>
                <a:spcPts val="0"/>
              </a:spcAft>
              <a:buSzPts val="1800"/>
              <a:buChar char="–"/>
            </a:pPr>
            <a:r>
              <a:rPr lang="en-US"/>
              <a:t>Block-based</a:t>
            </a:r>
            <a:endParaRPr/>
          </a:p>
          <a:p>
            <a:pPr indent="-285750" lvl="1" marL="742950" rtl="0" algn="l">
              <a:spcBef>
                <a:spcPts val="300"/>
              </a:spcBef>
              <a:spcAft>
                <a:spcPts val="0"/>
              </a:spcAft>
              <a:buSzPts val="1800"/>
              <a:buChar char="–"/>
            </a:pPr>
            <a:r>
              <a:rPr lang="en-US"/>
              <a:t>File-based</a:t>
            </a:r>
            <a:endParaRPr/>
          </a:p>
          <a:p>
            <a:pPr indent="-285750" lvl="1" marL="742950" rtl="0" algn="l">
              <a:spcBef>
                <a:spcPts val="300"/>
              </a:spcBef>
              <a:spcAft>
                <a:spcPts val="0"/>
              </a:spcAft>
              <a:buSzPts val="1800"/>
              <a:buChar char="–"/>
            </a:pPr>
            <a:r>
              <a:rPr lang="en-US"/>
              <a:t>Object-based</a:t>
            </a:r>
            <a:endParaRPr/>
          </a:p>
          <a:p>
            <a:pPr indent="-285750" lvl="1" marL="742950" rtl="0" algn="l">
              <a:spcBef>
                <a:spcPts val="300"/>
              </a:spcBef>
              <a:spcAft>
                <a:spcPts val="0"/>
              </a:spcAft>
              <a:buSzPts val="1800"/>
              <a:buChar char="–"/>
            </a:pPr>
            <a:r>
              <a:rPr lang="en-US"/>
              <a:t>Unified</a:t>
            </a:r>
            <a:endParaRPr/>
          </a:p>
        </p:txBody>
      </p:sp>
      <p:sp>
        <p:nvSpPr>
          <p:cNvPr id="423" name="Google Shape;423;p24"/>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5"/>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Block-based Storage System</a:t>
            </a:r>
            <a:endParaRPr/>
          </a:p>
        </p:txBody>
      </p:sp>
      <p:sp>
        <p:nvSpPr>
          <p:cNvPr id="430" name="Google Shape;430;p25"/>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Enables creating and assigning storage volumes to compute systems</a:t>
            </a:r>
            <a:endParaRPr>
              <a:solidFill>
                <a:srgbClr val="FFC000"/>
              </a:solidFill>
            </a:endParaRPr>
          </a:p>
          <a:p>
            <a:pPr indent="-285750" lvl="1" marL="742950" rtl="0" algn="l">
              <a:spcBef>
                <a:spcPts val="300"/>
              </a:spcBef>
              <a:spcAft>
                <a:spcPts val="0"/>
              </a:spcAft>
              <a:buSzPts val="1800"/>
              <a:buChar char="–"/>
            </a:pPr>
            <a:r>
              <a:rPr lang="en-US"/>
              <a:t>Compute system discovers the volumes as local drives</a:t>
            </a:r>
            <a:endParaRPr/>
          </a:p>
          <a:p>
            <a:pPr indent="-285750" lvl="1" marL="742950" rtl="0" algn="l">
              <a:spcBef>
                <a:spcPts val="300"/>
              </a:spcBef>
              <a:spcAft>
                <a:spcPts val="0"/>
              </a:spcAft>
              <a:buSzPts val="1800"/>
              <a:buChar char="–"/>
            </a:pPr>
            <a:r>
              <a:rPr lang="en-US"/>
              <a:t>Required file system can be created on the volumes</a:t>
            </a:r>
            <a:endParaRPr/>
          </a:p>
        </p:txBody>
      </p:sp>
      <p:sp>
        <p:nvSpPr>
          <p:cNvPr id="431" name="Google Shape;431;p25"/>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432" name="Google Shape;432;p25"/>
          <p:cNvPicPr preferRelativeResize="0"/>
          <p:nvPr/>
        </p:nvPicPr>
        <p:blipFill rotWithShape="1">
          <a:blip r:embed="rId3">
            <a:alphaModFix/>
          </a:blip>
          <a:srcRect b="0" l="0" r="0" t="0"/>
          <a:stretch/>
        </p:blipFill>
        <p:spPr>
          <a:xfrm>
            <a:off x="1179235" y="2365314"/>
            <a:ext cx="6785531" cy="229648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7" name="Shape 437"/>
        <p:cNvGrpSpPr/>
        <p:nvPr/>
      </p:nvGrpSpPr>
      <p:grpSpPr>
        <a:xfrm>
          <a:off x="0" y="0"/>
          <a:ext cx="0" cy="0"/>
          <a:chOff x="0" y="0"/>
          <a:chExt cx="0" cy="0"/>
        </a:xfrm>
      </p:grpSpPr>
      <p:sp>
        <p:nvSpPr>
          <p:cNvPr id="438" name="Google Shape;438;p26"/>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Block-based Storage System</a:t>
            </a:r>
            <a:endParaRPr/>
          </a:p>
        </p:txBody>
      </p:sp>
      <p:sp>
        <p:nvSpPr>
          <p:cNvPr id="439" name="Google Shape;439;p26"/>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Enables creating and assigning storage volumes to compute systems</a:t>
            </a:r>
            <a:endParaRPr/>
          </a:p>
          <a:p>
            <a:pPr indent="-285750" lvl="1" marL="742950" rtl="0" algn="l">
              <a:spcBef>
                <a:spcPts val="300"/>
              </a:spcBef>
              <a:spcAft>
                <a:spcPts val="0"/>
              </a:spcAft>
              <a:buSzPts val="1800"/>
              <a:buChar char="–"/>
            </a:pPr>
            <a:r>
              <a:rPr lang="en-US"/>
              <a:t>Compute system discovers the volumes as local drives</a:t>
            </a:r>
            <a:endParaRPr/>
          </a:p>
          <a:p>
            <a:pPr indent="-285750" lvl="1" marL="742950" rtl="0" algn="l">
              <a:spcBef>
                <a:spcPts val="300"/>
              </a:spcBef>
              <a:spcAft>
                <a:spcPts val="0"/>
              </a:spcAft>
              <a:buSzPts val="1800"/>
              <a:buChar char="–"/>
            </a:pPr>
            <a:r>
              <a:rPr lang="en-US"/>
              <a:t>Required file system can be created on the volumes</a:t>
            </a:r>
            <a:endParaRPr/>
          </a:p>
        </p:txBody>
      </p:sp>
      <p:sp>
        <p:nvSpPr>
          <p:cNvPr id="440" name="Google Shape;440;p26"/>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441" name="Google Shape;441;p26"/>
          <p:cNvPicPr preferRelativeResize="0"/>
          <p:nvPr/>
        </p:nvPicPr>
        <p:blipFill rotWithShape="1">
          <a:blip r:embed="rId3">
            <a:alphaModFix/>
          </a:blip>
          <a:srcRect b="0" l="0" r="0" t="0"/>
          <a:stretch/>
        </p:blipFill>
        <p:spPr>
          <a:xfrm>
            <a:off x="1179235" y="2365314"/>
            <a:ext cx="6785531" cy="22964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7"/>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File-based Storage System</a:t>
            </a:r>
            <a:endParaRPr/>
          </a:p>
        </p:txBody>
      </p:sp>
      <p:sp>
        <p:nvSpPr>
          <p:cNvPr id="448" name="Google Shape;448;p27"/>
          <p:cNvSpPr txBox="1"/>
          <p:nvPr>
            <p:ph idx="1" type="body"/>
          </p:nvPr>
        </p:nvSpPr>
        <p:spPr>
          <a:xfrm>
            <a:off x="379413" y="990600"/>
            <a:ext cx="4120579"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A dedicated, high performance file server with storage (also known as Network-attached Storage)</a:t>
            </a:r>
            <a:endParaRPr/>
          </a:p>
          <a:p>
            <a:pPr indent="-228600" lvl="0" marL="228600" rtl="0" algn="l">
              <a:spcBef>
                <a:spcPts val="1200"/>
              </a:spcBef>
              <a:spcAft>
                <a:spcPts val="0"/>
              </a:spcAft>
              <a:buClr>
                <a:schemeClr val="dk2"/>
              </a:buClr>
              <a:buSzPts val="2000"/>
              <a:buChar char="•"/>
            </a:pPr>
            <a:r>
              <a:rPr lang="en-US"/>
              <a:t>Enables clients to share files over an IP network</a:t>
            </a:r>
            <a:endParaRPr/>
          </a:p>
          <a:p>
            <a:pPr indent="-285750" lvl="1" marL="742950" rtl="0" algn="l">
              <a:spcBef>
                <a:spcPts val="300"/>
              </a:spcBef>
              <a:spcAft>
                <a:spcPts val="0"/>
              </a:spcAft>
              <a:buSzPts val="1800"/>
              <a:buChar char="–"/>
            </a:pPr>
            <a:r>
              <a:rPr lang="en-US"/>
              <a:t>Supports data sharing for UNIX and Windows users</a:t>
            </a:r>
            <a:endParaRPr/>
          </a:p>
          <a:p>
            <a:pPr indent="-228600" lvl="0" marL="228600" rtl="0" algn="l">
              <a:spcBef>
                <a:spcPts val="1200"/>
              </a:spcBef>
              <a:spcAft>
                <a:spcPts val="0"/>
              </a:spcAft>
              <a:buClr>
                <a:schemeClr val="dk2"/>
              </a:buClr>
              <a:buSzPts val="2000"/>
              <a:buChar char="•"/>
            </a:pPr>
            <a:r>
              <a:rPr lang="en-US"/>
              <a:t>Uses a specialized OS that is optimized for file I/O</a:t>
            </a:r>
            <a:endParaRPr/>
          </a:p>
        </p:txBody>
      </p:sp>
      <p:sp>
        <p:nvSpPr>
          <p:cNvPr id="449" name="Google Shape;449;p27"/>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450" name="Google Shape;450;p27"/>
          <p:cNvPicPr preferRelativeResize="0"/>
          <p:nvPr/>
        </p:nvPicPr>
        <p:blipFill rotWithShape="1">
          <a:blip r:embed="rId3">
            <a:alphaModFix/>
          </a:blip>
          <a:srcRect b="0" l="0" r="0" t="0"/>
          <a:stretch/>
        </p:blipFill>
        <p:spPr>
          <a:xfrm>
            <a:off x="4427984" y="1622750"/>
            <a:ext cx="4680520" cy="2164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8"/>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NAS Deployment Options</a:t>
            </a:r>
            <a:endParaRPr/>
          </a:p>
        </p:txBody>
      </p:sp>
      <p:sp>
        <p:nvSpPr>
          <p:cNvPr id="457" name="Google Shape;457;p28"/>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The two common NAS deployment options are:</a:t>
            </a:r>
            <a:endParaRPr/>
          </a:p>
          <a:p>
            <a:pPr indent="-285750" lvl="1" marL="742950" rtl="0" algn="l">
              <a:spcBef>
                <a:spcPts val="300"/>
              </a:spcBef>
              <a:spcAft>
                <a:spcPts val="0"/>
              </a:spcAft>
              <a:buSzPts val="1800"/>
              <a:buChar char="–"/>
            </a:pPr>
            <a:r>
              <a:rPr lang="en-US"/>
              <a:t>Traditional NAS (scale-up NAS) </a:t>
            </a:r>
            <a:endParaRPr/>
          </a:p>
          <a:p>
            <a:pPr indent="-285750" lvl="1" marL="742950" rtl="0" algn="l">
              <a:spcBef>
                <a:spcPts val="300"/>
              </a:spcBef>
              <a:spcAft>
                <a:spcPts val="0"/>
              </a:spcAft>
              <a:buSzPts val="1800"/>
              <a:buChar char="–"/>
            </a:pPr>
            <a:r>
              <a:rPr lang="en-US"/>
              <a:t>Scale-out NAS</a:t>
            </a:r>
            <a:endParaRPr/>
          </a:p>
          <a:p>
            <a:pPr indent="-228600" lvl="0" marL="228600" rtl="0" algn="l">
              <a:spcBef>
                <a:spcPts val="1200"/>
              </a:spcBef>
              <a:spcAft>
                <a:spcPts val="0"/>
              </a:spcAft>
              <a:buClr>
                <a:schemeClr val="dk2"/>
              </a:buClr>
              <a:buSzPts val="2000"/>
              <a:buChar char="•"/>
            </a:pPr>
            <a:r>
              <a:rPr lang="en-US"/>
              <a:t>Traditional NAS</a:t>
            </a:r>
            <a:endParaRPr/>
          </a:p>
          <a:p>
            <a:pPr indent="-285750" lvl="1" marL="742950" rtl="0" algn="l">
              <a:spcBef>
                <a:spcPts val="300"/>
              </a:spcBef>
              <a:spcAft>
                <a:spcPts val="0"/>
              </a:spcAft>
              <a:buSzPts val="1800"/>
              <a:buChar char="–"/>
            </a:pPr>
            <a:r>
              <a:rPr lang="en-US"/>
              <a:t>Capacity and performance of a single system is scaled by upgrading or adding NAS components</a:t>
            </a:r>
            <a:endParaRPr/>
          </a:p>
          <a:p>
            <a:pPr indent="-228600" lvl="0" marL="228600" rtl="0" algn="l">
              <a:spcBef>
                <a:spcPts val="1200"/>
              </a:spcBef>
              <a:spcAft>
                <a:spcPts val="0"/>
              </a:spcAft>
              <a:buClr>
                <a:schemeClr val="dk2"/>
              </a:buClr>
              <a:buSzPts val="2000"/>
              <a:buChar char="•"/>
            </a:pPr>
            <a:r>
              <a:rPr lang="en-US"/>
              <a:t>Scale-out NAS</a:t>
            </a:r>
            <a:endParaRPr/>
          </a:p>
          <a:p>
            <a:pPr indent="-285750" lvl="1" marL="742950" rtl="0" algn="l">
              <a:spcBef>
                <a:spcPts val="300"/>
              </a:spcBef>
              <a:spcAft>
                <a:spcPts val="0"/>
              </a:spcAft>
              <a:buSzPts val="1800"/>
              <a:buChar char="–"/>
            </a:pPr>
            <a:r>
              <a:rPr lang="en-US"/>
              <a:t>Multiple processing and storage nodes are pooled in a cluster that works as a single NAS device</a:t>
            </a:r>
            <a:endParaRPr/>
          </a:p>
          <a:p>
            <a:pPr indent="-285750" lvl="1" marL="742950" rtl="0" algn="l">
              <a:spcBef>
                <a:spcPts val="300"/>
              </a:spcBef>
              <a:spcAft>
                <a:spcPts val="0"/>
              </a:spcAft>
              <a:buSzPts val="1800"/>
              <a:buChar char="–"/>
            </a:pPr>
            <a:r>
              <a:rPr lang="en-US"/>
              <a:t>Addition of nodes scales cluster capacity and performance without disruption</a:t>
            </a:r>
            <a:endParaRPr/>
          </a:p>
        </p:txBody>
      </p:sp>
      <p:sp>
        <p:nvSpPr>
          <p:cNvPr id="458" name="Google Shape;458;p28"/>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9"/>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Object-based Storage System</a:t>
            </a:r>
            <a:endParaRPr/>
          </a:p>
        </p:txBody>
      </p:sp>
      <p:sp>
        <p:nvSpPr>
          <p:cNvPr id="465" name="Google Shape;465;p29"/>
          <p:cNvSpPr txBox="1"/>
          <p:nvPr>
            <p:ph idx="1" type="body"/>
          </p:nvPr>
        </p:nvSpPr>
        <p:spPr>
          <a:xfrm>
            <a:off x="379412" y="990600"/>
            <a:ext cx="3760539"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Stores file data in the form of objects based on data contents and attributes</a:t>
            </a:r>
            <a:endParaRPr/>
          </a:p>
          <a:p>
            <a:pPr indent="-285750" lvl="1" marL="742950" rtl="0" algn="l">
              <a:spcBef>
                <a:spcPts val="300"/>
              </a:spcBef>
              <a:spcAft>
                <a:spcPts val="0"/>
              </a:spcAft>
              <a:buSzPts val="1800"/>
              <a:buChar char="–"/>
            </a:pPr>
            <a:r>
              <a:rPr lang="en-US"/>
              <a:t>Uses a flat, non-hierarchical address space</a:t>
            </a:r>
            <a:endParaRPr/>
          </a:p>
          <a:p>
            <a:pPr indent="-228600" lvl="0" marL="228600" rtl="0" algn="l">
              <a:spcBef>
                <a:spcPts val="1200"/>
              </a:spcBef>
              <a:spcAft>
                <a:spcPts val="0"/>
              </a:spcAft>
              <a:buClr>
                <a:schemeClr val="dk2"/>
              </a:buClr>
              <a:buSzPts val="2000"/>
              <a:buChar char="•"/>
            </a:pPr>
            <a:r>
              <a:rPr lang="en-US"/>
              <a:t>Object contains user data, related metadata, and user-defined attributes</a:t>
            </a:r>
            <a:endParaRPr/>
          </a:p>
          <a:p>
            <a:pPr indent="-285750" lvl="1" marL="742950" rtl="0" algn="l">
              <a:spcBef>
                <a:spcPts val="300"/>
              </a:spcBef>
              <a:spcAft>
                <a:spcPts val="0"/>
              </a:spcAft>
              <a:buSzPts val="1800"/>
              <a:buChar char="–"/>
            </a:pPr>
            <a:r>
              <a:rPr lang="en-US"/>
              <a:t>Objects are uniquely identified using object ID</a:t>
            </a:r>
            <a:endParaRPr/>
          </a:p>
        </p:txBody>
      </p:sp>
      <p:sp>
        <p:nvSpPr>
          <p:cNvPr id="466" name="Google Shape;466;p29"/>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467" name="Google Shape;467;p29"/>
          <p:cNvPicPr preferRelativeResize="0"/>
          <p:nvPr/>
        </p:nvPicPr>
        <p:blipFill rotWithShape="1">
          <a:blip r:embed="rId3">
            <a:alphaModFix/>
          </a:blip>
          <a:srcRect b="0" l="0" r="0" t="0"/>
          <a:stretch/>
        </p:blipFill>
        <p:spPr>
          <a:xfrm>
            <a:off x="4139952" y="1768997"/>
            <a:ext cx="4979924" cy="187220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0"/>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Object-based Storage System (Cont'd)</a:t>
            </a:r>
            <a:endParaRPr/>
          </a:p>
        </p:txBody>
      </p:sp>
      <p:sp>
        <p:nvSpPr>
          <p:cNvPr id="474" name="Google Shape;474;p30"/>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475" name="Google Shape;475;p30"/>
          <p:cNvPicPr preferRelativeResize="0"/>
          <p:nvPr/>
        </p:nvPicPr>
        <p:blipFill rotWithShape="1">
          <a:blip r:embed="rId3">
            <a:alphaModFix/>
          </a:blip>
          <a:srcRect b="0" l="0" r="0" t="0"/>
          <a:stretch/>
        </p:blipFill>
        <p:spPr>
          <a:xfrm>
            <a:off x="552919" y="1104750"/>
            <a:ext cx="8038162" cy="2934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1"/>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Unified Storage System</a:t>
            </a:r>
            <a:endParaRPr/>
          </a:p>
        </p:txBody>
      </p:sp>
      <p:sp>
        <p:nvSpPr>
          <p:cNvPr id="482" name="Google Shape;482;p31"/>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483" name="Google Shape;483;p31"/>
          <p:cNvPicPr preferRelativeResize="0"/>
          <p:nvPr/>
        </p:nvPicPr>
        <p:blipFill rotWithShape="1">
          <a:blip r:embed="rId3">
            <a:alphaModFix/>
          </a:blip>
          <a:srcRect b="0" l="0" r="0" t="0"/>
          <a:stretch/>
        </p:blipFill>
        <p:spPr>
          <a:xfrm>
            <a:off x="2283979" y="769730"/>
            <a:ext cx="4576043" cy="403426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2"/>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C95DD"/>
              </a:buClr>
              <a:buSzPts val="2800"/>
              <a:buFont typeface="Verdana"/>
              <a:buNone/>
            </a:pPr>
            <a:r>
              <a:rPr lang="en-US">
                <a:solidFill>
                  <a:srgbClr val="2C95DD"/>
                </a:solidFill>
              </a:rPr>
              <a:t>Lesson Summary</a:t>
            </a:r>
            <a:endParaRPr/>
          </a:p>
        </p:txBody>
      </p:sp>
      <p:sp>
        <p:nvSpPr>
          <p:cNvPr id="490" name="Google Shape;490;p32"/>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lang="en-US"/>
              <a:t>During this lesson the following topics were covered:</a:t>
            </a:r>
            <a:endParaRPr/>
          </a:p>
          <a:p>
            <a:pPr indent="-228600" lvl="0" marL="228600" rtl="0" algn="l">
              <a:spcBef>
                <a:spcPts val="1200"/>
              </a:spcBef>
              <a:spcAft>
                <a:spcPts val="0"/>
              </a:spcAft>
              <a:buClr>
                <a:schemeClr val="dk2"/>
              </a:buClr>
              <a:buSzPts val="2000"/>
              <a:buChar char="•"/>
            </a:pPr>
            <a:r>
              <a:rPr lang="en-US"/>
              <a:t>Types of persistent data storage devices</a:t>
            </a:r>
            <a:endParaRPr/>
          </a:p>
          <a:p>
            <a:pPr indent="-228600" lvl="0" marL="228600" rtl="0" algn="l">
              <a:spcBef>
                <a:spcPts val="1200"/>
              </a:spcBef>
              <a:spcAft>
                <a:spcPts val="0"/>
              </a:spcAft>
              <a:buClr>
                <a:schemeClr val="dk2"/>
              </a:buClr>
              <a:buSzPts val="2000"/>
              <a:buChar char="•"/>
            </a:pPr>
            <a:r>
              <a:rPr lang="en-US"/>
              <a:t>RAID and RAID techniques: striping, mirroring, and parity</a:t>
            </a:r>
            <a:endParaRPr/>
          </a:p>
          <a:p>
            <a:pPr indent="-228600" lvl="0" marL="228600" rtl="0" algn="l">
              <a:spcBef>
                <a:spcPts val="1200"/>
              </a:spcBef>
              <a:spcAft>
                <a:spcPts val="0"/>
              </a:spcAft>
              <a:buClr>
                <a:schemeClr val="dk2"/>
              </a:buClr>
              <a:buSzPts val="2000"/>
              <a:buChar char="•"/>
            </a:pPr>
            <a:r>
              <a:rPr lang="en-US"/>
              <a:t>Storage system architectures: block-based, file-based, object-based, and unified </a:t>
            </a:r>
            <a:endParaRPr/>
          </a:p>
        </p:txBody>
      </p:sp>
      <p:sp>
        <p:nvSpPr>
          <p:cNvPr id="491" name="Google Shape;491;p32"/>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3"/>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Lesson: Network</a:t>
            </a:r>
            <a:endParaRPr/>
          </a:p>
        </p:txBody>
      </p:sp>
      <p:sp>
        <p:nvSpPr>
          <p:cNvPr id="498" name="Google Shape;498;p33"/>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lang="en-US"/>
              <a:t>This lesson covers the following topics:</a:t>
            </a:r>
            <a:endParaRPr/>
          </a:p>
          <a:p>
            <a:pPr indent="-228600" lvl="0" marL="228600" rtl="0" algn="l">
              <a:spcBef>
                <a:spcPts val="1200"/>
              </a:spcBef>
              <a:spcAft>
                <a:spcPts val="0"/>
              </a:spcAft>
              <a:buSzPts val="2000"/>
              <a:buChar char="•"/>
            </a:pPr>
            <a:r>
              <a:rPr lang="en-US"/>
              <a:t>Types of network communication</a:t>
            </a:r>
            <a:endParaRPr/>
          </a:p>
          <a:p>
            <a:pPr indent="-228600" lvl="0" marL="228600" rtl="0" algn="l">
              <a:spcBef>
                <a:spcPts val="1200"/>
              </a:spcBef>
              <a:spcAft>
                <a:spcPts val="0"/>
              </a:spcAft>
              <a:buSzPts val="2000"/>
              <a:buChar char="•"/>
            </a:pPr>
            <a:r>
              <a:rPr lang="en-US"/>
              <a:t>Compute-to-compute communication</a:t>
            </a:r>
            <a:endParaRPr/>
          </a:p>
          <a:p>
            <a:pPr indent="-228600" lvl="0" marL="228600" rtl="0" algn="l">
              <a:spcBef>
                <a:spcPts val="1200"/>
              </a:spcBef>
              <a:spcAft>
                <a:spcPts val="0"/>
              </a:spcAft>
              <a:buSzPts val="2000"/>
              <a:buChar char="•"/>
            </a:pPr>
            <a:r>
              <a:rPr lang="en-US"/>
              <a:t>Compute-to-storage communication </a:t>
            </a:r>
            <a:endParaRPr/>
          </a:p>
          <a:p>
            <a:pPr indent="-228600" lvl="0" marL="228600" rtl="0" algn="l">
              <a:spcBef>
                <a:spcPts val="1200"/>
              </a:spcBef>
              <a:spcAft>
                <a:spcPts val="0"/>
              </a:spcAft>
              <a:buSzPts val="2000"/>
              <a:buChar char="•"/>
            </a:pPr>
            <a:r>
              <a:rPr lang="en-US"/>
              <a:t>Storage area network (SAN) classification</a:t>
            </a:r>
            <a:endParaRPr/>
          </a:p>
          <a:p>
            <a:pPr indent="-228600" lvl="0" marL="228600" rtl="0" algn="l">
              <a:spcBef>
                <a:spcPts val="1200"/>
              </a:spcBef>
              <a:spcAft>
                <a:spcPts val="0"/>
              </a:spcAft>
              <a:buSzPts val="2000"/>
              <a:buChar char="•"/>
            </a:pPr>
            <a:r>
              <a:rPr lang="en-US"/>
              <a:t>Inter-cloud communication</a:t>
            </a:r>
            <a:endParaRPr/>
          </a:p>
        </p:txBody>
      </p:sp>
      <p:sp>
        <p:nvSpPr>
          <p:cNvPr id="499" name="Google Shape;499;p33"/>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4"/>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Introduction to Networking</a:t>
            </a:r>
            <a:endParaRPr/>
          </a:p>
        </p:txBody>
      </p:sp>
      <p:sp>
        <p:nvSpPr>
          <p:cNvPr id="506" name="Google Shape;506;p34"/>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Networking enables data transfer and sharing of IT resources between nodes across geographic regions</a:t>
            </a:r>
            <a:endParaRPr/>
          </a:p>
          <a:p>
            <a:pPr indent="-228600" lvl="0" marL="228600" rtl="0" algn="l">
              <a:spcBef>
                <a:spcPts val="1200"/>
              </a:spcBef>
              <a:spcAft>
                <a:spcPts val="0"/>
              </a:spcAft>
              <a:buClr>
                <a:schemeClr val="dk2"/>
              </a:buClr>
              <a:buSzPts val="2000"/>
              <a:buChar char="•"/>
            </a:pPr>
            <a:r>
              <a:rPr lang="en-US"/>
              <a:t>Cloud consumers require a reliable and secure network to connect to a cloud and access cloud services</a:t>
            </a:r>
            <a:endParaRPr/>
          </a:p>
          <a:p>
            <a:pPr indent="-228600" lvl="0" marL="228600" rtl="0" algn="l">
              <a:spcBef>
                <a:spcPts val="1200"/>
              </a:spcBef>
              <a:spcAft>
                <a:spcPts val="0"/>
              </a:spcAft>
              <a:buClr>
                <a:schemeClr val="dk2"/>
              </a:buClr>
              <a:buSzPts val="2000"/>
              <a:buChar char="•"/>
            </a:pPr>
            <a:r>
              <a:rPr lang="en-US"/>
              <a:t>Network connectivity also enables resource aggregation and service mobility across cloud data centers</a:t>
            </a:r>
            <a:endParaRPr/>
          </a:p>
          <a:p>
            <a:pPr indent="-228600" lvl="0" marL="228600" rtl="0" algn="l">
              <a:spcBef>
                <a:spcPts val="1200"/>
              </a:spcBef>
              <a:spcAft>
                <a:spcPts val="0"/>
              </a:spcAft>
              <a:buClr>
                <a:schemeClr val="dk2"/>
              </a:buClr>
              <a:buSzPts val="2000"/>
              <a:buChar char="•"/>
            </a:pPr>
            <a:r>
              <a:rPr lang="en-US"/>
              <a:t>Multiple clouds may be inter-connected to enable workloads to be moved or distributed</a:t>
            </a:r>
            <a:endParaRPr/>
          </a:p>
          <a:p>
            <a:pPr indent="-285750" lvl="1" marL="742950" rtl="0" algn="l">
              <a:spcBef>
                <a:spcPts val="300"/>
              </a:spcBef>
              <a:spcAft>
                <a:spcPts val="0"/>
              </a:spcAft>
              <a:buSzPts val="1800"/>
              <a:buChar char="–"/>
            </a:pPr>
            <a:r>
              <a:rPr lang="en-US"/>
              <a:t>For example: cloud bursting in a hybrid cloud model</a:t>
            </a:r>
            <a:endParaRPr/>
          </a:p>
        </p:txBody>
      </p:sp>
      <p:sp>
        <p:nvSpPr>
          <p:cNvPr id="507" name="Google Shape;507;p34"/>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5"/>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Types of Network Communication</a:t>
            </a:r>
            <a:endParaRPr/>
          </a:p>
        </p:txBody>
      </p:sp>
      <p:sp>
        <p:nvSpPr>
          <p:cNvPr id="514" name="Google Shape;514;p35"/>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Based on the nodes connected by a network, the network communication is broadly categorized as:</a:t>
            </a:r>
            <a:endParaRPr/>
          </a:p>
          <a:p>
            <a:pPr indent="-285750" lvl="1" marL="742950" rtl="0" algn="l">
              <a:spcBef>
                <a:spcPts val="300"/>
              </a:spcBef>
              <a:spcAft>
                <a:spcPts val="0"/>
              </a:spcAft>
              <a:buSzPts val="1800"/>
              <a:buChar char="–"/>
            </a:pPr>
            <a:r>
              <a:rPr lang="en-US"/>
              <a:t>Compute-to-compute communication</a:t>
            </a:r>
            <a:endParaRPr/>
          </a:p>
          <a:p>
            <a:pPr indent="-285750" lvl="1" marL="742950" rtl="0" algn="l">
              <a:spcBef>
                <a:spcPts val="300"/>
              </a:spcBef>
              <a:spcAft>
                <a:spcPts val="0"/>
              </a:spcAft>
              <a:buSzPts val="1800"/>
              <a:buChar char="–"/>
            </a:pPr>
            <a:r>
              <a:rPr lang="en-US"/>
              <a:t>Compute-to-storage communication</a:t>
            </a:r>
            <a:endParaRPr/>
          </a:p>
          <a:p>
            <a:pPr indent="-285750" lvl="1" marL="742950" rtl="0" algn="l">
              <a:spcBef>
                <a:spcPts val="300"/>
              </a:spcBef>
              <a:spcAft>
                <a:spcPts val="0"/>
              </a:spcAft>
              <a:buSzPts val="1800"/>
              <a:buChar char="–"/>
            </a:pPr>
            <a:r>
              <a:rPr lang="en-US"/>
              <a:t>Inter-cloud communication</a:t>
            </a:r>
            <a:endParaRPr/>
          </a:p>
        </p:txBody>
      </p:sp>
      <p:sp>
        <p:nvSpPr>
          <p:cNvPr id="515" name="Google Shape;515;p35"/>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6"/>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Compute-to-compute Communication </a:t>
            </a:r>
            <a:endParaRPr/>
          </a:p>
        </p:txBody>
      </p:sp>
      <p:sp>
        <p:nvSpPr>
          <p:cNvPr id="522" name="Google Shape;522;p36"/>
          <p:cNvSpPr txBox="1"/>
          <p:nvPr>
            <p:ph idx="1" type="body"/>
          </p:nvPr>
        </p:nvSpPr>
        <p:spPr>
          <a:xfrm>
            <a:off x="379413" y="843558"/>
            <a:ext cx="5632747"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Interconnecting physical compute systems enables compute-to-compute communication</a:t>
            </a:r>
            <a:endParaRPr/>
          </a:p>
          <a:p>
            <a:pPr indent="-228600" lvl="0" marL="228600" rtl="0" algn="l">
              <a:spcBef>
                <a:spcPts val="1200"/>
              </a:spcBef>
              <a:spcAft>
                <a:spcPts val="0"/>
              </a:spcAft>
              <a:buClr>
                <a:schemeClr val="dk2"/>
              </a:buClr>
              <a:buSzPts val="2000"/>
              <a:buChar char="•"/>
            </a:pPr>
            <a:r>
              <a:rPr lang="en-US"/>
              <a:t>Compute-to-compute communication typically uses IP-based protocols</a:t>
            </a:r>
            <a:endParaRPr/>
          </a:p>
          <a:p>
            <a:pPr indent="-228600" lvl="0" marL="228600" rtl="0" algn="l">
              <a:spcBef>
                <a:spcPts val="1200"/>
              </a:spcBef>
              <a:spcAft>
                <a:spcPts val="0"/>
              </a:spcAft>
              <a:buClr>
                <a:schemeClr val="dk2"/>
              </a:buClr>
              <a:buSzPts val="2000"/>
              <a:buChar char="•"/>
            </a:pPr>
            <a:r>
              <a:rPr lang="en-US"/>
              <a:t>Compute systems connect to a network through physical network card(s)</a:t>
            </a:r>
            <a:endParaRPr/>
          </a:p>
          <a:p>
            <a:pPr indent="-228600" lvl="0" marL="228600" rtl="0" algn="l">
              <a:spcBef>
                <a:spcPts val="1200"/>
              </a:spcBef>
              <a:spcAft>
                <a:spcPts val="0"/>
              </a:spcAft>
              <a:buClr>
                <a:schemeClr val="dk2"/>
              </a:buClr>
              <a:buSzPts val="2000"/>
              <a:buChar char="•"/>
            </a:pPr>
            <a:r>
              <a:rPr lang="en-US"/>
              <a:t>Physical switches and routers are common interconnecting devices</a:t>
            </a:r>
            <a:endParaRPr/>
          </a:p>
        </p:txBody>
      </p:sp>
      <p:sp>
        <p:nvSpPr>
          <p:cNvPr id="523" name="Google Shape;523;p36"/>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524" name="Google Shape;524;p36"/>
          <p:cNvPicPr preferRelativeResize="0"/>
          <p:nvPr/>
        </p:nvPicPr>
        <p:blipFill rotWithShape="1">
          <a:blip r:embed="rId3">
            <a:alphaModFix/>
          </a:blip>
          <a:srcRect b="0" l="0" r="0" t="0"/>
          <a:stretch/>
        </p:blipFill>
        <p:spPr>
          <a:xfrm>
            <a:off x="6156176" y="843558"/>
            <a:ext cx="2725821" cy="362227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7"/>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Compute-to-storage Communication</a:t>
            </a:r>
            <a:endParaRPr/>
          </a:p>
        </p:txBody>
      </p:sp>
      <p:sp>
        <p:nvSpPr>
          <p:cNvPr id="531" name="Google Shape;531;p37"/>
          <p:cNvSpPr txBox="1"/>
          <p:nvPr>
            <p:ph idx="1" type="body"/>
          </p:nvPr>
        </p:nvSpPr>
        <p:spPr>
          <a:xfrm>
            <a:off x="379413" y="2211710"/>
            <a:ext cx="8458200" cy="220789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Based on the protocols they support, SANs can be classified as:</a:t>
            </a:r>
            <a:endParaRPr/>
          </a:p>
          <a:p>
            <a:pPr indent="-285750" lvl="1" marL="742950" rtl="0" algn="l">
              <a:spcBef>
                <a:spcPts val="300"/>
              </a:spcBef>
              <a:spcAft>
                <a:spcPts val="0"/>
              </a:spcAft>
              <a:buSzPts val="1800"/>
              <a:buChar char="–"/>
            </a:pPr>
            <a:r>
              <a:rPr lang="en-US"/>
              <a:t>Fibre Channel SAN (FC SAN)</a:t>
            </a:r>
            <a:endParaRPr/>
          </a:p>
          <a:p>
            <a:pPr indent="-285750" lvl="1" marL="742950" rtl="0" algn="l">
              <a:spcBef>
                <a:spcPts val="300"/>
              </a:spcBef>
              <a:spcAft>
                <a:spcPts val="0"/>
              </a:spcAft>
              <a:buSzPts val="1800"/>
              <a:buChar char="–"/>
            </a:pPr>
            <a:r>
              <a:rPr lang="en-US"/>
              <a:t>Internet Protocol SAN (IP SAN)</a:t>
            </a:r>
            <a:endParaRPr/>
          </a:p>
          <a:p>
            <a:pPr indent="-285750" lvl="1" marL="742950" rtl="0" algn="l">
              <a:spcBef>
                <a:spcPts val="300"/>
              </a:spcBef>
              <a:spcAft>
                <a:spcPts val="0"/>
              </a:spcAft>
              <a:buSzPts val="1800"/>
              <a:buChar char="–"/>
            </a:pPr>
            <a:r>
              <a:rPr lang="en-US"/>
              <a:t>Fibre Channel over Ethernet SAN (FCoE SAN)</a:t>
            </a:r>
            <a:endParaRPr/>
          </a:p>
        </p:txBody>
      </p:sp>
      <p:sp>
        <p:nvSpPr>
          <p:cNvPr id="532" name="Google Shape;532;p37"/>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533" name="Google Shape;533;p37"/>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34" name="Google Shape;534;p37"/>
          <p:cNvSpPr/>
          <p:nvPr/>
        </p:nvSpPr>
        <p:spPr>
          <a:xfrm>
            <a:off x="609600" y="1113130"/>
            <a:ext cx="8229600" cy="882556"/>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A network that interconnects storage systems with compute systems, enabling the compute systems to access and share the storage systems. </a:t>
            </a:r>
            <a:endParaRPr/>
          </a:p>
        </p:txBody>
      </p:sp>
      <p:sp>
        <p:nvSpPr>
          <p:cNvPr id="535" name="Google Shape;535;p37"/>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Storage Area Network (SAN)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8"/>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FC SAN</a:t>
            </a:r>
            <a:endParaRPr/>
          </a:p>
        </p:txBody>
      </p:sp>
      <p:sp>
        <p:nvSpPr>
          <p:cNvPr id="542" name="Google Shape;542;p38"/>
          <p:cNvSpPr txBox="1"/>
          <p:nvPr>
            <p:ph idx="1" type="body"/>
          </p:nvPr>
        </p:nvSpPr>
        <p:spPr>
          <a:xfrm>
            <a:off x="379413" y="2355726"/>
            <a:ext cx="6208811" cy="2063874"/>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FC provides block-level access to storage</a:t>
            </a:r>
            <a:endParaRPr/>
          </a:p>
          <a:p>
            <a:pPr indent="-228600" lvl="0" marL="228600" rtl="0" algn="l">
              <a:spcBef>
                <a:spcPts val="1200"/>
              </a:spcBef>
              <a:spcAft>
                <a:spcPts val="0"/>
              </a:spcAft>
              <a:buClr>
                <a:schemeClr val="dk2"/>
              </a:buClr>
              <a:buSzPts val="2000"/>
              <a:buChar char="•"/>
            </a:pPr>
            <a:r>
              <a:rPr lang="en-US"/>
              <a:t>FC offers data transfer speeds up to 16 Gbps</a:t>
            </a:r>
            <a:endParaRPr/>
          </a:p>
          <a:p>
            <a:pPr indent="-228600" lvl="0" marL="228600" rtl="0" algn="l">
              <a:spcBef>
                <a:spcPts val="1200"/>
              </a:spcBef>
              <a:spcAft>
                <a:spcPts val="0"/>
              </a:spcAft>
              <a:buClr>
                <a:schemeClr val="dk2"/>
              </a:buClr>
              <a:buSzPts val="2000"/>
              <a:buChar char="•"/>
            </a:pPr>
            <a:r>
              <a:rPr lang="en-US"/>
              <a:t>Theoretically, an FC SAN can connect approximately 15 million nodes</a:t>
            </a:r>
            <a:endParaRPr/>
          </a:p>
        </p:txBody>
      </p:sp>
      <p:sp>
        <p:nvSpPr>
          <p:cNvPr id="543" name="Google Shape;543;p38"/>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544" name="Google Shape;544;p38"/>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45" name="Google Shape;545;p38"/>
          <p:cNvSpPr/>
          <p:nvPr/>
        </p:nvSpPr>
        <p:spPr>
          <a:xfrm>
            <a:off x="609600" y="1113130"/>
            <a:ext cx="5834608" cy="1026572"/>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A SAN that uses Fibre Channel (FC) protocol to transport data, commands, and status information between compute and storage systems.</a:t>
            </a:r>
            <a:endParaRPr/>
          </a:p>
        </p:txBody>
      </p:sp>
      <p:sp>
        <p:nvSpPr>
          <p:cNvPr id="546" name="Google Shape;546;p38"/>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FC SAN</a:t>
            </a:r>
            <a:endParaRPr/>
          </a:p>
        </p:txBody>
      </p:sp>
      <p:pic>
        <p:nvPicPr>
          <p:cNvPr id="547" name="Google Shape;547;p38"/>
          <p:cNvPicPr preferRelativeResize="0"/>
          <p:nvPr/>
        </p:nvPicPr>
        <p:blipFill rotWithShape="1">
          <a:blip r:embed="rId3">
            <a:alphaModFix/>
          </a:blip>
          <a:srcRect b="0" l="0" r="0" t="0"/>
          <a:stretch/>
        </p:blipFill>
        <p:spPr>
          <a:xfrm>
            <a:off x="6695698" y="1146747"/>
            <a:ext cx="2076744" cy="329721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9"/>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FC SAN Components</a:t>
            </a:r>
            <a:endParaRPr/>
          </a:p>
        </p:txBody>
      </p:sp>
      <p:sp>
        <p:nvSpPr>
          <p:cNvPr id="554" name="Google Shape;554;p39"/>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pSp>
        <p:nvGrpSpPr>
          <p:cNvPr id="555" name="Google Shape;555;p39"/>
          <p:cNvGrpSpPr/>
          <p:nvPr/>
        </p:nvGrpSpPr>
        <p:grpSpPr>
          <a:xfrm>
            <a:off x="379413" y="992274"/>
            <a:ext cx="8458200" cy="3425650"/>
            <a:chOff x="0" y="1674"/>
            <a:chExt cx="8458200" cy="3425650"/>
          </a:xfrm>
        </p:grpSpPr>
        <p:sp>
          <p:nvSpPr>
            <p:cNvPr id="556" name="Google Shape;556;p39"/>
            <p:cNvSpPr/>
            <p:nvPr/>
          </p:nvSpPr>
          <p:spPr>
            <a:xfrm rot="5400000">
              <a:off x="5309556" y="-2152425"/>
              <a:ext cx="884039"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9"/>
            <p:cNvSpPr txBox="1"/>
            <p:nvPr/>
          </p:nvSpPr>
          <p:spPr>
            <a:xfrm>
              <a:off x="3044952" y="155334"/>
              <a:ext cx="5370093" cy="797729"/>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Provide physical interface to a node for communicating with other nodes</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Examples: FC HBAs and storage system front-end adapters</a:t>
              </a:r>
              <a:endParaRPr/>
            </a:p>
          </p:txBody>
        </p:sp>
        <p:sp>
          <p:nvSpPr>
            <p:cNvPr id="558" name="Google Shape;558;p39"/>
            <p:cNvSpPr/>
            <p:nvPr/>
          </p:nvSpPr>
          <p:spPr>
            <a:xfrm>
              <a:off x="0" y="1674"/>
              <a:ext cx="3044952" cy="110504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9"/>
            <p:cNvSpPr txBox="1"/>
            <p:nvPr/>
          </p:nvSpPr>
          <p:spPr>
            <a:xfrm>
              <a:off x="53944" y="55618"/>
              <a:ext cx="2937064" cy="997160"/>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lang="en-US" sz="1500">
                  <a:solidFill>
                    <a:schemeClr val="lt1"/>
                  </a:solidFill>
                  <a:latin typeface="Verdana"/>
                  <a:ea typeface="Verdana"/>
                  <a:cs typeface="Verdana"/>
                  <a:sym typeface="Verdana"/>
                </a:rPr>
                <a:t>Network adapters</a:t>
              </a:r>
              <a:endParaRPr/>
            </a:p>
          </p:txBody>
        </p:sp>
        <p:sp>
          <p:nvSpPr>
            <p:cNvPr id="560" name="Google Shape;560;p39"/>
            <p:cNvSpPr/>
            <p:nvPr/>
          </p:nvSpPr>
          <p:spPr>
            <a:xfrm rot="5400000">
              <a:off x="5309556" y="-992124"/>
              <a:ext cx="884039"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9"/>
            <p:cNvSpPr txBox="1"/>
            <p:nvPr/>
          </p:nvSpPr>
          <p:spPr>
            <a:xfrm>
              <a:off x="3044952" y="1315635"/>
              <a:ext cx="5370093" cy="797729"/>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Optical fiber cables are predominantly used to provide connectivity</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Connectors enable cables to be swiftly connected to and disconnected from ports</a:t>
              </a:r>
              <a:endParaRPr/>
            </a:p>
          </p:txBody>
        </p:sp>
        <p:sp>
          <p:nvSpPr>
            <p:cNvPr id="562" name="Google Shape;562;p39"/>
            <p:cNvSpPr/>
            <p:nvPr/>
          </p:nvSpPr>
          <p:spPr>
            <a:xfrm>
              <a:off x="0" y="1161975"/>
              <a:ext cx="3044952" cy="110504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9"/>
            <p:cNvSpPr txBox="1"/>
            <p:nvPr/>
          </p:nvSpPr>
          <p:spPr>
            <a:xfrm>
              <a:off x="53944" y="1215919"/>
              <a:ext cx="2937064" cy="997160"/>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lang="en-US" sz="1500">
                  <a:solidFill>
                    <a:schemeClr val="lt1"/>
                  </a:solidFill>
                  <a:latin typeface="Verdana"/>
                  <a:ea typeface="Verdana"/>
                  <a:cs typeface="Verdana"/>
                  <a:sym typeface="Verdana"/>
                </a:rPr>
                <a:t>Cables and connectors</a:t>
              </a:r>
              <a:endParaRPr/>
            </a:p>
          </p:txBody>
        </p:sp>
        <p:sp>
          <p:nvSpPr>
            <p:cNvPr id="564" name="Google Shape;564;p39"/>
            <p:cNvSpPr/>
            <p:nvPr/>
          </p:nvSpPr>
          <p:spPr>
            <a:xfrm rot="5400000">
              <a:off x="5309556" y="168177"/>
              <a:ext cx="884039" cy="5413248"/>
            </a:xfrm>
            <a:prstGeom prst="round2SameRect">
              <a:avLst>
                <a:gd fmla="val 16667" name="adj1"/>
                <a:gd fmla="val 0" name="adj2"/>
              </a:avLst>
            </a:prstGeom>
            <a:solidFill>
              <a:srgbClr val="CBDCF2">
                <a:alpha val="89803"/>
              </a:srgbClr>
            </a:solidFill>
            <a:ln cap="flat" cmpd="sng" w="25400">
              <a:solidFill>
                <a:srgbClr val="CBDCF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9"/>
            <p:cNvSpPr txBox="1"/>
            <p:nvPr/>
          </p:nvSpPr>
          <p:spPr>
            <a:xfrm>
              <a:off x="3044952" y="2475937"/>
              <a:ext cx="5370093" cy="797729"/>
            </a:xfrm>
            <a:prstGeom prst="rect">
              <a:avLst/>
            </a:prstGeom>
            <a:noFill/>
            <a:ln>
              <a:noFill/>
            </a:ln>
          </p:spPr>
          <p:txBody>
            <a:bodyPr anchorCtr="0" anchor="ctr" bIns="54850" lIns="109725" spcFirstLastPara="1" rIns="109725" wrap="square" tIns="54850">
              <a:noAutofit/>
            </a:bodyPr>
            <a:lstStyle/>
            <a:p>
              <a:pPr indent="-114300" lvl="1" marL="114300" marR="0" rtl="0" algn="l">
                <a:lnSpc>
                  <a:spcPct val="90000"/>
                </a:lnSpc>
                <a:spcBef>
                  <a:spcPts val="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FC switches and directors</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Directors have a modular design, a higher port count, and better fault-tolerance</a:t>
              </a:r>
              <a:endParaRPr/>
            </a:p>
            <a:p>
              <a:pPr indent="-114300" lvl="1" marL="114300" marR="0" rtl="0" algn="l">
                <a:lnSpc>
                  <a:spcPct val="90000"/>
                </a:lnSpc>
                <a:spcBef>
                  <a:spcPts val="180"/>
                </a:spcBef>
                <a:spcAft>
                  <a:spcPts val="0"/>
                </a:spcAft>
                <a:buClr>
                  <a:schemeClr val="dk1"/>
                </a:buClr>
                <a:buSzPts val="1200"/>
                <a:buFont typeface="Verdana"/>
                <a:buChar char="•"/>
              </a:pPr>
              <a:r>
                <a:rPr b="0" i="0" lang="en-US" sz="1200" u="none" cap="none" strike="noStrike">
                  <a:solidFill>
                    <a:schemeClr val="dk1"/>
                  </a:solidFill>
                  <a:latin typeface="Verdana"/>
                  <a:ea typeface="Verdana"/>
                  <a:cs typeface="Verdana"/>
                  <a:sym typeface="Verdana"/>
                </a:rPr>
                <a:t>Switches either have a fixed port count or a modular design</a:t>
              </a:r>
              <a:endParaRPr/>
            </a:p>
          </p:txBody>
        </p:sp>
        <p:sp>
          <p:nvSpPr>
            <p:cNvPr id="566" name="Google Shape;566;p39"/>
            <p:cNvSpPr/>
            <p:nvPr/>
          </p:nvSpPr>
          <p:spPr>
            <a:xfrm>
              <a:off x="0" y="2322276"/>
              <a:ext cx="3044952" cy="1105048"/>
            </a:xfrm>
            <a:prstGeom prst="roundRect">
              <a:avLst>
                <a:gd fmla="val 16667" name="adj"/>
              </a:avLst>
            </a:prstGeom>
            <a:solidFill>
              <a:srgbClr val="2C95D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9"/>
            <p:cNvSpPr txBox="1"/>
            <p:nvPr/>
          </p:nvSpPr>
          <p:spPr>
            <a:xfrm>
              <a:off x="53944" y="2376220"/>
              <a:ext cx="2937064" cy="997160"/>
            </a:xfrm>
            <a:prstGeom prst="rect">
              <a:avLst/>
            </a:prstGeom>
            <a:noFill/>
            <a:ln>
              <a:noFill/>
            </a:ln>
          </p:spPr>
          <p:txBody>
            <a:bodyPr anchorCtr="0" anchor="ctr" bIns="28575" lIns="57150" spcFirstLastPara="1" rIns="57150" wrap="square" tIns="28575">
              <a:noAutofit/>
            </a:bodyPr>
            <a:lstStyle/>
            <a:p>
              <a:pPr indent="0" lvl="0" marL="0" marR="0" rtl="0" algn="ctr">
                <a:lnSpc>
                  <a:spcPct val="90000"/>
                </a:lnSpc>
                <a:spcBef>
                  <a:spcPts val="0"/>
                </a:spcBef>
                <a:spcAft>
                  <a:spcPts val="0"/>
                </a:spcAft>
                <a:buClr>
                  <a:schemeClr val="lt1"/>
                </a:buClr>
                <a:buSzPts val="1500"/>
                <a:buFont typeface="Verdana"/>
                <a:buNone/>
              </a:pPr>
              <a:r>
                <a:rPr lang="en-US" sz="1500">
                  <a:solidFill>
                    <a:schemeClr val="lt1"/>
                  </a:solidFill>
                  <a:latin typeface="Verdana"/>
                  <a:ea typeface="Verdana"/>
                  <a:cs typeface="Verdana"/>
                  <a:sym typeface="Verdana"/>
                </a:rPr>
                <a:t>Interconnecting devices</a:t>
              </a: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0"/>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Fabric Connect and Addressing</a:t>
            </a:r>
            <a:endParaRPr/>
          </a:p>
        </p:txBody>
      </p:sp>
      <p:sp>
        <p:nvSpPr>
          <p:cNvPr id="574" name="Google Shape;574;p40"/>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A fabric created with FC switches connects all nodes and enables them to communicate</a:t>
            </a:r>
            <a:endParaRPr/>
          </a:p>
          <a:p>
            <a:pPr indent="-228600" lvl="0" marL="228600" rtl="0" algn="l">
              <a:spcBef>
                <a:spcPts val="1200"/>
              </a:spcBef>
              <a:spcAft>
                <a:spcPts val="0"/>
              </a:spcAft>
              <a:buClr>
                <a:schemeClr val="dk2"/>
              </a:buClr>
              <a:buSzPts val="2000"/>
              <a:buChar char="•"/>
            </a:pPr>
            <a:r>
              <a:rPr lang="en-US"/>
              <a:t>Each switch in a fabric contains a unique domain identifier (ID)</a:t>
            </a:r>
            <a:endParaRPr/>
          </a:p>
          <a:p>
            <a:pPr indent="-228600" lvl="0" marL="228600" rtl="0" algn="l">
              <a:spcBef>
                <a:spcPts val="1200"/>
              </a:spcBef>
              <a:spcAft>
                <a:spcPts val="0"/>
              </a:spcAft>
              <a:buClr>
                <a:schemeClr val="dk2"/>
              </a:buClr>
              <a:buSzPts val="2000"/>
              <a:buChar char="•"/>
            </a:pPr>
            <a:r>
              <a:rPr lang="en-US"/>
              <a:t>Each network adapter is physically identified by a 64-bit World Wide Node Name (WWNN)</a:t>
            </a:r>
            <a:endParaRPr/>
          </a:p>
          <a:p>
            <a:pPr indent="-228600" lvl="0" marL="228600" rtl="0" algn="l">
              <a:spcBef>
                <a:spcPts val="1200"/>
              </a:spcBef>
              <a:spcAft>
                <a:spcPts val="0"/>
              </a:spcAft>
              <a:buClr>
                <a:schemeClr val="dk2"/>
              </a:buClr>
              <a:buSzPts val="2000"/>
              <a:buChar char="•"/>
            </a:pPr>
            <a:r>
              <a:rPr lang="en-US"/>
              <a:t>Each adapter port is physically identified by a 64-bit World Wide Port Name (WWPN) </a:t>
            </a:r>
            <a:endParaRPr/>
          </a:p>
          <a:p>
            <a:pPr indent="-228600" lvl="0" marL="228600" rtl="0" algn="l">
              <a:spcBef>
                <a:spcPts val="1200"/>
              </a:spcBef>
              <a:spcAft>
                <a:spcPts val="0"/>
              </a:spcAft>
              <a:buClr>
                <a:schemeClr val="dk2"/>
              </a:buClr>
              <a:buSzPts val="2000"/>
              <a:buChar char="•"/>
            </a:pPr>
            <a:r>
              <a:rPr lang="en-US"/>
              <a:t>Each adapter port in a fabric has a unique 24-bit FC address</a:t>
            </a:r>
            <a:endParaRPr/>
          </a:p>
          <a:p>
            <a:pPr indent="-285750" lvl="1" marL="742950" rtl="0" algn="l">
              <a:spcBef>
                <a:spcPts val="300"/>
              </a:spcBef>
              <a:spcAft>
                <a:spcPts val="0"/>
              </a:spcAft>
              <a:buSzPts val="1800"/>
              <a:buChar char="–"/>
            </a:pPr>
            <a:r>
              <a:rPr lang="en-US"/>
              <a:t>Fabric assigns FC addresses to adapter ports dynamically</a:t>
            </a:r>
            <a:endParaRPr/>
          </a:p>
        </p:txBody>
      </p:sp>
      <p:sp>
        <p:nvSpPr>
          <p:cNvPr id="575" name="Google Shape;575;p40"/>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1"/>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Fabric Port Types</a:t>
            </a:r>
            <a:endParaRPr/>
          </a:p>
        </p:txBody>
      </p:sp>
      <p:sp>
        <p:nvSpPr>
          <p:cNvPr id="582" name="Google Shape;582;p41"/>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583" name="Google Shape;583;p41"/>
          <p:cNvPicPr preferRelativeResize="0"/>
          <p:nvPr/>
        </p:nvPicPr>
        <p:blipFill rotWithShape="1">
          <a:blip r:embed="rId3">
            <a:alphaModFix/>
          </a:blip>
          <a:srcRect b="0" l="0" r="0" t="0"/>
          <a:stretch/>
        </p:blipFill>
        <p:spPr>
          <a:xfrm>
            <a:off x="1026473" y="843558"/>
            <a:ext cx="7049015" cy="3600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2"/>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Zoning</a:t>
            </a:r>
            <a:endParaRPr/>
          </a:p>
        </p:txBody>
      </p:sp>
      <p:sp>
        <p:nvSpPr>
          <p:cNvPr id="590" name="Google Shape;590;p42"/>
          <p:cNvSpPr txBox="1"/>
          <p:nvPr>
            <p:ph idx="1" type="body"/>
          </p:nvPr>
        </p:nvSpPr>
        <p:spPr>
          <a:xfrm>
            <a:off x="379413" y="2427734"/>
            <a:ext cx="8458200" cy="1991866"/>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Both node ports and switch ports can be zone members</a:t>
            </a:r>
            <a:endParaRPr/>
          </a:p>
          <a:p>
            <a:pPr indent="-228600" lvl="0" marL="228600" rtl="0" algn="l">
              <a:spcBef>
                <a:spcPts val="1200"/>
              </a:spcBef>
              <a:spcAft>
                <a:spcPts val="0"/>
              </a:spcAft>
              <a:buClr>
                <a:schemeClr val="dk2"/>
              </a:buClr>
              <a:buSzPts val="2000"/>
              <a:buChar char="•"/>
            </a:pPr>
            <a:r>
              <a:rPr lang="en-US"/>
              <a:t>Benefits:</a:t>
            </a:r>
            <a:endParaRPr/>
          </a:p>
          <a:p>
            <a:pPr indent="-285750" lvl="1" marL="742950" rtl="0" algn="l">
              <a:spcBef>
                <a:spcPts val="300"/>
              </a:spcBef>
              <a:spcAft>
                <a:spcPts val="0"/>
              </a:spcAft>
              <a:buSzPts val="1800"/>
              <a:buChar char="–"/>
            </a:pPr>
            <a:r>
              <a:rPr lang="en-US"/>
              <a:t>Provides access control</a:t>
            </a:r>
            <a:endParaRPr/>
          </a:p>
          <a:p>
            <a:pPr indent="-285750" lvl="1" marL="742950" rtl="0" algn="l">
              <a:spcBef>
                <a:spcPts val="300"/>
              </a:spcBef>
              <a:spcAft>
                <a:spcPts val="0"/>
              </a:spcAft>
              <a:buSzPts val="1800"/>
              <a:buChar char="–"/>
            </a:pPr>
            <a:r>
              <a:rPr lang="en-US"/>
              <a:t>Restricts RSCN traffic</a:t>
            </a:r>
            <a:endParaRPr/>
          </a:p>
        </p:txBody>
      </p:sp>
      <p:sp>
        <p:nvSpPr>
          <p:cNvPr id="591" name="Google Shape;591;p42"/>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592" name="Google Shape;592;p42"/>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593" name="Google Shape;593;p42"/>
          <p:cNvSpPr/>
          <p:nvPr/>
        </p:nvSpPr>
        <p:spPr>
          <a:xfrm>
            <a:off x="609600" y="1113130"/>
            <a:ext cx="8229600" cy="1098580"/>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An FC switch function that enables node ports within a fabric to be logically segmented into groups and to communicate with each other within the group. </a:t>
            </a:r>
            <a:endParaRPr/>
          </a:p>
        </p:txBody>
      </p:sp>
      <p:sp>
        <p:nvSpPr>
          <p:cNvPr id="594" name="Google Shape;594;p42"/>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Zoning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43"/>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Types of Zoning</a:t>
            </a:r>
            <a:endParaRPr/>
          </a:p>
        </p:txBody>
      </p:sp>
      <p:sp>
        <p:nvSpPr>
          <p:cNvPr id="601" name="Google Shape;601;p43"/>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WWN zoning</a:t>
            </a:r>
            <a:endParaRPr/>
          </a:p>
          <a:p>
            <a:pPr indent="-228600" lvl="0" marL="228600" rtl="0" algn="l">
              <a:spcBef>
                <a:spcPts val="1200"/>
              </a:spcBef>
              <a:spcAft>
                <a:spcPts val="0"/>
              </a:spcAft>
              <a:buClr>
                <a:schemeClr val="dk2"/>
              </a:buClr>
              <a:buSzPts val="2000"/>
              <a:buChar char="•"/>
            </a:pPr>
            <a:r>
              <a:rPr lang="en-US"/>
              <a:t>Port zoning</a:t>
            </a:r>
            <a:endParaRPr/>
          </a:p>
          <a:p>
            <a:pPr indent="-228600" lvl="0" marL="228600" rtl="0" algn="l">
              <a:spcBef>
                <a:spcPts val="1200"/>
              </a:spcBef>
              <a:spcAft>
                <a:spcPts val="0"/>
              </a:spcAft>
              <a:buClr>
                <a:schemeClr val="dk2"/>
              </a:buClr>
              <a:buSzPts val="2000"/>
              <a:buChar char="•"/>
            </a:pPr>
            <a:r>
              <a:rPr lang="en-US"/>
              <a:t>Mixed zoning</a:t>
            </a:r>
            <a:endParaRPr/>
          </a:p>
        </p:txBody>
      </p:sp>
      <p:sp>
        <p:nvSpPr>
          <p:cNvPr id="602" name="Google Shape;602;p43"/>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603" name="Google Shape;603;p43"/>
          <p:cNvPicPr preferRelativeResize="0"/>
          <p:nvPr/>
        </p:nvPicPr>
        <p:blipFill rotWithShape="1">
          <a:blip r:embed="rId3">
            <a:alphaModFix/>
          </a:blip>
          <a:srcRect b="0" l="0" r="0" t="0"/>
          <a:stretch/>
        </p:blipFill>
        <p:spPr>
          <a:xfrm>
            <a:off x="2915816" y="990599"/>
            <a:ext cx="5277084" cy="35973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44"/>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IP SAN</a:t>
            </a:r>
            <a:endParaRPr/>
          </a:p>
        </p:txBody>
      </p:sp>
      <p:sp>
        <p:nvSpPr>
          <p:cNvPr id="610" name="Google Shape;610;p44"/>
          <p:cNvSpPr txBox="1"/>
          <p:nvPr>
            <p:ph idx="1" type="body"/>
          </p:nvPr>
        </p:nvSpPr>
        <p:spPr>
          <a:xfrm>
            <a:off x="379413" y="2211710"/>
            <a:ext cx="8458200" cy="220789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Key drivers of IP SAN are:</a:t>
            </a:r>
            <a:endParaRPr/>
          </a:p>
          <a:p>
            <a:pPr indent="-285750" lvl="1" marL="742950" rtl="0" algn="l">
              <a:spcBef>
                <a:spcPts val="300"/>
              </a:spcBef>
              <a:spcAft>
                <a:spcPts val="0"/>
              </a:spcAft>
              <a:buSzPts val="1800"/>
              <a:buChar char="–"/>
            </a:pPr>
            <a:r>
              <a:rPr lang="en-US"/>
              <a:t>Leveraging an existing IP-based network instead of building a new FC SAN infrastructure</a:t>
            </a:r>
            <a:endParaRPr/>
          </a:p>
          <a:p>
            <a:pPr indent="-285750" lvl="1" marL="742950" rtl="0" algn="l">
              <a:spcBef>
                <a:spcPts val="300"/>
              </a:spcBef>
              <a:spcAft>
                <a:spcPts val="0"/>
              </a:spcAft>
              <a:buSzPts val="1800"/>
              <a:buChar char="–"/>
            </a:pPr>
            <a:r>
              <a:rPr lang="en-US"/>
              <a:t>Many robust, mature security options are available for IP networks</a:t>
            </a:r>
            <a:endParaRPr/>
          </a:p>
          <a:p>
            <a:pPr indent="-285750" lvl="1" marL="742950" rtl="0" algn="l">
              <a:spcBef>
                <a:spcPts val="300"/>
              </a:spcBef>
              <a:spcAft>
                <a:spcPts val="0"/>
              </a:spcAft>
              <a:buSzPts val="1800"/>
              <a:buChar char="–"/>
            </a:pPr>
            <a:r>
              <a:rPr lang="en-US"/>
              <a:t>Many long-distance, disaster recovery (DR) solutions already leverage IP-based networks</a:t>
            </a:r>
            <a:endParaRPr/>
          </a:p>
          <a:p>
            <a:pPr indent="-228600" lvl="0" marL="228600" rtl="0" algn="l">
              <a:spcBef>
                <a:spcPts val="1200"/>
              </a:spcBef>
              <a:spcAft>
                <a:spcPts val="0"/>
              </a:spcAft>
              <a:buClr>
                <a:schemeClr val="dk2"/>
              </a:buClr>
              <a:buSzPts val="2000"/>
              <a:buChar char="•"/>
            </a:pPr>
            <a:r>
              <a:rPr lang="en-US"/>
              <a:t>Two primary IP SAN protocols are: iSCSI and FCIP</a:t>
            </a:r>
            <a:endParaRPr/>
          </a:p>
        </p:txBody>
      </p:sp>
      <p:sp>
        <p:nvSpPr>
          <p:cNvPr id="611" name="Google Shape;611;p44"/>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612" name="Google Shape;612;p44"/>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13" name="Google Shape;613;p44"/>
          <p:cNvSpPr/>
          <p:nvPr/>
        </p:nvSpPr>
        <p:spPr>
          <a:xfrm>
            <a:off x="609600" y="1113130"/>
            <a:ext cx="8229600" cy="882556"/>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A SAN that uses Internet Protocol (IP) for the transport of storage traffic. It transports block I/O over an IP-based network.</a:t>
            </a:r>
            <a:endParaRPr/>
          </a:p>
        </p:txBody>
      </p:sp>
      <p:sp>
        <p:nvSpPr>
          <p:cNvPr id="614" name="Google Shape;614;p44"/>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IP SAN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45"/>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iSCSI Networking</a:t>
            </a:r>
            <a:endParaRPr/>
          </a:p>
        </p:txBody>
      </p:sp>
      <p:sp>
        <p:nvSpPr>
          <p:cNvPr id="621" name="Google Shape;621;p45"/>
          <p:cNvSpPr txBox="1"/>
          <p:nvPr>
            <p:ph idx="1" type="body"/>
          </p:nvPr>
        </p:nvSpPr>
        <p:spPr>
          <a:xfrm>
            <a:off x="379413" y="2283718"/>
            <a:ext cx="5900529" cy="2135882"/>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iSCSI network components are:</a:t>
            </a:r>
            <a:endParaRPr/>
          </a:p>
          <a:p>
            <a:pPr indent="-285750" lvl="1" marL="742950" rtl="0" algn="l">
              <a:spcBef>
                <a:spcPts val="300"/>
              </a:spcBef>
              <a:spcAft>
                <a:spcPts val="0"/>
              </a:spcAft>
              <a:buSzPts val="1800"/>
              <a:buChar char="–"/>
            </a:pPr>
            <a:r>
              <a:rPr lang="en-US"/>
              <a:t>iSCSI initiators</a:t>
            </a:r>
            <a:endParaRPr/>
          </a:p>
          <a:p>
            <a:pPr indent="-169862" lvl="2" marL="1084263" rtl="0" algn="l">
              <a:spcBef>
                <a:spcPts val="300"/>
              </a:spcBef>
              <a:spcAft>
                <a:spcPts val="0"/>
              </a:spcAft>
              <a:buSzPts val="1600"/>
              <a:buChar char="•"/>
            </a:pPr>
            <a:r>
              <a:rPr lang="en-US"/>
              <a:t>Example: iSCSI HBA</a:t>
            </a:r>
            <a:endParaRPr/>
          </a:p>
          <a:p>
            <a:pPr indent="-285750" lvl="1" marL="742950" rtl="0" algn="l">
              <a:spcBef>
                <a:spcPts val="300"/>
              </a:spcBef>
              <a:spcAft>
                <a:spcPts val="0"/>
              </a:spcAft>
              <a:buSzPts val="1800"/>
              <a:buChar char="–"/>
            </a:pPr>
            <a:r>
              <a:rPr lang="en-US"/>
              <a:t>iSCSI targets</a:t>
            </a:r>
            <a:endParaRPr/>
          </a:p>
          <a:p>
            <a:pPr indent="-169862" lvl="2" marL="1084263" rtl="0" algn="l">
              <a:spcBef>
                <a:spcPts val="300"/>
              </a:spcBef>
              <a:spcAft>
                <a:spcPts val="0"/>
              </a:spcAft>
              <a:buSzPts val="1600"/>
              <a:buChar char="•"/>
            </a:pPr>
            <a:r>
              <a:rPr lang="en-US"/>
              <a:t>Example: storage system with iSCSI port (Native iSCSI)</a:t>
            </a:r>
            <a:endParaRPr/>
          </a:p>
          <a:p>
            <a:pPr indent="-169862" lvl="2" marL="1084263" rtl="0" algn="l">
              <a:spcBef>
                <a:spcPts val="300"/>
              </a:spcBef>
              <a:spcAft>
                <a:spcPts val="0"/>
              </a:spcAft>
              <a:buSzPts val="1600"/>
              <a:buChar char="•"/>
            </a:pPr>
            <a:r>
              <a:rPr lang="en-US"/>
              <a:t>Example: iSCSI gateway (Bridged iSCSI)</a:t>
            </a:r>
            <a:endParaRPr/>
          </a:p>
          <a:p>
            <a:pPr indent="-285750" lvl="1" marL="742950" rtl="0" algn="l">
              <a:spcBef>
                <a:spcPts val="300"/>
              </a:spcBef>
              <a:spcAft>
                <a:spcPts val="0"/>
              </a:spcAft>
              <a:buSzPts val="1800"/>
              <a:buChar char="–"/>
            </a:pPr>
            <a:r>
              <a:rPr lang="en-US"/>
              <a:t>IP-based network</a:t>
            </a:r>
            <a:endParaRPr/>
          </a:p>
        </p:txBody>
      </p:sp>
      <p:sp>
        <p:nvSpPr>
          <p:cNvPr id="622" name="Google Shape;622;p45"/>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623" name="Google Shape;623;p45"/>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24" name="Google Shape;624;p45"/>
          <p:cNvSpPr/>
          <p:nvPr/>
        </p:nvSpPr>
        <p:spPr>
          <a:xfrm>
            <a:off x="609600" y="1113130"/>
            <a:ext cx="5546576" cy="1026572"/>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iSCSI encapsulates SCSI commands and data into IP packets that are transported over an IP-based network. </a:t>
            </a:r>
            <a:endParaRPr/>
          </a:p>
        </p:txBody>
      </p:sp>
      <p:sp>
        <p:nvSpPr>
          <p:cNvPr id="625" name="Google Shape;625;p45"/>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iSCSI</a:t>
            </a:r>
            <a:endParaRPr/>
          </a:p>
        </p:txBody>
      </p:sp>
      <p:pic>
        <p:nvPicPr>
          <p:cNvPr id="626" name="Google Shape;626;p45"/>
          <p:cNvPicPr preferRelativeResize="0"/>
          <p:nvPr/>
        </p:nvPicPr>
        <p:blipFill rotWithShape="1">
          <a:blip r:embed="rId3">
            <a:alphaModFix/>
          </a:blip>
          <a:srcRect b="0" l="0" r="0" t="0"/>
          <a:stretch/>
        </p:blipFill>
        <p:spPr>
          <a:xfrm>
            <a:off x="6348958" y="1113129"/>
            <a:ext cx="2759546" cy="32400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46"/>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iSCSI Name</a:t>
            </a:r>
            <a:endParaRPr/>
          </a:p>
        </p:txBody>
      </p:sp>
      <p:sp>
        <p:nvSpPr>
          <p:cNvPr id="633" name="Google Shape;633;p46"/>
          <p:cNvSpPr txBox="1"/>
          <p:nvPr>
            <p:ph idx="1" type="body"/>
          </p:nvPr>
        </p:nvSpPr>
        <p:spPr>
          <a:xfrm>
            <a:off x="379413" y="990600"/>
            <a:ext cx="8458200" cy="34290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iSCSI name is a unique iSCSI identifier that identifies initiators and targets in an iSCSI network</a:t>
            </a:r>
            <a:endParaRPr/>
          </a:p>
          <a:p>
            <a:pPr indent="-228600" lvl="0" marL="228600" rtl="0" algn="l">
              <a:spcBef>
                <a:spcPts val="1200"/>
              </a:spcBef>
              <a:spcAft>
                <a:spcPts val="0"/>
              </a:spcAft>
              <a:buClr>
                <a:schemeClr val="dk2"/>
              </a:buClr>
              <a:buSzPts val="2000"/>
              <a:buChar char="•"/>
            </a:pPr>
            <a:r>
              <a:rPr lang="en-US"/>
              <a:t>The two common types of iSCSI names are:</a:t>
            </a:r>
            <a:endParaRPr/>
          </a:p>
          <a:p>
            <a:pPr indent="-285750" lvl="1" marL="742950" rtl="0" algn="l">
              <a:spcBef>
                <a:spcPts val="300"/>
              </a:spcBef>
              <a:spcAft>
                <a:spcPts val="0"/>
              </a:spcAft>
              <a:buSzPts val="1800"/>
              <a:buChar char="–"/>
            </a:pPr>
            <a:r>
              <a:rPr lang="en-US"/>
              <a:t>iqn: iSCSI Qualified Name</a:t>
            </a:r>
            <a:endParaRPr/>
          </a:p>
          <a:p>
            <a:pPr indent="-169862" lvl="2" marL="1084263" rtl="0" algn="l">
              <a:spcBef>
                <a:spcPts val="300"/>
              </a:spcBef>
              <a:spcAft>
                <a:spcPts val="0"/>
              </a:spcAft>
              <a:buSzPts val="1600"/>
              <a:buChar char="•"/>
            </a:pPr>
            <a:r>
              <a:rPr lang="en-US"/>
              <a:t>Example: iqn.2014-02.com.example:</a:t>
            </a:r>
            <a:r>
              <a:rPr i="1" lang="en-US"/>
              <a:t>optional_string</a:t>
            </a:r>
            <a:endParaRPr/>
          </a:p>
          <a:p>
            <a:pPr indent="-285750" lvl="1" marL="742950" rtl="0" algn="l">
              <a:spcBef>
                <a:spcPts val="300"/>
              </a:spcBef>
              <a:spcAft>
                <a:spcPts val="0"/>
              </a:spcAft>
              <a:buSzPts val="1800"/>
              <a:buChar char="–"/>
            </a:pPr>
            <a:r>
              <a:rPr lang="en-US"/>
              <a:t>eui: Extended Unique Identifier</a:t>
            </a:r>
            <a:endParaRPr/>
          </a:p>
          <a:p>
            <a:pPr indent="-169862" lvl="2" marL="1084263" rtl="0" algn="l">
              <a:spcBef>
                <a:spcPts val="300"/>
              </a:spcBef>
              <a:spcAft>
                <a:spcPts val="0"/>
              </a:spcAft>
              <a:buSzPts val="1600"/>
              <a:buChar char="•"/>
            </a:pPr>
            <a:r>
              <a:rPr lang="en-US"/>
              <a:t>Example: eui.0300732A32598D26</a:t>
            </a:r>
            <a:endParaRPr/>
          </a:p>
          <a:p>
            <a:pPr indent="-101600" lvl="0" marL="228600" rtl="0" algn="l">
              <a:spcBef>
                <a:spcPts val="1200"/>
              </a:spcBef>
              <a:spcAft>
                <a:spcPts val="0"/>
              </a:spcAft>
              <a:buClr>
                <a:schemeClr val="dk2"/>
              </a:buClr>
              <a:buSzPts val="2000"/>
              <a:buNone/>
            </a:pPr>
            <a:r>
              <a:t/>
            </a:r>
            <a:endParaRPr/>
          </a:p>
        </p:txBody>
      </p:sp>
      <p:sp>
        <p:nvSpPr>
          <p:cNvPr id="634" name="Google Shape;634;p46"/>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47"/>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FCIP Networking</a:t>
            </a:r>
            <a:endParaRPr/>
          </a:p>
        </p:txBody>
      </p:sp>
      <p:sp>
        <p:nvSpPr>
          <p:cNvPr id="641" name="Google Shape;641;p47"/>
          <p:cNvSpPr txBox="1"/>
          <p:nvPr>
            <p:ph idx="1" type="body"/>
          </p:nvPr>
        </p:nvSpPr>
        <p:spPr>
          <a:xfrm>
            <a:off x="379413" y="2211710"/>
            <a:ext cx="5416723" cy="220789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An FCIP entity (e.g. FCIP gateway) exists at either end of an FCIP tunnel</a:t>
            </a:r>
            <a:endParaRPr/>
          </a:p>
          <a:p>
            <a:pPr indent="-285750" lvl="1" marL="742950" rtl="0" algn="l">
              <a:spcBef>
                <a:spcPts val="300"/>
              </a:spcBef>
              <a:spcAft>
                <a:spcPts val="0"/>
              </a:spcAft>
              <a:buSzPts val="1800"/>
              <a:buChar char="–"/>
            </a:pPr>
            <a:r>
              <a:rPr lang="en-US"/>
              <a:t>Encapsulates FC into IP</a:t>
            </a:r>
            <a:endParaRPr/>
          </a:p>
          <a:p>
            <a:pPr indent="-285750" lvl="1" marL="742950" rtl="0" algn="l">
              <a:spcBef>
                <a:spcPts val="300"/>
              </a:spcBef>
              <a:spcAft>
                <a:spcPts val="0"/>
              </a:spcAft>
              <a:buSzPts val="1800"/>
              <a:buChar char="–"/>
            </a:pPr>
            <a:r>
              <a:rPr lang="en-US"/>
              <a:t>Transfers IP packets to remote gateway</a:t>
            </a:r>
            <a:endParaRPr/>
          </a:p>
          <a:p>
            <a:pPr indent="-285750" lvl="1" marL="742950" rtl="0" algn="l">
              <a:spcBef>
                <a:spcPts val="300"/>
              </a:spcBef>
              <a:spcAft>
                <a:spcPts val="0"/>
              </a:spcAft>
              <a:buSzPts val="1800"/>
              <a:buChar char="–"/>
            </a:pPr>
            <a:r>
              <a:rPr lang="en-US"/>
              <a:t>Decapsulates FC from IP</a:t>
            </a:r>
            <a:endParaRPr/>
          </a:p>
          <a:p>
            <a:pPr indent="-228600" lvl="0" marL="228600" rtl="0" algn="l">
              <a:spcBef>
                <a:spcPts val="1200"/>
              </a:spcBef>
              <a:spcAft>
                <a:spcPts val="0"/>
              </a:spcAft>
              <a:buClr>
                <a:schemeClr val="dk2"/>
              </a:buClr>
              <a:buSzPts val="2000"/>
              <a:buChar char="•"/>
            </a:pPr>
            <a:r>
              <a:rPr lang="en-US"/>
              <a:t>Widely used in disaster recovery implementations</a:t>
            </a:r>
            <a:endParaRPr/>
          </a:p>
        </p:txBody>
      </p:sp>
      <p:sp>
        <p:nvSpPr>
          <p:cNvPr id="642" name="Google Shape;642;p47"/>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643" name="Google Shape;643;p47"/>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44" name="Google Shape;644;p47"/>
          <p:cNvSpPr/>
          <p:nvPr/>
        </p:nvSpPr>
        <p:spPr>
          <a:xfrm>
            <a:off x="609600" y="1113130"/>
            <a:ext cx="8229600" cy="882556"/>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FCIP is an encapsulation of FC frames into IP packets that are transported between disparate FC SANs over an IP-based network through FCIP tunnel.</a:t>
            </a:r>
            <a:endParaRPr/>
          </a:p>
        </p:txBody>
      </p:sp>
      <p:sp>
        <p:nvSpPr>
          <p:cNvPr id="645" name="Google Shape;645;p47"/>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FCIP</a:t>
            </a:r>
            <a:endParaRPr/>
          </a:p>
        </p:txBody>
      </p:sp>
      <p:pic>
        <p:nvPicPr>
          <p:cNvPr id="646" name="Google Shape;646;p47"/>
          <p:cNvPicPr preferRelativeResize="0"/>
          <p:nvPr/>
        </p:nvPicPr>
        <p:blipFill rotWithShape="1">
          <a:blip r:embed="rId3">
            <a:alphaModFix/>
          </a:blip>
          <a:srcRect b="0" l="0" r="0" t="0"/>
          <a:stretch/>
        </p:blipFill>
        <p:spPr>
          <a:xfrm>
            <a:off x="5809991" y="2063779"/>
            <a:ext cx="3293640" cy="238690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48"/>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FCoE SAN</a:t>
            </a:r>
            <a:endParaRPr/>
          </a:p>
        </p:txBody>
      </p:sp>
      <p:sp>
        <p:nvSpPr>
          <p:cNvPr id="653" name="Google Shape;653;p48"/>
          <p:cNvSpPr txBox="1"/>
          <p:nvPr>
            <p:ph idx="1" type="body"/>
          </p:nvPr>
        </p:nvSpPr>
        <p:spPr>
          <a:xfrm>
            <a:off x="379413" y="2355726"/>
            <a:ext cx="8458200" cy="2063874"/>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Clr>
                <a:schemeClr val="dk2"/>
              </a:buClr>
              <a:buSzPts val="2000"/>
              <a:buChar char="•"/>
            </a:pPr>
            <a:r>
              <a:rPr lang="en-US"/>
              <a:t>Transfers both compute-to-compute and FC storage traffic using the same network components</a:t>
            </a:r>
            <a:endParaRPr/>
          </a:p>
          <a:p>
            <a:pPr indent="-285750" lvl="1" marL="742950" rtl="0" algn="l">
              <a:spcBef>
                <a:spcPts val="300"/>
              </a:spcBef>
              <a:spcAft>
                <a:spcPts val="0"/>
              </a:spcAft>
              <a:buSzPts val="1800"/>
              <a:buChar char="–"/>
            </a:pPr>
            <a:r>
              <a:rPr lang="en-US"/>
              <a:t>Reduces complexity of managing multiple discrete networks</a:t>
            </a:r>
            <a:endParaRPr/>
          </a:p>
          <a:p>
            <a:pPr indent="-285750" lvl="1" marL="742950" rtl="0" algn="l">
              <a:spcBef>
                <a:spcPts val="300"/>
              </a:spcBef>
              <a:spcAft>
                <a:spcPts val="0"/>
              </a:spcAft>
              <a:buSzPts val="1800"/>
              <a:buChar char="–"/>
            </a:pPr>
            <a:r>
              <a:rPr lang="en-US"/>
              <a:t>Reduces the number of adapters, cables, and switches, along with power and space consumption required in a data center</a:t>
            </a:r>
            <a:endParaRPr/>
          </a:p>
          <a:p>
            <a:pPr indent="-228600" lvl="0" marL="228600" rtl="0" algn="l">
              <a:spcBef>
                <a:spcPts val="1200"/>
              </a:spcBef>
              <a:spcAft>
                <a:spcPts val="0"/>
              </a:spcAft>
              <a:buClr>
                <a:schemeClr val="dk2"/>
              </a:buClr>
              <a:buSzPts val="2000"/>
              <a:buChar char="•"/>
            </a:pPr>
            <a:r>
              <a:rPr lang="en-US"/>
              <a:t>Based on an enhanced Ethernet standard that ensures lossless transmission of FC traffic over Ethernet</a:t>
            </a:r>
            <a:endParaRPr/>
          </a:p>
        </p:txBody>
      </p:sp>
      <p:sp>
        <p:nvSpPr>
          <p:cNvPr id="654" name="Google Shape;654;p48"/>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655" name="Google Shape;655;p48"/>
          <p:cNvSpPr/>
          <p:nvPr/>
        </p:nvSpPr>
        <p:spPr>
          <a:xfrm>
            <a:off x="294017" y="1044411"/>
            <a:ext cx="365905" cy="371173"/>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656" name="Google Shape;656;p48"/>
          <p:cNvSpPr/>
          <p:nvPr/>
        </p:nvSpPr>
        <p:spPr>
          <a:xfrm>
            <a:off x="609600" y="1113130"/>
            <a:ext cx="8229600" cy="1098580"/>
          </a:xfrm>
          <a:prstGeom prst="rect">
            <a:avLst/>
          </a:prstGeom>
          <a:gradFill>
            <a:gsLst>
              <a:gs pos="0">
                <a:srgbClr val="D4D6D7"/>
              </a:gs>
              <a:gs pos="50000">
                <a:srgbClr val="E2E4E5"/>
              </a:gs>
              <a:gs pos="100000">
                <a:srgbClr val="F0F0F2"/>
              </a:gs>
            </a:gsLst>
            <a:lin ang="2700000" scaled="0"/>
          </a:gradFill>
          <a:ln cap="flat" cmpd="sng" w="12700">
            <a:solidFill>
              <a:srgbClr val="717074"/>
            </a:solidFill>
            <a:prstDash val="solid"/>
            <a:round/>
            <a:headEnd len="sm" w="sm" type="none"/>
            <a:tailEnd len="sm" w="sm" type="none"/>
          </a:ln>
        </p:spPr>
        <p:txBody>
          <a:bodyPr anchorCtr="0" anchor="t" bIns="45700" lIns="182875" spcFirstLastPara="1" rIns="182875" wrap="square" tIns="274300">
            <a:noAutofit/>
          </a:bodyPr>
          <a:lstStyle/>
          <a:p>
            <a:pPr indent="0" lvl="0" marL="0" marR="0" rtl="0" algn="l">
              <a:spcBef>
                <a:spcPts val="0"/>
              </a:spcBef>
              <a:spcAft>
                <a:spcPts val="0"/>
              </a:spcAft>
              <a:buNone/>
            </a:pPr>
            <a:r>
              <a:rPr lang="en-US" sz="1600">
                <a:solidFill>
                  <a:schemeClr val="dk1"/>
                </a:solidFill>
                <a:latin typeface="Verdana"/>
                <a:ea typeface="Verdana"/>
                <a:cs typeface="Verdana"/>
                <a:sym typeface="Verdana"/>
              </a:rPr>
              <a:t>A converged enhanced Ethernet (CEE) network that uses the FCoE protocol to transport FC data along with regular Ethernet traffic over high speed Ethernet links. FCoE encapsulates FC frames into Ethernet frames.</a:t>
            </a:r>
            <a:endParaRPr/>
          </a:p>
        </p:txBody>
      </p:sp>
      <p:sp>
        <p:nvSpPr>
          <p:cNvPr id="657" name="Google Shape;657;p48"/>
          <p:cNvSpPr/>
          <p:nvPr/>
        </p:nvSpPr>
        <p:spPr>
          <a:xfrm>
            <a:off x="343787" y="914400"/>
            <a:ext cx="4343400" cy="397459"/>
          </a:xfrm>
          <a:prstGeom prst="rect">
            <a:avLst/>
          </a:prstGeom>
          <a:solidFill>
            <a:srgbClr val="2C95D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lt1"/>
                </a:solidFill>
                <a:latin typeface="Verdana"/>
                <a:ea typeface="Verdana"/>
                <a:cs typeface="Verdana"/>
                <a:sym typeface="Verdana"/>
              </a:rPr>
              <a:t>FCoE SAN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49"/>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FCoE SAN Components: CNA and S/W FCoE Adapter</a:t>
            </a:r>
            <a:endParaRPr/>
          </a:p>
        </p:txBody>
      </p:sp>
      <p:sp>
        <p:nvSpPr>
          <p:cNvPr id="664" name="Google Shape;664;p49"/>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665" name="Google Shape;665;p49"/>
          <p:cNvPicPr preferRelativeResize="0"/>
          <p:nvPr/>
        </p:nvPicPr>
        <p:blipFill rotWithShape="1">
          <a:blip r:embed="rId3">
            <a:alphaModFix/>
          </a:blip>
          <a:srcRect b="0" l="0" r="0" t="0"/>
          <a:stretch/>
        </p:blipFill>
        <p:spPr>
          <a:xfrm>
            <a:off x="1959881" y="998084"/>
            <a:ext cx="5224239" cy="1980000"/>
          </a:xfrm>
          <a:prstGeom prst="rect">
            <a:avLst/>
          </a:prstGeom>
          <a:noFill/>
          <a:ln>
            <a:noFill/>
          </a:ln>
        </p:spPr>
      </p:pic>
      <p:graphicFrame>
        <p:nvGraphicFramePr>
          <p:cNvPr id="666" name="Google Shape;666;p49"/>
          <p:cNvGraphicFramePr/>
          <p:nvPr/>
        </p:nvGraphicFramePr>
        <p:xfrm>
          <a:off x="468000" y="3005710"/>
          <a:ext cx="3000000" cy="3000000"/>
        </p:xfrm>
        <a:graphic>
          <a:graphicData uri="http://schemas.openxmlformats.org/drawingml/2006/table">
            <a:tbl>
              <a:tblPr bandRow="1" firstRow="1">
                <a:noFill/>
                <a:tableStyleId>{E4650FC5-E597-48F4-9467-0DB7FBAA2536}</a:tableStyleId>
              </a:tblPr>
              <a:tblGrid>
                <a:gridCol w="2231800"/>
                <a:gridCol w="6226400"/>
              </a:tblGrid>
              <a:tr h="139700">
                <a:tc>
                  <a:txBody>
                    <a:bodyPr/>
                    <a:lstStyle/>
                    <a:p>
                      <a:pPr indent="0" lvl="0" marL="0" marR="0" rtl="0" algn="l">
                        <a:spcBef>
                          <a:spcPts val="0"/>
                        </a:spcBef>
                        <a:spcAft>
                          <a:spcPts val="0"/>
                        </a:spcAft>
                        <a:buNone/>
                      </a:pPr>
                      <a:r>
                        <a:rPr lang="en-US" sz="1100" u="none" cap="none" strike="noStrike">
                          <a:latin typeface="Verdana"/>
                          <a:ea typeface="Verdana"/>
                          <a:cs typeface="Verdana"/>
                          <a:sym typeface="Verdana"/>
                        </a:rPr>
                        <a:t>Component</a:t>
                      </a:r>
                      <a:endParaRPr sz="1100" u="none" cap="none" strike="noStrike"/>
                    </a:p>
                  </a:txBody>
                  <a:tcPr marT="45725" marB="45725" marR="91450" marL="91450"/>
                </a:tc>
                <a:tc>
                  <a:txBody>
                    <a:bodyPr/>
                    <a:lstStyle/>
                    <a:p>
                      <a:pPr indent="0" lvl="0" marL="0" marR="0" rtl="0" algn="l">
                        <a:spcBef>
                          <a:spcPts val="0"/>
                        </a:spcBef>
                        <a:spcAft>
                          <a:spcPts val="0"/>
                        </a:spcAft>
                        <a:buNone/>
                      </a:pPr>
                      <a:r>
                        <a:rPr lang="en-US" sz="1100" u="none" cap="none" strike="noStrike">
                          <a:latin typeface="Verdana"/>
                          <a:ea typeface="Verdana"/>
                          <a:cs typeface="Verdana"/>
                          <a:sym typeface="Verdana"/>
                        </a:rPr>
                        <a:t>Description</a:t>
                      </a:r>
                      <a:endParaRPr sz="11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100"/>
                        <a:buFont typeface="Verdana"/>
                        <a:buNone/>
                      </a:pPr>
                      <a:r>
                        <a:rPr lang="en-US" sz="1100" u="none" cap="none" strike="noStrike"/>
                        <a:t>Converged network adapter (CNA)</a:t>
                      </a:r>
                      <a:endParaRPr/>
                    </a:p>
                  </a:txBody>
                  <a:tcPr marT="45725" marB="45725" marR="91450" marL="91450"/>
                </a:tc>
                <a:tc>
                  <a:txBody>
                    <a:bodyPr/>
                    <a:lstStyle/>
                    <a:p>
                      <a:pPr indent="-285750" lvl="0" marL="285750" marR="0" rtl="0" algn="l">
                        <a:lnSpc>
                          <a:spcPct val="100000"/>
                        </a:lnSpc>
                        <a:spcBef>
                          <a:spcPts val="0"/>
                        </a:spcBef>
                        <a:spcAft>
                          <a:spcPts val="0"/>
                        </a:spcAft>
                        <a:buClr>
                          <a:schemeClr val="dk1"/>
                        </a:buClr>
                        <a:buSzPts val="1100"/>
                        <a:buFont typeface="Arial"/>
                        <a:buChar char="•"/>
                      </a:pPr>
                      <a:r>
                        <a:rPr lang="en-US" sz="1100" u="none" cap="none" strike="noStrike"/>
                        <a:t>Provides functionality of both NIC and FC HBA in a single device</a:t>
                      </a:r>
                      <a:endParaRPr/>
                    </a:p>
                    <a:p>
                      <a:pPr indent="-285750" lvl="0" marL="285750" marR="0" rtl="0" algn="l">
                        <a:lnSpc>
                          <a:spcPct val="100000"/>
                        </a:lnSpc>
                        <a:spcBef>
                          <a:spcPts val="0"/>
                        </a:spcBef>
                        <a:spcAft>
                          <a:spcPts val="0"/>
                        </a:spcAft>
                        <a:buClr>
                          <a:schemeClr val="dk1"/>
                        </a:buClr>
                        <a:buSzPts val="1100"/>
                        <a:buFont typeface="Arial"/>
                        <a:buChar char="•"/>
                      </a:pPr>
                      <a:r>
                        <a:rPr lang="en-US" sz="1100" u="none" cap="none" strike="noStrike"/>
                        <a:t>Encapsulates FC traffic onto Ethernet frames (FCoE traffic)</a:t>
                      </a:r>
                      <a:endParaRPr/>
                    </a:p>
                    <a:p>
                      <a:pPr indent="-285750" lvl="0" marL="285750" marR="0" rtl="0" algn="l">
                        <a:lnSpc>
                          <a:spcPct val="100000"/>
                        </a:lnSpc>
                        <a:spcBef>
                          <a:spcPts val="0"/>
                        </a:spcBef>
                        <a:spcAft>
                          <a:spcPts val="0"/>
                        </a:spcAft>
                        <a:buClr>
                          <a:schemeClr val="dk1"/>
                        </a:buClr>
                        <a:buSzPts val="1100"/>
                        <a:buFont typeface="Arial"/>
                        <a:buChar char="•"/>
                      </a:pPr>
                      <a:r>
                        <a:rPr lang="en-US" sz="1100" u="none" cap="none" strike="noStrike"/>
                        <a:t>Consolidates both FC and regular Ethernet traffic over CEE links</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100"/>
                        <a:buFont typeface="Verdana"/>
                        <a:buNone/>
                      </a:pPr>
                      <a:r>
                        <a:rPr lang="en-US" sz="1100" u="none" cap="none" strike="noStrike"/>
                        <a:t>Software FCoE adapter</a:t>
                      </a:r>
                      <a:endParaRPr/>
                    </a:p>
                  </a:txBody>
                  <a:tcPr marT="45725" marB="45725" marR="91450" marL="91450"/>
                </a:tc>
                <a:tc>
                  <a:txBody>
                    <a:bodyPr/>
                    <a:lstStyle/>
                    <a:p>
                      <a:pPr indent="-285750" lvl="0" marL="285750" marR="0" rtl="0" algn="l">
                        <a:spcBef>
                          <a:spcPts val="0"/>
                        </a:spcBef>
                        <a:spcAft>
                          <a:spcPts val="0"/>
                        </a:spcAft>
                        <a:buClr>
                          <a:schemeClr val="dk1"/>
                        </a:buClr>
                        <a:buSzPts val="1100"/>
                        <a:buFont typeface="Arial"/>
                        <a:buChar char="•"/>
                      </a:pPr>
                      <a:r>
                        <a:rPr lang="en-US" sz="1100" u="none" cap="none" strike="noStrike"/>
                        <a:t>A software on the compute system performs FCoE processing</a:t>
                      </a:r>
                      <a:endParaRPr/>
                    </a:p>
                    <a:p>
                      <a:pPr indent="-285750" lvl="0" marL="285750" marR="0" rtl="0" algn="l">
                        <a:spcBef>
                          <a:spcPts val="0"/>
                        </a:spcBef>
                        <a:spcAft>
                          <a:spcPts val="0"/>
                        </a:spcAft>
                        <a:buClr>
                          <a:schemeClr val="dk1"/>
                        </a:buClr>
                        <a:buSzPts val="1100"/>
                        <a:buFont typeface="Arial"/>
                        <a:buChar char="•"/>
                      </a:pPr>
                      <a:r>
                        <a:rPr lang="en-US" sz="1100" u="none" cap="none" strike="noStrike"/>
                        <a:t>Supported NICs transfer both FCoE and regular Ethernet traffic</a:t>
                      </a:r>
                      <a:endParaRPr/>
                    </a:p>
                  </a:txBody>
                  <a:tcPr marT="45725" marB="45725" marR="91450" marL="91450"/>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50"/>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FCoE SAN Components: FCoE Switch and Storage Port</a:t>
            </a:r>
            <a:endParaRPr/>
          </a:p>
        </p:txBody>
      </p:sp>
      <p:sp>
        <p:nvSpPr>
          <p:cNvPr id="673" name="Google Shape;673;p50"/>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674" name="Google Shape;674;p50"/>
          <p:cNvPicPr preferRelativeResize="0"/>
          <p:nvPr/>
        </p:nvPicPr>
        <p:blipFill rotWithShape="1">
          <a:blip r:embed="rId3">
            <a:alphaModFix/>
          </a:blip>
          <a:srcRect b="0" l="0" r="0" t="0"/>
          <a:stretch/>
        </p:blipFill>
        <p:spPr>
          <a:xfrm>
            <a:off x="1959881" y="998085"/>
            <a:ext cx="5224239" cy="1980000"/>
          </a:xfrm>
          <a:prstGeom prst="rect">
            <a:avLst/>
          </a:prstGeom>
          <a:noFill/>
          <a:ln>
            <a:noFill/>
          </a:ln>
        </p:spPr>
      </p:pic>
      <p:graphicFrame>
        <p:nvGraphicFramePr>
          <p:cNvPr id="675" name="Google Shape;675;p50"/>
          <p:cNvGraphicFramePr/>
          <p:nvPr/>
        </p:nvGraphicFramePr>
        <p:xfrm>
          <a:off x="467544" y="3005604"/>
          <a:ext cx="3000000" cy="3000000"/>
        </p:xfrm>
        <a:graphic>
          <a:graphicData uri="http://schemas.openxmlformats.org/drawingml/2006/table">
            <a:tbl>
              <a:tblPr bandRow="1" firstRow="1">
                <a:noFill/>
                <a:tableStyleId>{E4650FC5-E597-48F4-9467-0DB7FBAA2536}</a:tableStyleId>
              </a:tblPr>
              <a:tblGrid>
                <a:gridCol w="2232250"/>
                <a:gridCol w="6225950"/>
              </a:tblGrid>
              <a:tr h="139700">
                <a:tc>
                  <a:txBody>
                    <a:bodyPr/>
                    <a:lstStyle/>
                    <a:p>
                      <a:pPr indent="0" lvl="0" marL="0" marR="0" rtl="0" algn="l">
                        <a:spcBef>
                          <a:spcPts val="0"/>
                        </a:spcBef>
                        <a:spcAft>
                          <a:spcPts val="0"/>
                        </a:spcAft>
                        <a:buNone/>
                      </a:pPr>
                      <a:r>
                        <a:rPr lang="en-US" sz="1100" u="none" cap="none" strike="noStrike">
                          <a:latin typeface="Verdana"/>
                          <a:ea typeface="Verdana"/>
                          <a:cs typeface="Verdana"/>
                          <a:sym typeface="Verdana"/>
                        </a:rPr>
                        <a:t>Component</a:t>
                      </a:r>
                      <a:endParaRPr sz="1100" u="none" cap="none" strike="noStrike"/>
                    </a:p>
                  </a:txBody>
                  <a:tcPr marT="45725" marB="45725" marR="91450" marL="91450"/>
                </a:tc>
                <a:tc>
                  <a:txBody>
                    <a:bodyPr/>
                    <a:lstStyle/>
                    <a:p>
                      <a:pPr indent="0" lvl="0" marL="0" marR="0" rtl="0" algn="l">
                        <a:spcBef>
                          <a:spcPts val="0"/>
                        </a:spcBef>
                        <a:spcAft>
                          <a:spcPts val="0"/>
                        </a:spcAft>
                        <a:buNone/>
                      </a:pPr>
                      <a:r>
                        <a:rPr lang="en-US" sz="1100" u="none" cap="none" strike="noStrike">
                          <a:latin typeface="Verdana"/>
                          <a:ea typeface="Verdana"/>
                          <a:cs typeface="Verdana"/>
                          <a:sym typeface="Verdana"/>
                        </a:rPr>
                        <a:t>Description</a:t>
                      </a:r>
                      <a:endParaRPr sz="1100" u="none" cap="none" strike="noStrike"/>
                    </a:p>
                  </a:txBody>
                  <a:tcPr marT="45725" marB="45725" marR="91450" marL="91450"/>
                </a:tc>
              </a:tr>
              <a:tr h="370850">
                <a:tc>
                  <a:txBody>
                    <a:bodyPr/>
                    <a:lstStyle/>
                    <a:p>
                      <a:pPr indent="0" lvl="0" marL="0" marR="0" rtl="0" algn="l">
                        <a:spcBef>
                          <a:spcPts val="0"/>
                        </a:spcBef>
                        <a:spcAft>
                          <a:spcPts val="0"/>
                        </a:spcAft>
                        <a:buNone/>
                      </a:pPr>
                      <a:r>
                        <a:rPr lang="en-US" sz="1100" u="none" cap="none" strike="noStrike"/>
                        <a:t>FCoE switch</a:t>
                      </a:r>
                      <a:endParaRPr/>
                    </a:p>
                  </a:txBody>
                  <a:tcPr marT="45725" marB="45725" marR="91450" marL="91450"/>
                </a:tc>
                <a:tc>
                  <a:txBody>
                    <a:bodyPr/>
                    <a:lstStyle/>
                    <a:p>
                      <a:pPr indent="-285750" lvl="0" marL="285750" marR="0" rtl="0" algn="l">
                        <a:lnSpc>
                          <a:spcPct val="100000"/>
                        </a:lnSpc>
                        <a:spcBef>
                          <a:spcPts val="0"/>
                        </a:spcBef>
                        <a:spcAft>
                          <a:spcPts val="0"/>
                        </a:spcAft>
                        <a:buClr>
                          <a:schemeClr val="dk1"/>
                        </a:buClr>
                        <a:buSzPts val="1100"/>
                        <a:buFont typeface="Arial"/>
                        <a:buChar char="•"/>
                      </a:pPr>
                      <a:r>
                        <a:rPr lang="en-US" sz="1100"/>
                        <a:t>Contains Fibre Channel Forwarder (FCF), Ethernet Bridge, and a set of ports for FC, Ethernet, or FCoE connectivity</a:t>
                      </a:r>
                      <a:endParaRPr/>
                    </a:p>
                    <a:p>
                      <a:pPr indent="-285750" lvl="0" marL="285750" marR="0" rtl="0" algn="l">
                        <a:lnSpc>
                          <a:spcPct val="100000"/>
                        </a:lnSpc>
                        <a:spcBef>
                          <a:spcPts val="0"/>
                        </a:spcBef>
                        <a:spcAft>
                          <a:spcPts val="0"/>
                        </a:spcAft>
                        <a:buClr>
                          <a:schemeClr val="dk1"/>
                        </a:buClr>
                        <a:buSzPts val="1100"/>
                        <a:buFont typeface="Arial"/>
                        <a:buChar char="•"/>
                      </a:pPr>
                      <a:r>
                        <a:rPr lang="en-US" sz="1100"/>
                        <a:t>FCF encapsulates FC frames into Ethernet frames (FCoE frames) and</a:t>
                      </a:r>
                      <a:r>
                        <a:rPr lang="en-US" sz="1100"/>
                        <a:t> </a:t>
                      </a:r>
                      <a:r>
                        <a:rPr lang="en-US" sz="1100"/>
                        <a:t>decapsulates FCoE frames to FC frames</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100"/>
                        <a:buFont typeface="Verdana"/>
                        <a:buNone/>
                      </a:pPr>
                      <a:r>
                        <a:rPr lang="en-US" sz="1100"/>
                        <a:t>FCoE storage port</a:t>
                      </a:r>
                      <a:endParaRPr/>
                    </a:p>
                  </a:txBody>
                  <a:tcPr marT="45725" marB="45725" marR="91450" marL="91450"/>
                </a:tc>
                <a:tc>
                  <a:txBody>
                    <a:bodyPr/>
                    <a:lstStyle/>
                    <a:p>
                      <a:pPr indent="-285750" lvl="0" marL="285750" marR="0" rtl="0" algn="l">
                        <a:lnSpc>
                          <a:spcPct val="100000"/>
                        </a:lnSpc>
                        <a:spcBef>
                          <a:spcPts val="0"/>
                        </a:spcBef>
                        <a:spcAft>
                          <a:spcPts val="0"/>
                        </a:spcAft>
                        <a:buClr>
                          <a:schemeClr val="dk1"/>
                        </a:buClr>
                        <a:buSzPts val="1100"/>
                        <a:buFont typeface="Arial"/>
                        <a:buChar char="•"/>
                      </a:pPr>
                      <a:r>
                        <a:rPr lang="en-US" sz="1100"/>
                        <a:t>Connects to FCoE switch, enabling end-to-end FCoE environment</a:t>
                      </a:r>
                      <a:endParaRPr/>
                    </a:p>
                  </a:txBody>
                  <a:tcPr marT="45725" marB="45725" marR="91450" marL="91450"/>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51"/>
          <p:cNvSpPr txBox="1"/>
          <p:nvPr>
            <p:ph type="ctrTitle"/>
          </p:nvPr>
        </p:nvSpPr>
        <p:spPr>
          <a:xfrm>
            <a:off x="379413" y="228600"/>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Inter-cloud Communication</a:t>
            </a:r>
            <a:endParaRPr/>
          </a:p>
        </p:txBody>
      </p:sp>
      <p:sp>
        <p:nvSpPr>
          <p:cNvPr id="682" name="Google Shape;682;p51"/>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pic>
        <p:nvPicPr>
          <p:cNvPr id="683" name="Google Shape;683;p51"/>
          <p:cNvPicPr preferRelativeResize="0"/>
          <p:nvPr/>
        </p:nvPicPr>
        <p:blipFill rotWithShape="1">
          <a:blip r:embed="rId3">
            <a:alphaModFix/>
          </a:blip>
          <a:srcRect b="0" l="0" r="0" t="0"/>
          <a:stretch/>
        </p:blipFill>
        <p:spPr>
          <a:xfrm>
            <a:off x="1286497" y="879982"/>
            <a:ext cx="6496759" cy="37800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52"/>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C95DD"/>
              </a:buClr>
              <a:buSzPts val="2800"/>
              <a:buFont typeface="Verdana"/>
              <a:buNone/>
            </a:pPr>
            <a:r>
              <a:rPr lang="en-US">
                <a:solidFill>
                  <a:srgbClr val="2C95DD"/>
                </a:solidFill>
              </a:rPr>
              <a:t>Lesson Summary</a:t>
            </a:r>
            <a:endParaRPr/>
          </a:p>
        </p:txBody>
      </p:sp>
      <p:sp>
        <p:nvSpPr>
          <p:cNvPr id="690" name="Google Shape;690;p52"/>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lang="en-US"/>
              <a:t>During this lesson the following topics were covered:</a:t>
            </a:r>
            <a:endParaRPr/>
          </a:p>
          <a:p>
            <a:pPr indent="-228600" lvl="0" marL="228600" rtl="0" algn="l">
              <a:spcBef>
                <a:spcPts val="1200"/>
              </a:spcBef>
              <a:spcAft>
                <a:spcPts val="0"/>
              </a:spcAft>
              <a:buClr>
                <a:schemeClr val="dk2"/>
              </a:buClr>
              <a:buSzPts val="2000"/>
              <a:buChar char="•"/>
            </a:pPr>
            <a:r>
              <a:rPr lang="en-US"/>
              <a:t>Types of network communication</a:t>
            </a:r>
            <a:endParaRPr/>
          </a:p>
          <a:p>
            <a:pPr indent="-228600" lvl="0" marL="228600" rtl="0" algn="l">
              <a:spcBef>
                <a:spcPts val="1200"/>
              </a:spcBef>
              <a:spcAft>
                <a:spcPts val="0"/>
              </a:spcAft>
              <a:buClr>
                <a:schemeClr val="dk2"/>
              </a:buClr>
              <a:buSzPts val="2000"/>
              <a:buChar char="•"/>
            </a:pPr>
            <a:r>
              <a:rPr lang="en-US"/>
              <a:t>Compute-to-compute communication</a:t>
            </a:r>
            <a:endParaRPr/>
          </a:p>
          <a:p>
            <a:pPr indent="-228600" lvl="0" marL="228600" rtl="0" algn="l">
              <a:spcBef>
                <a:spcPts val="1200"/>
              </a:spcBef>
              <a:spcAft>
                <a:spcPts val="0"/>
              </a:spcAft>
              <a:buClr>
                <a:schemeClr val="dk2"/>
              </a:buClr>
              <a:buSzPts val="2000"/>
              <a:buChar char="•"/>
            </a:pPr>
            <a:r>
              <a:rPr lang="en-US"/>
              <a:t>Compute-to-storage communication (SAN)</a:t>
            </a:r>
            <a:endParaRPr/>
          </a:p>
          <a:p>
            <a:pPr indent="-228600" lvl="0" marL="228600" rtl="0" algn="l">
              <a:spcBef>
                <a:spcPts val="1200"/>
              </a:spcBef>
              <a:spcAft>
                <a:spcPts val="0"/>
              </a:spcAft>
              <a:buClr>
                <a:schemeClr val="dk2"/>
              </a:buClr>
              <a:buSzPts val="2000"/>
              <a:buChar char="•"/>
            </a:pPr>
            <a:r>
              <a:rPr lang="en-US"/>
              <a:t>FC SAN, IP SAN, and FCoE SAN components and architectures</a:t>
            </a:r>
            <a:endParaRPr/>
          </a:p>
          <a:p>
            <a:pPr indent="-228600" lvl="0" marL="228600" rtl="0" algn="l">
              <a:spcBef>
                <a:spcPts val="1200"/>
              </a:spcBef>
              <a:spcAft>
                <a:spcPts val="0"/>
              </a:spcAft>
              <a:buClr>
                <a:schemeClr val="dk2"/>
              </a:buClr>
              <a:buSzPts val="2000"/>
              <a:buChar char="•"/>
            </a:pPr>
            <a:r>
              <a:rPr lang="en-US"/>
              <a:t>Inter-cloud communication</a:t>
            </a:r>
            <a:endParaRPr/>
          </a:p>
        </p:txBody>
      </p:sp>
      <p:sp>
        <p:nvSpPr>
          <p:cNvPr id="691" name="Google Shape;691;p52"/>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53"/>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Concepts in Practice</a:t>
            </a:r>
            <a:endParaRPr/>
          </a:p>
        </p:txBody>
      </p:sp>
      <p:sp>
        <p:nvSpPr>
          <p:cNvPr id="698" name="Google Shape;698;p53"/>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p>
            <a:pPr indent="-228600" lvl="0" marL="228600" rtl="0" algn="l">
              <a:spcBef>
                <a:spcPts val="0"/>
              </a:spcBef>
              <a:spcAft>
                <a:spcPts val="0"/>
              </a:spcAft>
              <a:buSzPts val="2000"/>
              <a:buChar char="•"/>
            </a:pPr>
            <a:r>
              <a:rPr lang="en-US"/>
              <a:t>EMC VMAX</a:t>
            </a:r>
            <a:endParaRPr/>
          </a:p>
          <a:p>
            <a:pPr indent="-228600" lvl="0" marL="228600" rtl="0" algn="l">
              <a:spcBef>
                <a:spcPts val="1200"/>
              </a:spcBef>
              <a:spcAft>
                <a:spcPts val="0"/>
              </a:spcAft>
              <a:buSzPts val="2000"/>
              <a:buChar char="•"/>
            </a:pPr>
            <a:r>
              <a:rPr lang="en-US"/>
              <a:t>EMC VNX</a:t>
            </a:r>
            <a:endParaRPr/>
          </a:p>
          <a:p>
            <a:pPr indent="-228600" lvl="0" marL="228600" rtl="0" algn="l">
              <a:spcBef>
                <a:spcPts val="1200"/>
              </a:spcBef>
              <a:spcAft>
                <a:spcPts val="0"/>
              </a:spcAft>
              <a:buSzPts val="2000"/>
              <a:buChar char="•"/>
            </a:pPr>
            <a:r>
              <a:rPr lang="en-US"/>
              <a:t>EMC ECS Appliance</a:t>
            </a:r>
            <a:endParaRPr/>
          </a:p>
          <a:p>
            <a:pPr indent="-228600" lvl="0" marL="228600" rtl="0" algn="l">
              <a:spcBef>
                <a:spcPts val="1200"/>
              </a:spcBef>
              <a:spcAft>
                <a:spcPts val="0"/>
              </a:spcAft>
              <a:buSzPts val="2000"/>
              <a:buChar char="•"/>
            </a:pPr>
            <a:r>
              <a:rPr lang="en-US"/>
              <a:t>EMC Isilon</a:t>
            </a:r>
            <a:endParaRPr/>
          </a:p>
          <a:p>
            <a:pPr indent="-228600" lvl="0" marL="228600" rtl="0" algn="l">
              <a:spcBef>
                <a:spcPts val="1200"/>
              </a:spcBef>
              <a:spcAft>
                <a:spcPts val="0"/>
              </a:spcAft>
              <a:buSzPts val="2000"/>
              <a:buChar char="•"/>
            </a:pPr>
            <a:r>
              <a:rPr lang="en-US"/>
              <a:t>EMC Atmos</a:t>
            </a:r>
            <a:endParaRPr/>
          </a:p>
          <a:p>
            <a:pPr indent="-228600" lvl="0" marL="228600" rtl="0" algn="l">
              <a:spcBef>
                <a:spcPts val="1200"/>
              </a:spcBef>
              <a:spcAft>
                <a:spcPts val="0"/>
              </a:spcAft>
              <a:buSzPts val="2000"/>
              <a:buChar char="•"/>
            </a:pPr>
            <a:r>
              <a:rPr lang="en-US"/>
              <a:t>EMC XtremIO</a:t>
            </a:r>
            <a:endParaRPr/>
          </a:p>
          <a:p>
            <a:pPr indent="-228600" lvl="0" marL="228600" rtl="0" algn="l">
              <a:spcBef>
                <a:spcPts val="1200"/>
              </a:spcBef>
              <a:spcAft>
                <a:spcPts val="0"/>
              </a:spcAft>
              <a:buSzPts val="2000"/>
              <a:buChar char="•"/>
            </a:pPr>
            <a:r>
              <a:rPr lang="en-US"/>
              <a:t>EMC Connectrix</a:t>
            </a:r>
            <a:endParaRPr/>
          </a:p>
        </p:txBody>
      </p:sp>
      <p:sp>
        <p:nvSpPr>
          <p:cNvPr id="699" name="Google Shape;699;p53"/>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54"/>
          <p:cNvSpPr txBox="1"/>
          <p:nvPr>
            <p:ph type="ctrTitle"/>
          </p:nvPr>
        </p:nvSpPr>
        <p:spPr>
          <a:xfrm>
            <a:off x="379413" y="228601"/>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EMC VMAX, EMC VNX, and EMC ECS Appliance</a:t>
            </a:r>
            <a:endParaRPr/>
          </a:p>
        </p:txBody>
      </p:sp>
      <p:sp>
        <p:nvSpPr>
          <p:cNvPr id="706" name="Google Shape;706;p54"/>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aphicFrame>
        <p:nvGraphicFramePr>
          <p:cNvPr id="707" name="Google Shape;707;p54"/>
          <p:cNvGraphicFramePr/>
          <p:nvPr/>
        </p:nvGraphicFramePr>
        <p:xfrm>
          <a:off x="379413" y="990600"/>
          <a:ext cx="3000000" cy="3000000"/>
        </p:xfrm>
        <a:graphic>
          <a:graphicData uri="http://schemas.openxmlformats.org/drawingml/2006/table">
            <a:tbl>
              <a:tblPr bandRow="1" firstRow="1">
                <a:noFill/>
                <a:tableStyleId>{E4650FC5-E597-48F4-9467-0DB7FBAA2536}</a:tableStyleId>
              </a:tblPr>
              <a:tblGrid>
                <a:gridCol w="2608400"/>
                <a:gridCol w="216025"/>
                <a:gridCol w="2664300"/>
                <a:gridCol w="216025"/>
                <a:gridCol w="2664300"/>
              </a:tblGrid>
              <a:tr h="370850">
                <a:tc>
                  <a:txBody>
                    <a:bodyPr/>
                    <a:lstStyle/>
                    <a:p>
                      <a:pPr indent="0" lvl="0" marL="0" marR="0" rtl="0" algn="ctr">
                        <a:lnSpc>
                          <a:spcPct val="100000"/>
                        </a:lnSpc>
                        <a:spcBef>
                          <a:spcPts val="0"/>
                        </a:spcBef>
                        <a:spcAft>
                          <a:spcPts val="0"/>
                        </a:spcAft>
                        <a:buClr>
                          <a:schemeClr val="dk1"/>
                        </a:buClr>
                        <a:buSzPts val="1600"/>
                        <a:buFont typeface="Verdana"/>
                        <a:buNone/>
                      </a:pPr>
                      <a:r>
                        <a:rPr b="1" lang="en-US" sz="1600"/>
                        <a:t>VMAX</a:t>
                      </a:r>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600"/>
                        <a:buFont typeface="Verdana"/>
                        <a:buNone/>
                      </a:pPr>
                      <a:r>
                        <a:t/>
                      </a:r>
                      <a:endParaRPr b="1" sz="1600"/>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600"/>
                        <a:buFont typeface="Verdana"/>
                        <a:buNone/>
                      </a:pPr>
                      <a:r>
                        <a:rPr b="1" lang="en-US" sz="1600"/>
                        <a:t>VNX</a:t>
                      </a:r>
                      <a:endParaRPr/>
                    </a:p>
                  </a:txBody>
                  <a:tcPr marT="45725" marB="45725" marR="91450" marL="91450" anchor="ctr"/>
                </a:tc>
                <a:tc>
                  <a:txBody>
                    <a:bodyPr/>
                    <a:lstStyle/>
                    <a:p>
                      <a:pPr indent="0" lvl="0" marL="0" marR="0" rtl="0" algn="l">
                        <a:spcBef>
                          <a:spcPts val="0"/>
                        </a:spcBef>
                        <a:spcAft>
                          <a:spcPts val="0"/>
                        </a:spcAft>
                        <a:buNone/>
                      </a:pPr>
                      <a:r>
                        <a:t/>
                      </a:r>
                      <a:endParaRPr sz="1600"/>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600"/>
                        <a:buFont typeface="Verdana"/>
                        <a:buNone/>
                      </a:pPr>
                      <a:r>
                        <a:rPr b="1" lang="en-US" sz="1600"/>
                        <a:t>ECS Appliance</a:t>
                      </a:r>
                      <a:endParaRPr/>
                    </a:p>
                  </a:txBody>
                  <a:tcPr marT="45725" marB="45725" marR="91450" marL="91450" anchor="ctr"/>
                </a:tc>
              </a:tr>
              <a:tr h="370850">
                <a:tc>
                  <a:txBody>
                    <a:bodyPr/>
                    <a:lstStyle/>
                    <a:p>
                      <a:pPr indent="-171450" lvl="1" marL="171450" marR="0" rtl="0" algn="l">
                        <a:lnSpc>
                          <a:spcPct val="100000"/>
                        </a:lnSpc>
                        <a:spcBef>
                          <a:spcPts val="0"/>
                        </a:spcBef>
                        <a:spcAft>
                          <a:spcPts val="0"/>
                        </a:spcAft>
                        <a:buClr>
                          <a:schemeClr val="dk1"/>
                        </a:buClr>
                        <a:buSzPts val="1600"/>
                        <a:buFont typeface="Verdana"/>
                        <a:buChar char="•"/>
                      </a:pPr>
                      <a:r>
                        <a:rPr lang="en-US" sz="1600" u="none" cap="none" strike="noStrike"/>
                        <a:t>Family of high-end enterprise storage platforms </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Block-based storage systems for mission-critical applications</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High performance, reliability, availability, and scalability</a:t>
                      </a:r>
                      <a:endParaRPr/>
                    </a:p>
                  </a:txBody>
                  <a:tcPr marT="45725" marB="45725" marR="91450" marL="91450">
                    <a:solidFill>
                      <a:srgbClr val="BABCBE"/>
                    </a:solidFill>
                  </a:tcPr>
                </a:tc>
                <a:tc>
                  <a:txBody>
                    <a:bodyPr/>
                    <a:lstStyle/>
                    <a:p>
                      <a:pPr indent="-196850" lvl="2" marL="742950" marR="0" rtl="0" algn="l">
                        <a:lnSpc>
                          <a:spcPct val="90000"/>
                        </a:lnSpc>
                        <a:spcBef>
                          <a:spcPts val="0"/>
                        </a:spcBef>
                        <a:spcAft>
                          <a:spcPts val="0"/>
                        </a:spcAft>
                        <a:buClr>
                          <a:schemeClr val="dk1"/>
                        </a:buClr>
                        <a:buSzPts val="1400"/>
                        <a:buFont typeface="Noto Sans Symbols"/>
                        <a:buNone/>
                      </a:pPr>
                      <a:r>
                        <a:t/>
                      </a:r>
                      <a:endParaRPr sz="1400" u="none" cap="none" strike="noStrike"/>
                    </a:p>
                  </a:txBody>
                  <a:tcPr marT="45725" marB="45725" marR="91450" marL="91450"/>
                </a:tc>
                <a:tc>
                  <a:txBody>
                    <a:bodyPr/>
                    <a:lstStyle/>
                    <a:p>
                      <a:pPr indent="-171450" lvl="1" marL="171450" marR="0" rtl="0" algn="l">
                        <a:lnSpc>
                          <a:spcPct val="100000"/>
                        </a:lnSpc>
                        <a:spcBef>
                          <a:spcPts val="0"/>
                        </a:spcBef>
                        <a:spcAft>
                          <a:spcPts val="0"/>
                        </a:spcAft>
                        <a:buClr>
                          <a:schemeClr val="dk1"/>
                        </a:buClr>
                        <a:buSzPts val="1600"/>
                        <a:buFont typeface="Verdana"/>
                        <a:buChar char="•"/>
                      </a:pPr>
                      <a:r>
                        <a:rPr lang="en-US" sz="1600" u="none" cap="none" strike="noStrike"/>
                        <a:t>Family of unified storage platforms</a:t>
                      </a:r>
                      <a:endParaRPr/>
                    </a:p>
                    <a:p>
                      <a:pPr indent="-177800" lvl="2" marL="357188" marR="0" rtl="0" algn="l">
                        <a:lnSpc>
                          <a:spcPct val="100000"/>
                        </a:lnSpc>
                        <a:spcBef>
                          <a:spcPts val="240"/>
                        </a:spcBef>
                        <a:spcAft>
                          <a:spcPts val="0"/>
                        </a:spcAft>
                        <a:buClr>
                          <a:schemeClr val="dk1"/>
                        </a:buClr>
                        <a:buSzPts val="1400"/>
                        <a:buFont typeface="Verdana"/>
                        <a:buChar char="-"/>
                      </a:pPr>
                      <a:r>
                        <a:rPr lang="en-US" sz="1400" u="none" cap="none" strike="noStrike"/>
                        <a:t>Consolidates block, file, and object access</a:t>
                      </a:r>
                      <a:endParaRPr/>
                    </a:p>
                    <a:p>
                      <a:pPr indent="-171450" lvl="1" marL="171450" marR="0" rtl="0" algn="l">
                        <a:lnSpc>
                          <a:spcPct val="100000"/>
                        </a:lnSpc>
                        <a:spcBef>
                          <a:spcPts val="1410"/>
                        </a:spcBef>
                        <a:spcAft>
                          <a:spcPts val="0"/>
                        </a:spcAft>
                        <a:buClr>
                          <a:schemeClr val="dk1"/>
                        </a:buClr>
                        <a:buSzPts val="1600"/>
                        <a:buFont typeface="Verdana"/>
                        <a:buChar char="•"/>
                      </a:pPr>
                      <a:r>
                        <a:rPr lang="en-US" sz="1600" u="none" cap="none" strike="noStrike"/>
                        <a:t>Built for SMBs and enterprises</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Supports file (NFS and CIFS), FC, iSCSI, and FCoE access</a:t>
                      </a:r>
                      <a:endParaRPr/>
                    </a:p>
                  </a:txBody>
                  <a:tcPr marT="45725" marB="45725" marR="91450" marL="91450">
                    <a:solidFill>
                      <a:srgbClr val="BABCBE"/>
                    </a:solidFill>
                  </a:tcPr>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171450" lvl="1" marL="171450" marR="0" rtl="0" algn="l">
                        <a:lnSpc>
                          <a:spcPct val="100000"/>
                        </a:lnSpc>
                        <a:spcBef>
                          <a:spcPts val="0"/>
                        </a:spcBef>
                        <a:spcAft>
                          <a:spcPts val="0"/>
                        </a:spcAft>
                        <a:buClr>
                          <a:schemeClr val="dk1"/>
                        </a:buClr>
                        <a:buSzPts val="1600"/>
                        <a:buFont typeface="Verdana"/>
                        <a:buChar char="•"/>
                      </a:pPr>
                      <a:r>
                        <a:rPr lang="en-US" sz="1600" u="none" cap="none" strike="noStrike"/>
                        <a:t>Hyper-scale storage infrastructure</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Supports block, file, object, and HDFS</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Provides multi-tenancy, self-service portal, and metering capabilities</a:t>
                      </a:r>
                      <a:endParaRPr/>
                    </a:p>
                  </a:txBody>
                  <a:tcPr marT="45725" marB="45725" marR="91450" marL="91450">
                    <a:solidFill>
                      <a:srgbClr val="BABCBE"/>
                    </a:solid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55"/>
          <p:cNvSpPr txBox="1"/>
          <p:nvPr>
            <p:ph type="ctrTitle"/>
          </p:nvPr>
        </p:nvSpPr>
        <p:spPr>
          <a:xfrm>
            <a:off x="379413" y="228601"/>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EMC Isilon and EMC Atmos</a:t>
            </a:r>
            <a:endParaRPr/>
          </a:p>
        </p:txBody>
      </p:sp>
      <p:sp>
        <p:nvSpPr>
          <p:cNvPr id="714" name="Google Shape;714;p55"/>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aphicFrame>
        <p:nvGraphicFramePr>
          <p:cNvPr id="715" name="Google Shape;715;p55"/>
          <p:cNvGraphicFramePr/>
          <p:nvPr/>
        </p:nvGraphicFramePr>
        <p:xfrm>
          <a:off x="379413" y="990600"/>
          <a:ext cx="3000000" cy="3000000"/>
        </p:xfrm>
        <a:graphic>
          <a:graphicData uri="http://schemas.openxmlformats.org/drawingml/2006/table">
            <a:tbl>
              <a:tblPr bandRow="1" firstRow="1">
                <a:noFill/>
                <a:tableStyleId>{E4650FC5-E597-48F4-9467-0DB7FBAA2536}</a:tableStyleId>
              </a:tblPr>
              <a:tblGrid>
                <a:gridCol w="4120575"/>
                <a:gridCol w="216025"/>
                <a:gridCol w="4121600"/>
              </a:tblGrid>
              <a:tr h="370850">
                <a:tc>
                  <a:txBody>
                    <a:bodyPr/>
                    <a:lstStyle/>
                    <a:p>
                      <a:pPr indent="0" lvl="0" marL="0" marR="0" rtl="0" algn="ctr">
                        <a:lnSpc>
                          <a:spcPct val="100000"/>
                        </a:lnSpc>
                        <a:spcBef>
                          <a:spcPts val="0"/>
                        </a:spcBef>
                        <a:spcAft>
                          <a:spcPts val="0"/>
                        </a:spcAft>
                        <a:buClr>
                          <a:schemeClr val="dk1"/>
                        </a:buClr>
                        <a:buSzPts val="1600"/>
                        <a:buFont typeface="Verdana"/>
                        <a:buNone/>
                      </a:pPr>
                      <a:r>
                        <a:rPr b="1" lang="en-US" sz="1600"/>
                        <a:t>Isilon</a:t>
                      </a:r>
                      <a:endParaRPr b="1" sz="1600"/>
                    </a:p>
                  </a:txBody>
                  <a:tcPr marT="45725" marB="45725" marR="91450" marL="91450" anchor="ctr"/>
                </a:tc>
                <a:tc>
                  <a:txBody>
                    <a:bodyPr/>
                    <a:lstStyle/>
                    <a:p>
                      <a:pPr indent="0" lvl="0" marL="0" marR="0" rtl="0" algn="l">
                        <a:spcBef>
                          <a:spcPts val="0"/>
                        </a:spcBef>
                        <a:spcAft>
                          <a:spcPts val="0"/>
                        </a:spcAft>
                        <a:buNone/>
                      </a:pPr>
                      <a:r>
                        <a:t/>
                      </a:r>
                      <a:endParaRPr sz="1600"/>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600"/>
                        <a:buFont typeface="Verdana"/>
                        <a:buNone/>
                      </a:pPr>
                      <a:r>
                        <a:rPr b="1" lang="en-US" sz="1600"/>
                        <a:t>Atmos</a:t>
                      </a:r>
                      <a:endParaRPr b="1" sz="1600"/>
                    </a:p>
                  </a:txBody>
                  <a:tcPr marT="45725" marB="45725" marR="91450" marL="91450" anchor="ctr"/>
                </a:tc>
              </a:tr>
              <a:tr h="370850">
                <a:tc>
                  <a:txBody>
                    <a:bodyPr/>
                    <a:lstStyle/>
                    <a:p>
                      <a:pPr indent="-171450" lvl="1" marL="171450" marR="0" rtl="0" algn="l">
                        <a:lnSpc>
                          <a:spcPct val="100000"/>
                        </a:lnSpc>
                        <a:spcBef>
                          <a:spcPts val="0"/>
                        </a:spcBef>
                        <a:spcAft>
                          <a:spcPts val="0"/>
                        </a:spcAft>
                        <a:buClr>
                          <a:schemeClr val="dk1"/>
                        </a:buClr>
                        <a:buSzPts val="1600"/>
                        <a:buFont typeface="Verdana"/>
                        <a:buChar char="•"/>
                      </a:pPr>
                      <a:r>
                        <a:rPr lang="en-US" sz="1600" u="none" cap="none" strike="noStrike"/>
                        <a:t>Scale-out NAS storage platform</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Enables pooling multiple nodes to construct a clustered NAS system</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OneFS operating environment creates single file system across the cluster</a:t>
                      </a:r>
                      <a:endParaRPr sz="1600" u="none" cap="none" strike="noStrike"/>
                    </a:p>
                  </a:txBody>
                  <a:tcPr marT="45725" marB="45725" marR="91450" marL="91450">
                    <a:solidFill>
                      <a:srgbClr val="BABCBE"/>
                    </a:solidFill>
                  </a:tcPr>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171450" lvl="1" marL="171450" marR="0" rtl="0" algn="l">
                        <a:lnSpc>
                          <a:spcPct val="100000"/>
                        </a:lnSpc>
                        <a:spcBef>
                          <a:spcPts val="0"/>
                        </a:spcBef>
                        <a:spcAft>
                          <a:spcPts val="0"/>
                        </a:spcAft>
                        <a:buClr>
                          <a:schemeClr val="dk1"/>
                        </a:buClr>
                        <a:buSzPts val="1600"/>
                        <a:buFont typeface="Verdana"/>
                        <a:buChar char="•"/>
                      </a:pPr>
                      <a:r>
                        <a:rPr lang="en-US" sz="1600" u="none" cap="none" strike="noStrike"/>
                        <a:t>Scale-out object-based cloud storage platform</a:t>
                      </a:r>
                      <a:endParaRPr/>
                    </a:p>
                    <a:p>
                      <a:pPr indent="-177800" lvl="2" marL="357188" marR="0" rtl="0" algn="l">
                        <a:lnSpc>
                          <a:spcPct val="100000"/>
                        </a:lnSpc>
                        <a:spcBef>
                          <a:spcPts val="240"/>
                        </a:spcBef>
                        <a:spcAft>
                          <a:spcPts val="0"/>
                        </a:spcAft>
                        <a:buClr>
                          <a:schemeClr val="dk1"/>
                        </a:buClr>
                        <a:buSzPts val="1400"/>
                        <a:buFont typeface="Verdana"/>
                        <a:buChar char="-"/>
                      </a:pPr>
                      <a:r>
                        <a:rPr lang="en-US" sz="1400" u="none" cap="none" strike="noStrike">
                          <a:solidFill>
                            <a:schemeClr val="dk1"/>
                          </a:solidFill>
                          <a:latin typeface="Verdana"/>
                          <a:ea typeface="Verdana"/>
                          <a:cs typeface="Verdana"/>
                          <a:sym typeface="Verdana"/>
                        </a:rPr>
                        <a:t>Stores data as objects</a:t>
                      </a:r>
                      <a:endParaRPr/>
                    </a:p>
                    <a:p>
                      <a:pPr indent="-171450" lvl="1" marL="171450" marR="0" rtl="0" algn="l">
                        <a:lnSpc>
                          <a:spcPct val="100000"/>
                        </a:lnSpc>
                        <a:spcBef>
                          <a:spcPts val="1410"/>
                        </a:spcBef>
                        <a:spcAft>
                          <a:spcPts val="0"/>
                        </a:spcAft>
                        <a:buClr>
                          <a:schemeClr val="dk1"/>
                        </a:buClr>
                        <a:buSzPts val="1600"/>
                        <a:buFont typeface="Verdana"/>
                        <a:buChar char="•"/>
                      </a:pPr>
                      <a:r>
                        <a:rPr lang="en-US" sz="1600" u="none" cap="none" strike="noStrike"/>
                        <a:t>Seamless scale out</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Key cloud features include:</a:t>
                      </a:r>
                      <a:endParaRPr/>
                    </a:p>
                    <a:p>
                      <a:pPr indent="-177800" lvl="2" marL="357188" marR="0" rtl="0" algn="l">
                        <a:lnSpc>
                          <a:spcPct val="100000"/>
                        </a:lnSpc>
                        <a:spcBef>
                          <a:spcPts val="240"/>
                        </a:spcBef>
                        <a:spcAft>
                          <a:spcPts val="0"/>
                        </a:spcAft>
                        <a:buClr>
                          <a:schemeClr val="dk1"/>
                        </a:buClr>
                        <a:buSzPts val="1400"/>
                        <a:buFont typeface="Verdana"/>
                        <a:buChar char="-"/>
                      </a:pPr>
                      <a:r>
                        <a:rPr lang="en-US" sz="1400" u="none" cap="none" strike="noStrike">
                          <a:solidFill>
                            <a:schemeClr val="dk1"/>
                          </a:solidFill>
                          <a:latin typeface="Verdana"/>
                          <a:ea typeface="Verdana"/>
                          <a:cs typeface="Verdana"/>
                          <a:sym typeface="Verdana"/>
                        </a:rPr>
                        <a:t>Global namespace </a:t>
                      </a:r>
                      <a:endParaRPr/>
                    </a:p>
                    <a:p>
                      <a:pPr indent="-177800" lvl="2" marL="357188" marR="0" rtl="0" algn="l">
                        <a:lnSpc>
                          <a:spcPct val="100000"/>
                        </a:lnSpc>
                        <a:spcBef>
                          <a:spcPts val="210"/>
                        </a:spcBef>
                        <a:spcAft>
                          <a:spcPts val="0"/>
                        </a:spcAft>
                        <a:buClr>
                          <a:schemeClr val="dk1"/>
                        </a:buClr>
                        <a:buSzPts val="1400"/>
                        <a:buFont typeface="Verdana"/>
                        <a:buChar char="-"/>
                      </a:pPr>
                      <a:r>
                        <a:rPr lang="en-US" sz="1400" u="none" cap="none" strike="noStrike">
                          <a:solidFill>
                            <a:schemeClr val="dk1"/>
                          </a:solidFill>
                          <a:latin typeface="Verdana"/>
                          <a:ea typeface="Verdana"/>
                          <a:cs typeface="Verdana"/>
                          <a:sym typeface="Verdana"/>
                        </a:rPr>
                        <a:t>REST API-driven storage</a:t>
                      </a:r>
                      <a:endParaRPr/>
                    </a:p>
                    <a:p>
                      <a:pPr indent="-177800" lvl="2" marL="357188" marR="0" rtl="0" algn="l">
                        <a:lnSpc>
                          <a:spcPct val="100000"/>
                        </a:lnSpc>
                        <a:spcBef>
                          <a:spcPts val="210"/>
                        </a:spcBef>
                        <a:spcAft>
                          <a:spcPts val="0"/>
                        </a:spcAft>
                        <a:buClr>
                          <a:schemeClr val="dk1"/>
                        </a:buClr>
                        <a:buSzPts val="1400"/>
                        <a:buFont typeface="Verdana"/>
                        <a:buChar char="-"/>
                      </a:pPr>
                      <a:r>
                        <a:rPr lang="en-US" sz="1400" u="none" cap="none" strike="noStrike">
                          <a:solidFill>
                            <a:schemeClr val="dk1"/>
                          </a:solidFill>
                          <a:latin typeface="Verdana"/>
                          <a:ea typeface="Verdana"/>
                          <a:cs typeface="Verdana"/>
                          <a:sym typeface="Verdana"/>
                        </a:rPr>
                        <a:t>Multi-tenancy, metering, and self-service across tenants</a:t>
                      </a:r>
                      <a:endParaRPr/>
                    </a:p>
                    <a:p>
                      <a:pPr indent="-177800" lvl="2" marL="357188" marR="0" rtl="0" algn="l">
                        <a:lnSpc>
                          <a:spcPct val="100000"/>
                        </a:lnSpc>
                        <a:spcBef>
                          <a:spcPts val="210"/>
                        </a:spcBef>
                        <a:spcAft>
                          <a:spcPts val="0"/>
                        </a:spcAft>
                        <a:buClr>
                          <a:schemeClr val="dk1"/>
                        </a:buClr>
                        <a:buSzPts val="1400"/>
                        <a:buFont typeface="Verdana"/>
                        <a:buChar char="-"/>
                      </a:pPr>
                      <a:r>
                        <a:rPr lang="en-US" sz="1400" u="none" cap="none" strike="noStrike">
                          <a:solidFill>
                            <a:schemeClr val="dk1"/>
                          </a:solidFill>
                          <a:latin typeface="Verdana"/>
                          <a:ea typeface="Verdana"/>
                          <a:cs typeface="Verdana"/>
                          <a:sym typeface="Verdana"/>
                        </a:rPr>
                        <a:t>Metering and chargeback</a:t>
                      </a:r>
                      <a:endParaRPr/>
                    </a:p>
                  </a:txBody>
                  <a:tcPr marT="45725" marB="45725" marR="91450" marL="91450">
                    <a:solidFill>
                      <a:srgbClr val="BABCBE"/>
                    </a:solidFill>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56"/>
          <p:cNvSpPr txBox="1"/>
          <p:nvPr>
            <p:ph type="ctrTitle"/>
          </p:nvPr>
        </p:nvSpPr>
        <p:spPr>
          <a:xfrm>
            <a:off x="379413" y="228601"/>
            <a:ext cx="8458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2"/>
              </a:buClr>
              <a:buSzPts val="2800"/>
              <a:buFont typeface="Verdana"/>
              <a:buNone/>
            </a:pPr>
            <a:r>
              <a:rPr lang="en-US"/>
              <a:t>EMC XtremIO and EMC Connectrix</a:t>
            </a:r>
            <a:endParaRPr/>
          </a:p>
        </p:txBody>
      </p:sp>
      <p:sp>
        <p:nvSpPr>
          <p:cNvPr id="722" name="Google Shape;722;p56"/>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graphicFrame>
        <p:nvGraphicFramePr>
          <p:cNvPr id="723" name="Google Shape;723;p56"/>
          <p:cNvGraphicFramePr/>
          <p:nvPr/>
        </p:nvGraphicFramePr>
        <p:xfrm>
          <a:off x="379413" y="990600"/>
          <a:ext cx="3000000" cy="3000000"/>
        </p:xfrm>
        <a:graphic>
          <a:graphicData uri="http://schemas.openxmlformats.org/drawingml/2006/table">
            <a:tbl>
              <a:tblPr bandRow="1" firstRow="1">
                <a:noFill/>
                <a:tableStyleId>{E4650FC5-E597-48F4-9467-0DB7FBAA2536}</a:tableStyleId>
              </a:tblPr>
              <a:tblGrid>
                <a:gridCol w="4120575"/>
                <a:gridCol w="216025"/>
                <a:gridCol w="4121600"/>
              </a:tblGrid>
              <a:tr h="370850">
                <a:tc>
                  <a:txBody>
                    <a:bodyPr/>
                    <a:lstStyle/>
                    <a:p>
                      <a:pPr indent="0" lvl="0" marL="0" marR="0" rtl="0" algn="ctr">
                        <a:lnSpc>
                          <a:spcPct val="100000"/>
                        </a:lnSpc>
                        <a:spcBef>
                          <a:spcPts val="0"/>
                        </a:spcBef>
                        <a:spcAft>
                          <a:spcPts val="0"/>
                        </a:spcAft>
                        <a:buClr>
                          <a:schemeClr val="dk1"/>
                        </a:buClr>
                        <a:buSzPts val="1600"/>
                        <a:buFont typeface="Verdana"/>
                        <a:buNone/>
                      </a:pPr>
                      <a:r>
                        <a:rPr b="1" lang="en-US" sz="1600"/>
                        <a:t>XtremIO</a:t>
                      </a:r>
                      <a:endParaRPr b="1" sz="1600"/>
                    </a:p>
                  </a:txBody>
                  <a:tcPr marT="45725" marB="45725" marR="91450" marL="91450" anchor="ctr"/>
                </a:tc>
                <a:tc>
                  <a:txBody>
                    <a:bodyPr/>
                    <a:lstStyle/>
                    <a:p>
                      <a:pPr indent="0" lvl="0" marL="0" marR="0" rtl="0" algn="l">
                        <a:spcBef>
                          <a:spcPts val="0"/>
                        </a:spcBef>
                        <a:spcAft>
                          <a:spcPts val="0"/>
                        </a:spcAft>
                        <a:buNone/>
                      </a:pPr>
                      <a:r>
                        <a:t/>
                      </a:r>
                      <a:endParaRPr sz="1600"/>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600"/>
                        <a:buFont typeface="Verdana"/>
                        <a:buNone/>
                      </a:pPr>
                      <a:r>
                        <a:rPr b="1" lang="en-US" sz="1600"/>
                        <a:t>Connectrix</a:t>
                      </a:r>
                      <a:endParaRPr b="1" sz="1600"/>
                    </a:p>
                  </a:txBody>
                  <a:tcPr marT="45725" marB="45725" marR="91450" marL="91450" anchor="ctr"/>
                </a:tc>
              </a:tr>
              <a:tr h="370850">
                <a:tc>
                  <a:txBody>
                    <a:bodyPr/>
                    <a:lstStyle/>
                    <a:p>
                      <a:pPr indent="-171450" lvl="1" marL="171450" marR="0" rtl="0" algn="l">
                        <a:lnSpc>
                          <a:spcPct val="100000"/>
                        </a:lnSpc>
                        <a:spcBef>
                          <a:spcPts val="0"/>
                        </a:spcBef>
                        <a:spcAft>
                          <a:spcPts val="0"/>
                        </a:spcAft>
                        <a:buClr>
                          <a:schemeClr val="dk1"/>
                        </a:buClr>
                        <a:buSzPts val="1600"/>
                        <a:buFont typeface="Verdana"/>
                        <a:buChar char="•"/>
                      </a:pPr>
                      <a:r>
                        <a:rPr lang="en-US" sz="1600" u="none" cap="none" strike="noStrike"/>
                        <a:t>All-flash, block-based, scale-out enterprise storage array</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Uses a clustered design to grow capacity and performance as required</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A powerful OS (XIOS) manages the storage cluster</a:t>
                      </a:r>
                      <a:endParaRPr/>
                    </a:p>
                    <a:p>
                      <a:pPr indent="-171450" lvl="1" marL="171450" marR="0" rtl="0" algn="l">
                        <a:lnSpc>
                          <a:spcPct val="100000"/>
                        </a:lnSpc>
                        <a:spcBef>
                          <a:spcPts val="1440"/>
                        </a:spcBef>
                        <a:spcAft>
                          <a:spcPts val="0"/>
                        </a:spcAft>
                        <a:buClr>
                          <a:schemeClr val="dk1"/>
                        </a:buClr>
                        <a:buSzPts val="1600"/>
                        <a:buFont typeface="Verdana"/>
                        <a:buChar char="•"/>
                      </a:pPr>
                      <a:r>
                        <a:rPr lang="en-US" sz="1600" u="none" cap="none" strike="noStrike"/>
                        <a:t>Simplified and efficient provisioning and management</a:t>
                      </a:r>
                      <a:endParaRPr/>
                    </a:p>
                  </a:txBody>
                  <a:tcPr marT="45725" marB="45725" marR="91450" marL="91450">
                    <a:solidFill>
                      <a:srgbClr val="BABCBE"/>
                    </a:solidFill>
                  </a:tcPr>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171450" lvl="1" marL="171450" marR="0" rtl="0" algn="l">
                        <a:lnSpc>
                          <a:spcPct val="100000"/>
                        </a:lnSpc>
                        <a:spcBef>
                          <a:spcPts val="0"/>
                        </a:spcBef>
                        <a:spcAft>
                          <a:spcPts val="0"/>
                        </a:spcAft>
                        <a:buClr>
                          <a:schemeClr val="dk1"/>
                        </a:buClr>
                        <a:buSzPts val="1600"/>
                        <a:buFont typeface="Verdana"/>
                        <a:buChar char="•"/>
                      </a:pPr>
                      <a:r>
                        <a:rPr lang="en-US" sz="1600" u="none" cap="none" strike="noStrike"/>
                        <a:t>Family of networked storage connectivity products including:</a:t>
                      </a:r>
                      <a:endParaRPr/>
                    </a:p>
                    <a:p>
                      <a:pPr indent="-177800" lvl="2" marL="357188" marR="0" rtl="0" algn="l">
                        <a:lnSpc>
                          <a:spcPct val="100000"/>
                        </a:lnSpc>
                        <a:spcBef>
                          <a:spcPts val="240"/>
                        </a:spcBef>
                        <a:spcAft>
                          <a:spcPts val="0"/>
                        </a:spcAft>
                        <a:buClr>
                          <a:schemeClr val="dk1"/>
                        </a:buClr>
                        <a:buSzPts val="1400"/>
                        <a:buFont typeface="Verdana"/>
                        <a:buChar char="-"/>
                      </a:pPr>
                      <a:r>
                        <a:rPr lang="en-US" sz="1400" u="none" cap="none" strike="noStrike">
                          <a:solidFill>
                            <a:schemeClr val="dk1"/>
                          </a:solidFill>
                          <a:latin typeface="Verdana"/>
                          <a:ea typeface="Verdana"/>
                          <a:cs typeface="Verdana"/>
                          <a:sym typeface="Verdana"/>
                        </a:rPr>
                        <a:t>Enterprise directors</a:t>
                      </a:r>
                      <a:endParaRPr/>
                    </a:p>
                    <a:p>
                      <a:pPr indent="-177800" lvl="2" marL="357188" marR="0" rtl="0" algn="l">
                        <a:lnSpc>
                          <a:spcPct val="100000"/>
                        </a:lnSpc>
                        <a:spcBef>
                          <a:spcPts val="210"/>
                        </a:spcBef>
                        <a:spcAft>
                          <a:spcPts val="0"/>
                        </a:spcAft>
                        <a:buClr>
                          <a:schemeClr val="dk1"/>
                        </a:buClr>
                        <a:buSzPts val="1400"/>
                        <a:buFont typeface="Verdana"/>
                        <a:buChar char="-"/>
                      </a:pPr>
                      <a:r>
                        <a:rPr lang="en-US" sz="1400" u="none" cap="none" strike="noStrike">
                          <a:solidFill>
                            <a:schemeClr val="dk1"/>
                          </a:solidFill>
                          <a:latin typeface="Verdana"/>
                          <a:ea typeface="Verdana"/>
                          <a:cs typeface="Verdana"/>
                          <a:sym typeface="Verdana"/>
                        </a:rPr>
                        <a:t>Departmental switches</a:t>
                      </a:r>
                      <a:endParaRPr/>
                    </a:p>
                    <a:p>
                      <a:pPr indent="-177800" lvl="2" marL="357188" marR="0" rtl="0" algn="l">
                        <a:lnSpc>
                          <a:spcPct val="100000"/>
                        </a:lnSpc>
                        <a:spcBef>
                          <a:spcPts val="210"/>
                        </a:spcBef>
                        <a:spcAft>
                          <a:spcPts val="0"/>
                        </a:spcAft>
                        <a:buClr>
                          <a:schemeClr val="dk1"/>
                        </a:buClr>
                        <a:buSzPts val="1400"/>
                        <a:buFont typeface="Verdana"/>
                        <a:buChar char="-"/>
                      </a:pPr>
                      <a:r>
                        <a:rPr lang="en-US" sz="1400" u="none" cap="none" strike="noStrike">
                          <a:solidFill>
                            <a:schemeClr val="dk1"/>
                          </a:solidFill>
                          <a:latin typeface="Verdana"/>
                          <a:ea typeface="Verdana"/>
                          <a:cs typeface="Verdana"/>
                          <a:sym typeface="Verdana"/>
                        </a:rPr>
                        <a:t>Multi-purpose switches</a:t>
                      </a:r>
                      <a:endParaRPr/>
                    </a:p>
                    <a:p>
                      <a:pPr indent="-171450" lvl="1" marL="171450" marR="0" rtl="0" algn="l">
                        <a:lnSpc>
                          <a:spcPct val="100000"/>
                        </a:lnSpc>
                        <a:spcBef>
                          <a:spcPts val="1410"/>
                        </a:spcBef>
                        <a:spcAft>
                          <a:spcPts val="0"/>
                        </a:spcAft>
                        <a:buClr>
                          <a:schemeClr val="dk1"/>
                        </a:buClr>
                        <a:buSzPts val="1600"/>
                        <a:buFont typeface="Verdana"/>
                        <a:buChar char="•"/>
                      </a:pPr>
                      <a:r>
                        <a:rPr lang="en-US" sz="1600" u="none" cap="none" strike="noStrike"/>
                        <a:t>Multi-purpose switches support FC, iSCSI, FCIP, and FCoE protocols</a:t>
                      </a:r>
                      <a:endParaRPr/>
                    </a:p>
                  </a:txBody>
                  <a:tcPr marT="45725" marB="45725" marR="91450" marL="91450">
                    <a:solidFill>
                      <a:srgbClr val="BABCBE"/>
                    </a:solid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57"/>
          <p:cNvSpPr txBox="1"/>
          <p:nvPr>
            <p:ph type="ctrTitle"/>
          </p:nvPr>
        </p:nvSpPr>
        <p:spPr>
          <a:xfrm>
            <a:off x="533401" y="514350"/>
            <a:ext cx="8077200" cy="457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2C95DD"/>
              </a:buClr>
              <a:buSzPts val="2800"/>
              <a:buFont typeface="Verdana"/>
              <a:buNone/>
            </a:pPr>
            <a:r>
              <a:rPr lang="en-US">
                <a:solidFill>
                  <a:srgbClr val="2C95DD"/>
                </a:solidFill>
              </a:rPr>
              <a:t>Module Summary</a:t>
            </a:r>
            <a:endParaRPr/>
          </a:p>
        </p:txBody>
      </p:sp>
      <p:sp>
        <p:nvSpPr>
          <p:cNvPr id="730" name="Google Shape;730;p57"/>
          <p:cNvSpPr txBox="1"/>
          <p:nvPr>
            <p:ph idx="1" type="body"/>
          </p:nvPr>
        </p:nvSpPr>
        <p:spPr>
          <a:xfrm>
            <a:off x="533400" y="1123950"/>
            <a:ext cx="8077200" cy="29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lang="en-US"/>
              <a:t>Key points covered in this module:</a:t>
            </a:r>
            <a:endParaRPr/>
          </a:p>
          <a:p>
            <a:pPr indent="-228600" lvl="0" marL="228600" rtl="0" algn="l">
              <a:spcBef>
                <a:spcPts val="1200"/>
              </a:spcBef>
              <a:spcAft>
                <a:spcPts val="0"/>
              </a:spcAft>
              <a:buSzPts val="2000"/>
              <a:buChar char="•"/>
            </a:pPr>
            <a:r>
              <a:rPr lang="en-US"/>
              <a:t>Compute system components and types</a:t>
            </a:r>
            <a:endParaRPr/>
          </a:p>
          <a:p>
            <a:pPr indent="-228600" lvl="0" marL="228600" rtl="0" algn="l">
              <a:spcBef>
                <a:spcPts val="1200"/>
              </a:spcBef>
              <a:spcAft>
                <a:spcPts val="0"/>
              </a:spcAft>
              <a:buSzPts val="2000"/>
              <a:buChar char="•"/>
            </a:pPr>
            <a:r>
              <a:rPr lang="en-US"/>
              <a:t>Types of storage devices, RAID techniques, and storage system architectures</a:t>
            </a:r>
            <a:endParaRPr/>
          </a:p>
          <a:p>
            <a:pPr indent="-228600" lvl="0" marL="228600" rtl="0" algn="l">
              <a:spcBef>
                <a:spcPts val="1200"/>
              </a:spcBef>
              <a:spcAft>
                <a:spcPts val="0"/>
              </a:spcAft>
              <a:buSzPts val="2000"/>
              <a:buChar char="•"/>
            </a:pPr>
            <a:r>
              <a:rPr lang="en-US"/>
              <a:t>Network connectivity and the types of network communication</a:t>
            </a:r>
            <a:endParaRPr/>
          </a:p>
        </p:txBody>
      </p:sp>
      <p:sp>
        <p:nvSpPr>
          <p:cNvPr id="731" name="Google Shape;731;p57"/>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6" name="Shape 736"/>
        <p:cNvGrpSpPr/>
        <p:nvPr/>
      </p:nvGrpSpPr>
      <p:grpSpPr>
        <a:xfrm>
          <a:off x="0" y="0"/>
          <a:ext cx="0" cy="0"/>
          <a:chOff x="0" y="0"/>
          <a:chExt cx="0" cy="0"/>
        </a:xfrm>
      </p:grpSpPr>
      <p:sp>
        <p:nvSpPr>
          <p:cNvPr id="737" name="Google Shape;737;p58"/>
          <p:cNvSpPr txBox="1"/>
          <p:nvPr>
            <p:ph idx="11" type="ftr"/>
          </p:nvPr>
        </p:nvSpPr>
        <p:spPr>
          <a:xfrm>
            <a:off x="2590800" y="4953000"/>
            <a:ext cx="5181600" cy="1333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Module: Physical Layer</a:t>
            </a:r>
            <a:endParaRPr/>
          </a:p>
        </p:txBody>
      </p:sp>
      <p:sp>
        <p:nvSpPr>
          <p:cNvPr id="738" name="Google Shape;738;p58"/>
          <p:cNvSpPr txBox="1"/>
          <p:nvPr/>
        </p:nvSpPr>
        <p:spPr>
          <a:xfrm>
            <a:off x="381000" y="2126218"/>
            <a:ext cx="8458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Verdana"/>
                <a:ea typeface="Verdana"/>
                <a:cs typeface="Verdana"/>
                <a:sym typeface="Verdana"/>
              </a:rPr>
              <a:t>This slide intentionally left blank.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311-16x9_ILT OILT VILT Template_Open Curriculum-20140630">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2014-07-11T06:28:53Z</dcterms:created>
  <dc:creator>Pramod Prasad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CAF1FF04-999F-4E95-9F8F-8B3DA587C448</vt:lpwstr>
  </property>
  <property fmtid="{D5CDD505-2E9C-101B-9397-08002B2CF9AE}" pid="3" name="ArticulatePath">
    <vt:lpwstr>2014 Template</vt:lpwstr>
  </property>
</Properties>
</file>