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60" r:id="rId3"/>
    <p:sldId id="261" r:id="rId4"/>
    <p:sldId id="262" r:id="rId5"/>
    <p:sldId id="269" r:id="rId6"/>
    <p:sldId id="263" r:id="rId7"/>
    <p:sldId id="264" r:id="rId8"/>
    <p:sldId id="265" r:id="rId9"/>
    <p:sldId id="266" r:id="rId10"/>
    <p:sldId id="268" r:id="rId11"/>
    <p:sldId id="270" r:id="rId12"/>
    <p:sldId id="271" r:id="rId13"/>
    <p:sldId id="272" r:id="rId14"/>
    <p:sldId id="273" r:id="rId15"/>
    <p:sldId id="274" r:id="rId16"/>
    <p:sldId id="275" r:id="rId17"/>
    <p:sldId id="276" r:id="rId18"/>
    <p:sldId id="259" r:id="rId19"/>
    <p:sldId id="267" r:id="rId20"/>
    <p:sldId id="277" r:id="rId21"/>
    <p:sldId id="279" r:id="rId22"/>
    <p:sldId id="280" r:id="rId23"/>
    <p:sldId id="281"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30728B1-BEE8-45A8-99B5-ACCFB02E7E9B}">
          <p14:sldIdLst>
            <p14:sldId id="256"/>
            <p14:sldId id="260"/>
            <p14:sldId id="261"/>
            <p14:sldId id="262"/>
            <p14:sldId id="269"/>
            <p14:sldId id="263"/>
            <p14:sldId id="264"/>
            <p14:sldId id="265"/>
            <p14:sldId id="266"/>
            <p14:sldId id="268"/>
            <p14:sldId id="270"/>
            <p14:sldId id="271"/>
            <p14:sldId id="272"/>
            <p14:sldId id="273"/>
            <p14:sldId id="274"/>
            <p14:sldId id="275"/>
            <p14:sldId id="276"/>
            <p14:sldId id="259"/>
            <p14:sldId id="267"/>
            <p14:sldId id="277"/>
            <p14:sldId id="279"/>
            <p14:sldId id="280"/>
            <p14:sldId id="28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I2zLJbBorCa+P19c3mKKKhhr2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931" autoAdjust="0"/>
  </p:normalViewPr>
  <p:slideViewPr>
    <p:cSldViewPr snapToGrid="0">
      <p:cViewPr varScale="1">
        <p:scale>
          <a:sx n="77" d="100"/>
          <a:sy n="77" d="100"/>
        </p:scale>
        <p:origin x="157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b992af582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86" name="Google Shape;86;gb992af582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Noto Sans Symbols"/>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Noto Sans Symbols"/>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Noto Sans Symbols"/>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Noto Sans Symbols"/>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Noto Sans Symbols"/>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5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05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888888"/>
                </a:solidFill>
                <a:latin typeface="Calibri"/>
                <a:ea typeface="Calibri"/>
                <a:cs typeface="Calibri"/>
                <a:sym typeface="Calibri"/>
              </a:defRPr>
            </a:lvl1pPr>
            <a:lvl2pPr marL="0" marR="0" lvl="1" indent="0" algn="r" rtl="0">
              <a:spcBef>
                <a:spcPts val="0"/>
              </a:spcBef>
              <a:buNone/>
              <a:defRPr sz="1050" b="0" i="0" u="none" strike="noStrike" cap="none">
                <a:solidFill>
                  <a:srgbClr val="888888"/>
                </a:solidFill>
                <a:latin typeface="Calibri"/>
                <a:ea typeface="Calibri"/>
                <a:cs typeface="Calibri"/>
                <a:sym typeface="Calibri"/>
              </a:defRPr>
            </a:lvl2pPr>
            <a:lvl3pPr marL="0" marR="0" lvl="2" indent="0" algn="r" rtl="0">
              <a:spcBef>
                <a:spcPts val="0"/>
              </a:spcBef>
              <a:buNone/>
              <a:defRPr sz="1050" b="0" i="0" u="none" strike="noStrike" cap="none">
                <a:solidFill>
                  <a:srgbClr val="888888"/>
                </a:solidFill>
                <a:latin typeface="Calibri"/>
                <a:ea typeface="Calibri"/>
                <a:cs typeface="Calibri"/>
                <a:sym typeface="Calibri"/>
              </a:defRPr>
            </a:lvl3pPr>
            <a:lvl4pPr marL="0" marR="0" lvl="3" indent="0" algn="r" rtl="0">
              <a:spcBef>
                <a:spcPts val="0"/>
              </a:spcBef>
              <a:buNone/>
              <a:defRPr sz="1050" b="0" i="0" u="none" strike="noStrike" cap="none">
                <a:solidFill>
                  <a:srgbClr val="888888"/>
                </a:solidFill>
                <a:latin typeface="Calibri"/>
                <a:ea typeface="Calibri"/>
                <a:cs typeface="Calibri"/>
                <a:sym typeface="Calibri"/>
              </a:defRPr>
            </a:lvl4pPr>
            <a:lvl5pPr marL="0" marR="0" lvl="4" indent="0" algn="r" rtl="0">
              <a:spcBef>
                <a:spcPts val="0"/>
              </a:spcBef>
              <a:buNone/>
              <a:defRPr sz="1050" b="0" i="0" u="none" strike="noStrike" cap="none">
                <a:solidFill>
                  <a:srgbClr val="888888"/>
                </a:solidFill>
                <a:latin typeface="Calibri"/>
                <a:ea typeface="Calibri"/>
                <a:cs typeface="Calibri"/>
                <a:sym typeface="Calibri"/>
              </a:defRPr>
            </a:lvl5pPr>
            <a:lvl6pPr marL="0" marR="0" lvl="5" indent="0" algn="r" rtl="0">
              <a:spcBef>
                <a:spcPts val="0"/>
              </a:spcBef>
              <a:buNone/>
              <a:defRPr sz="1050" b="0" i="0" u="none" strike="noStrike" cap="none">
                <a:solidFill>
                  <a:srgbClr val="888888"/>
                </a:solidFill>
                <a:latin typeface="Calibri"/>
                <a:ea typeface="Calibri"/>
                <a:cs typeface="Calibri"/>
                <a:sym typeface="Calibri"/>
              </a:defRPr>
            </a:lvl6pPr>
            <a:lvl7pPr marL="0" marR="0" lvl="6" indent="0" algn="r" rtl="0">
              <a:spcBef>
                <a:spcPts val="0"/>
              </a:spcBef>
              <a:buNone/>
              <a:defRPr sz="1050" b="0" i="0" u="none" strike="noStrike" cap="none">
                <a:solidFill>
                  <a:srgbClr val="888888"/>
                </a:solidFill>
                <a:latin typeface="Calibri"/>
                <a:ea typeface="Calibri"/>
                <a:cs typeface="Calibri"/>
                <a:sym typeface="Calibri"/>
              </a:defRPr>
            </a:lvl7pPr>
            <a:lvl8pPr marL="0" marR="0" lvl="7" indent="0" algn="r" rtl="0">
              <a:spcBef>
                <a:spcPts val="0"/>
              </a:spcBef>
              <a:buNone/>
              <a:defRPr sz="1050" b="0" i="0" u="none" strike="noStrike" cap="none">
                <a:solidFill>
                  <a:srgbClr val="888888"/>
                </a:solidFill>
                <a:latin typeface="Calibri"/>
                <a:ea typeface="Calibri"/>
                <a:cs typeface="Calibri"/>
                <a:sym typeface="Calibri"/>
              </a:defRPr>
            </a:lvl8pPr>
            <a:lvl9pPr marL="0" marR="0" lvl="8" indent="0" algn="r" rtl="0">
              <a:spcBef>
                <a:spcPts val="0"/>
              </a:spcBef>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b992af5822_0_0"/>
          <p:cNvSpPr txBox="1">
            <a:spLocks noGrp="1"/>
          </p:cNvSpPr>
          <p:nvPr>
            <p:ph type="ctrTitle"/>
          </p:nvPr>
        </p:nvSpPr>
        <p:spPr>
          <a:xfrm>
            <a:off x="778932" y="2241000"/>
            <a:ext cx="8195733" cy="1188000"/>
          </a:xfrm>
          <a:prstGeom prst="rect">
            <a:avLst/>
          </a:prstGeom>
          <a:noFill/>
          <a:ln>
            <a:noFill/>
          </a:ln>
        </p:spPr>
        <p:txBody>
          <a:bodyPr spcFirstLastPara="1" wrap="square" lIns="91425" tIns="45700" rIns="91425" bIns="45700" anchor="ctr" anchorCtr="0">
            <a:noAutofit/>
          </a:bodyPr>
          <a:lstStyle/>
          <a:p>
            <a:pPr lvl="0">
              <a:buSzPts val="3600"/>
            </a:pPr>
            <a:r>
              <a:rPr lang="en-IN" sz="3200" b="1" i="0" u="none" strike="noStrike" cap="none" dirty="0">
                <a:solidFill>
                  <a:schemeClr val="dk1"/>
                </a:solidFill>
                <a:latin typeface="Calibri"/>
                <a:ea typeface="Calibri"/>
                <a:cs typeface="Calibri"/>
                <a:sym typeface="Calibri"/>
              </a:rPr>
              <a:t>       </a:t>
            </a:r>
            <a:br>
              <a:rPr lang="en-IN" sz="3200" b="1" i="0" u="none" strike="noStrike" cap="none" dirty="0">
                <a:solidFill>
                  <a:schemeClr val="dk1"/>
                </a:solidFill>
                <a:latin typeface="Calibri"/>
                <a:ea typeface="Calibri"/>
                <a:cs typeface="Calibri"/>
                <a:sym typeface="Calibri"/>
              </a:rPr>
            </a:br>
            <a:r>
              <a:rPr lang="en-IN" sz="3200" b="1" i="0" u="none" strike="noStrike" cap="none" dirty="0">
                <a:solidFill>
                  <a:schemeClr val="dk1"/>
                </a:solidFill>
                <a:latin typeface="Calibri"/>
                <a:ea typeface="Calibri"/>
                <a:cs typeface="Calibri"/>
                <a:sym typeface="Calibri"/>
              </a:rPr>
              <a:t>B.Tech. C.E.</a:t>
            </a:r>
            <a:br>
              <a:rPr lang="en-IN" sz="3200" b="1" i="0" u="none" strike="noStrike" cap="none" dirty="0">
                <a:solidFill>
                  <a:schemeClr val="dk1"/>
                </a:solidFill>
                <a:latin typeface="Calibri"/>
                <a:ea typeface="Calibri"/>
                <a:cs typeface="Calibri"/>
                <a:sym typeface="Calibri"/>
              </a:rPr>
            </a:br>
            <a:r>
              <a:rPr lang="en-IN" sz="3200" b="1" i="0" u="none" strike="noStrike" cap="none" dirty="0">
                <a:solidFill>
                  <a:schemeClr val="dk1"/>
                </a:solidFill>
                <a:latin typeface="Calibri"/>
                <a:ea typeface="Calibri"/>
                <a:cs typeface="Calibri"/>
                <a:sym typeface="Calibri"/>
              </a:rPr>
              <a:t>Semester: </a:t>
            </a:r>
            <a:r>
              <a:rPr lang="en-IN" sz="3200" dirty="0"/>
              <a:t>VII</a:t>
            </a:r>
            <a:br>
              <a:rPr lang="en-IN" sz="3200" dirty="0"/>
            </a:br>
            <a:r>
              <a:rPr lang="en-IN" sz="3200" dirty="0"/>
              <a:t>Capstone project:</a:t>
            </a:r>
            <a:br>
              <a:rPr lang="en-IN" sz="3200" dirty="0"/>
            </a:br>
            <a:r>
              <a:rPr lang="en-IN" sz="3200" dirty="0" err="1"/>
              <a:t>PrepGen</a:t>
            </a:r>
            <a:r>
              <a:rPr lang="en-IN" sz="3200" dirty="0"/>
              <a:t>-</a:t>
            </a:r>
            <a:r>
              <a:rPr lang="en-US" sz="3200" dirty="0"/>
              <a:t> Smarter Learning, Powered by AI</a:t>
            </a:r>
            <a:br>
              <a:rPr lang="en-IN" sz="3200" dirty="0"/>
            </a:br>
            <a:br>
              <a:rPr lang="en-IN" sz="3200" dirty="0"/>
            </a:br>
            <a:br>
              <a:rPr lang="en-IN" sz="3200" b="1" i="0" u="none" strike="noStrike" cap="none" dirty="0">
                <a:solidFill>
                  <a:schemeClr val="dk1"/>
                </a:solidFill>
                <a:latin typeface="Calibri"/>
                <a:ea typeface="Calibri"/>
                <a:cs typeface="Calibri"/>
                <a:sym typeface="Calibri"/>
              </a:rPr>
            </a:br>
            <a:endParaRPr sz="3200" b="1" i="0" u="none" strike="noStrike" cap="none" dirty="0">
              <a:solidFill>
                <a:schemeClr val="dk1"/>
              </a:solidFill>
              <a:latin typeface="Calibri"/>
              <a:ea typeface="Calibri"/>
              <a:cs typeface="Calibri"/>
              <a:sym typeface="Calibri"/>
            </a:endParaRPr>
          </a:p>
        </p:txBody>
      </p:sp>
      <p:sp>
        <p:nvSpPr>
          <p:cNvPr id="89" name="Google Shape;89;gb992af5822_0_0"/>
          <p:cNvSpPr txBox="1">
            <a:spLocks noGrp="1"/>
          </p:cNvSpPr>
          <p:nvPr>
            <p:ph type="subTitle" idx="1"/>
          </p:nvPr>
        </p:nvSpPr>
        <p:spPr>
          <a:xfrm>
            <a:off x="903111" y="3897150"/>
            <a:ext cx="7783689" cy="1752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888888"/>
              </a:buClr>
              <a:buSzPts val="2400"/>
              <a:buNone/>
            </a:pPr>
            <a:endParaRPr sz="2200" b="0" i="0" u="none" strike="noStrike" cap="none" dirty="0">
              <a:solidFill>
                <a:schemeClr val="tx1">
                  <a:lumMod val="50000"/>
                  <a:lumOff val="50000"/>
                </a:schemeClr>
              </a:solidFill>
              <a:latin typeface="Calibri"/>
              <a:ea typeface="Calibri"/>
              <a:cs typeface="Calibri"/>
              <a:sym typeface="Calibri"/>
            </a:endParaRPr>
          </a:p>
          <a:p>
            <a:pPr marL="342900" marR="0" lvl="0" indent="-342900" algn="l" rtl="0">
              <a:lnSpc>
                <a:spcPct val="100000"/>
              </a:lnSpc>
              <a:spcBef>
                <a:spcPts val="0"/>
              </a:spcBef>
              <a:spcAft>
                <a:spcPts val="0"/>
              </a:spcAft>
              <a:buClr>
                <a:srgbClr val="888888"/>
              </a:buClr>
              <a:buSzPts val="2400"/>
              <a:buNone/>
            </a:pPr>
            <a:r>
              <a:rPr lang="en-IN" sz="2200" b="0" i="0" u="none" strike="noStrike" cap="none" dirty="0">
                <a:solidFill>
                  <a:schemeClr val="tx1">
                    <a:lumMod val="65000"/>
                    <a:lumOff val="35000"/>
                  </a:schemeClr>
                </a:solidFill>
                <a:latin typeface="Calibri"/>
                <a:ea typeface="Calibri"/>
                <a:cs typeface="Calibri"/>
                <a:sym typeface="Calibri"/>
              </a:rPr>
              <a:t>Presented by : Himadri Rathore</a:t>
            </a:r>
          </a:p>
          <a:p>
            <a:pPr marL="342900" marR="0" lvl="0" indent="-342900" algn="l" rtl="0">
              <a:lnSpc>
                <a:spcPct val="100000"/>
              </a:lnSpc>
              <a:spcBef>
                <a:spcPts val="0"/>
              </a:spcBef>
              <a:spcAft>
                <a:spcPts val="0"/>
              </a:spcAft>
              <a:buClr>
                <a:srgbClr val="888888"/>
              </a:buClr>
              <a:buSzPts val="2400"/>
              <a:buNone/>
            </a:pPr>
            <a:r>
              <a:rPr lang="en-IN" sz="2200" dirty="0">
                <a:solidFill>
                  <a:schemeClr val="tx1">
                    <a:lumMod val="65000"/>
                    <a:lumOff val="35000"/>
                  </a:schemeClr>
                </a:solidFill>
              </a:rPr>
              <a:t>                           Divyansh Bohra </a:t>
            </a:r>
          </a:p>
          <a:p>
            <a:pPr marL="342900" marR="0" lvl="0" indent="-342900" algn="l" rtl="0">
              <a:lnSpc>
                <a:spcPct val="100000"/>
              </a:lnSpc>
              <a:spcBef>
                <a:spcPts val="0"/>
              </a:spcBef>
              <a:spcAft>
                <a:spcPts val="0"/>
              </a:spcAft>
              <a:buClr>
                <a:srgbClr val="888888"/>
              </a:buClr>
              <a:buSzPts val="2400"/>
              <a:buNone/>
            </a:pPr>
            <a:r>
              <a:rPr lang="en-IN" sz="2200" b="0" i="0" u="none" strike="noStrike" cap="none" dirty="0">
                <a:solidFill>
                  <a:schemeClr val="tx1">
                    <a:lumMod val="65000"/>
                    <a:lumOff val="35000"/>
                  </a:schemeClr>
                </a:solidFill>
                <a:latin typeface="Calibri"/>
                <a:ea typeface="Calibri"/>
                <a:cs typeface="Calibri"/>
                <a:sym typeface="Calibri"/>
              </a:rPr>
              <a:t>                           Kalash Maheshwari</a:t>
            </a:r>
            <a:endParaRPr sz="2200" b="0" i="0" u="none" strike="noStrike" cap="none" dirty="0">
              <a:solidFill>
                <a:schemeClr val="tx1">
                  <a:lumMod val="65000"/>
                  <a:lumOff val="35000"/>
                </a:schemeClr>
              </a:solidFill>
              <a:latin typeface="Calibri"/>
              <a:ea typeface="Calibri"/>
              <a:cs typeface="Calibri"/>
              <a:sym typeface="Calibri"/>
            </a:endParaRPr>
          </a:p>
          <a:p>
            <a:pPr marL="0" lvl="0" indent="0" algn="l" rtl="0">
              <a:spcBef>
                <a:spcPts val="480"/>
              </a:spcBef>
              <a:spcAft>
                <a:spcPts val="0"/>
              </a:spcAft>
              <a:buNone/>
            </a:pPr>
            <a:r>
              <a:rPr lang="en-IN" sz="2200" dirty="0">
                <a:solidFill>
                  <a:schemeClr val="tx1">
                    <a:lumMod val="65000"/>
                    <a:lumOff val="35000"/>
                  </a:schemeClr>
                </a:solidFill>
              </a:rPr>
              <a:t>Faculty Mentor :</a:t>
            </a:r>
            <a:r>
              <a:rPr lang="en-IN" sz="2200" dirty="0" err="1">
                <a:solidFill>
                  <a:schemeClr val="tx1">
                    <a:lumMod val="65000"/>
                    <a:lumOff val="35000"/>
                  </a:schemeClr>
                </a:solidFill>
              </a:rPr>
              <a:t>Dr.Vikas</a:t>
            </a:r>
            <a:r>
              <a:rPr lang="en-IN" sz="2200" dirty="0">
                <a:solidFill>
                  <a:schemeClr val="tx1">
                    <a:lumMod val="65000"/>
                    <a:lumOff val="35000"/>
                  </a:schemeClr>
                </a:solidFill>
              </a:rPr>
              <a:t> Jain</a:t>
            </a:r>
          </a:p>
          <a:p>
            <a:pPr marL="0" lvl="0" indent="0" algn="l" rtl="0">
              <a:spcBef>
                <a:spcPts val="480"/>
              </a:spcBef>
              <a:spcAft>
                <a:spcPts val="0"/>
              </a:spcAft>
              <a:buNone/>
            </a:pPr>
            <a:endParaRPr sz="2200" dirty="0">
              <a:solidFill>
                <a:schemeClr val="tx1">
                  <a:lumMod val="65000"/>
                  <a:lumOff val="35000"/>
                </a:schemeClr>
              </a:solidFill>
            </a:endParaRPr>
          </a:p>
          <a:p>
            <a:pPr marL="342900" marR="0" lvl="0" indent="-342900" algn="l" rtl="0">
              <a:lnSpc>
                <a:spcPct val="100000"/>
              </a:lnSpc>
              <a:spcBef>
                <a:spcPts val="0"/>
              </a:spcBef>
              <a:spcAft>
                <a:spcPts val="0"/>
              </a:spcAft>
              <a:buClr>
                <a:srgbClr val="888888"/>
              </a:buClr>
              <a:buSzPts val="2400"/>
              <a:buNone/>
            </a:pPr>
            <a:endParaRPr sz="2200" dirty="0">
              <a:solidFill>
                <a:schemeClr val="tx1">
                  <a:lumMod val="50000"/>
                  <a:lumOff val="50000"/>
                </a:schemeClr>
              </a:solidFill>
            </a:endParaRPr>
          </a:p>
          <a:p>
            <a:pPr marL="342900" marR="0" lvl="0" indent="-342900" algn="l" rtl="0">
              <a:lnSpc>
                <a:spcPct val="100000"/>
              </a:lnSpc>
              <a:spcBef>
                <a:spcPts val="0"/>
              </a:spcBef>
              <a:spcAft>
                <a:spcPts val="0"/>
              </a:spcAft>
              <a:buClr>
                <a:srgbClr val="888888"/>
              </a:buClr>
              <a:buSzPts val="2400"/>
              <a:buNone/>
            </a:pPr>
            <a:endParaRPr sz="2200" dirty="0">
              <a:solidFill>
                <a:schemeClr val="tx1">
                  <a:lumMod val="50000"/>
                  <a:lumOff val="50000"/>
                </a:schemeClr>
              </a:solidFill>
            </a:endParaRPr>
          </a:p>
        </p:txBody>
      </p:sp>
      <p:sp>
        <p:nvSpPr>
          <p:cNvPr id="91" name="Google Shape;91;gb992af5822_0_0"/>
          <p:cNvSpPr txBox="1">
            <a:spLocks noGrp="1"/>
          </p:cNvSpPr>
          <p:nvPr>
            <p:ph type="sldNum" idx="12"/>
          </p:nvPr>
        </p:nvSpPr>
        <p:spPr>
          <a:xfrm>
            <a:off x="6553200" y="6373546"/>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I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943C-D634-AF9E-976E-D1F21EA64B92}"/>
              </a:ext>
            </a:extLst>
          </p:cNvPr>
          <p:cNvSpPr>
            <a:spLocks noGrp="1"/>
          </p:cNvSpPr>
          <p:nvPr>
            <p:ph type="title"/>
          </p:nvPr>
        </p:nvSpPr>
        <p:spPr/>
        <p:txBody>
          <a:bodyPr/>
          <a:lstStyle/>
          <a:p>
            <a:r>
              <a:rPr lang="en-IN" dirty="0" err="1"/>
              <a:t>PrepGen</a:t>
            </a:r>
            <a:r>
              <a:rPr lang="en-IN" dirty="0"/>
              <a:t>-</a:t>
            </a:r>
            <a:r>
              <a:rPr lang="en-US" dirty="0"/>
              <a:t>Smarter Learning, Powered by AI</a:t>
            </a:r>
            <a:endParaRPr lang="en-IN" b="0" dirty="0"/>
          </a:p>
        </p:txBody>
      </p:sp>
      <p:sp>
        <p:nvSpPr>
          <p:cNvPr id="4" name="Slide Number Placeholder 3">
            <a:extLst>
              <a:ext uri="{FF2B5EF4-FFF2-40B4-BE49-F238E27FC236}">
                <a16:creationId xmlns:a16="http://schemas.microsoft.com/office/drawing/2014/main" id="{68BA4E60-07EF-0003-E266-76DB250815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a:t>
            </a:fld>
            <a:endParaRPr lang="en-IN"/>
          </a:p>
        </p:txBody>
      </p:sp>
      <p:sp>
        <p:nvSpPr>
          <p:cNvPr id="5" name="Rectangle 1">
            <a:extLst>
              <a:ext uri="{FF2B5EF4-FFF2-40B4-BE49-F238E27FC236}">
                <a16:creationId xmlns:a16="http://schemas.microsoft.com/office/drawing/2014/main" id="{B0F47FFD-05C8-5BD7-6B67-9863A268C169}"/>
              </a:ext>
            </a:extLst>
          </p:cNvPr>
          <p:cNvSpPr>
            <a:spLocks noGrp="1" noChangeArrowheads="1"/>
          </p:cNvSpPr>
          <p:nvPr>
            <p:ph type="body" idx="1"/>
          </p:nvPr>
        </p:nvSpPr>
        <p:spPr bwMode="auto">
          <a:xfrm>
            <a:off x="311189" y="2650947"/>
            <a:ext cx="852162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An AI-powered personalized learning platform designed specifically for university students. It helps them organize study material, summarize content, generate quizzes, identify weak areas, and resolve doubts quickly — all in one integrated system.</a:t>
            </a:r>
          </a:p>
          <a:p>
            <a:pPr marL="114300" indent="0">
              <a:buNone/>
            </a:pPr>
            <a:r>
              <a:rPr lang="en-IN" sz="2000" b="1" dirty="0"/>
              <a:t>What the Platform Does :</a:t>
            </a:r>
          </a:p>
          <a:p>
            <a:r>
              <a:rPr lang="en-IN" sz="2000" dirty="0"/>
              <a:t>Understands &amp; processes uploaded notes/documents</a:t>
            </a:r>
          </a:p>
          <a:p>
            <a:r>
              <a:rPr lang="en-IN" sz="2000" dirty="0"/>
              <a:t>Generates flashcards, summaries &amp; quizzes automatically</a:t>
            </a:r>
          </a:p>
          <a:p>
            <a:r>
              <a:rPr lang="en-IN" sz="2000" dirty="0"/>
              <a:t>Resolves doubts via AI chatbot trained on the student’s content</a:t>
            </a:r>
          </a:p>
          <a:p>
            <a:r>
              <a:rPr lang="en-IN" sz="2000" dirty="0"/>
              <a:t> Tracks learning progress using spaced repetition &amp; analytics</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5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8A489-541B-10F4-96AD-1FB02F1DD9C4}"/>
              </a:ext>
            </a:extLst>
          </p:cNvPr>
          <p:cNvSpPr>
            <a:spLocks noGrp="1"/>
          </p:cNvSpPr>
          <p:nvPr>
            <p:ph type="title"/>
          </p:nvPr>
        </p:nvSpPr>
        <p:spPr>
          <a:xfrm>
            <a:off x="573578" y="2716877"/>
            <a:ext cx="8229600" cy="914400"/>
          </a:xfrm>
        </p:spPr>
        <p:txBody>
          <a:bodyPr>
            <a:normAutofit fontScale="90000"/>
          </a:bodyPr>
          <a:lstStyle/>
          <a:p>
            <a:r>
              <a:rPr lang="en-IN" b="0" dirty="0"/>
              <a:t>"When learning meets intelligence</a:t>
            </a:r>
            <a:br>
              <a:rPr lang="en-IN" dirty="0"/>
            </a:br>
            <a:r>
              <a:rPr lang="en-US" i="1" dirty="0"/>
              <a:t>and intelligence meets intent — technology becomes a personal tutor, not just a tool."</a:t>
            </a:r>
            <a:endParaRPr lang="en-IN" dirty="0"/>
          </a:p>
        </p:txBody>
      </p:sp>
      <p:sp>
        <p:nvSpPr>
          <p:cNvPr id="4" name="Slide Number Placeholder 3">
            <a:extLst>
              <a:ext uri="{FF2B5EF4-FFF2-40B4-BE49-F238E27FC236}">
                <a16:creationId xmlns:a16="http://schemas.microsoft.com/office/drawing/2014/main" id="{CA6B7D13-4C40-2FAD-B980-901004FCE4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a:t>
            </a:fld>
            <a:endParaRPr lang="en-IN"/>
          </a:p>
        </p:txBody>
      </p:sp>
    </p:spTree>
    <p:extLst>
      <p:ext uri="{BB962C8B-B14F-4D97-AF65-F5344CB8AC3E}">
        <p14:creationId xmlns:p14="http://schemas.microsoft.com/office/powerpoint/2010/main" val="117652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8057-A423-8482-7248-900BA92B5BCB}"/>
              </a:ext>
            </a:extLst>
          </p:cNvPr>
          <p:cNvSpPr>
            <a:spLocks noGrp="1"/>
          </p:cNvSpPr>
          <p:nvPr>
            <p:ph type="title"/>
          </p:nvPr>
        </p:nvSpPr>
        <p:spPr/>
        <p:txBody>
          <a:bodyPr/>
          <a:lstStyle/>
          <a:p>
            <a:r>
              <a:rPr lang="en-IN" dirty="0"/>
              <a:t>Why this problem?</a:t>
            </a:r>
          </a:p>
        </p:txBody>
      </p:sp>
      <p:sp>
        <p:nvSpPr>
          <p:cNvPr id="3" name="Text Placeholder 2">
            <a:extLst>
              <a:ext uri="{FF2B5EF4-FFF2-40B4-BE49-F238E27FC236}">
                <a16:creationId xmlns:a16="http://schemas.microsoft.com/office/drawing/2014/main" id="{DCE0022E-F7B0-14EB-24E1-77F7FD6ACC7C}"/>
              </a:ext>
            </a:extLst>
          </p:cNvPr>
          <p:cNvSpPr>
            <a:spLocks noGrp="1"/>
          </p:cNvSpPr>
          <p:nvPr>
            <p:ph type="body" idx="1"/>
          </p:nvPr>
        </p:nvSpPr>
        <p:spPr/>
        <p:txBody>
          <a:bodyPr>
            <a:normAutofit lnSpcReduction="10000"/>
          </a:bodyPr>
          <a:lstStyle/>
          <a:p>
            <a:endParaRPr lang="en-US" sz="2800" dirty="0"/>
          </a:p>
          <a:p>
            <a:r>
              <a:rPr lang="en-US" sz="2800" dirty="0"/>
              <a:t>Students struggle to organize and revise study material effectively.</a:t>
            </a:r>
          </a:p>
          <a:p>
            <a:r>
              <a:rPr lang="en-US" sz="2800" dirty="0"/>
              <a:t>Finding relevant, syllabus-specific content is time-consuming.</a:t>
            </a:r>
          </a:p>
          <a:p>
            <a:r>
              <a:rPr lang="en-US" sz="2800" dirty="0"/>
              <a:t>There is a lack of tools for self-assessment and performance tracking.</a:t>
            </a:r>
          </a:p>
          <a:p>
            <a:r>
              <a:rPr lang="en-US" sz="2800" dirty="0"/>
              <a:t>Quick and accurate doubt resolution is often unavailable, especially during exams.</a:t>
            </a:r>
          </a:p>
          <a:p>
            <a:endParaRPr lang="en-IN" dirty="0"/>
          </a:p>
        </p:txBody>
      </p:sp>
      <p:sp>
        <p:nvSpPr>
          <p:cNvPr id="4" name="Slide Number Placeholder 3">
            <a:extLst>
              <a:ext uri="{FF2B5EF4-FFF2-40B4-BE49-F238E27FC236}">
                <a16:creationId xmlns:a16="http://schemas.microsoft.com/office/drawing/2014/main" id="{3CC45CA0-6845-5631-8BF9-D095DD4FB8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Tree>
    <p:extLst>
      <p:ext uri="{BB962C8B-B14F-4D97-AF65-F5344CB8AC3E}">
        <p14:creationId xmlns:p14="http://schemas.microsoft.com/office/powerpoint/2010/main" val="4251507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55E62C-D03E-F4CD-50E0-465E1C6D4ABA}"/>
              </a:ext>
            </a:extLst>
          </p:cNvPr>
          <p:cNvSpPr>
            <a:spLocks noGrp="1"/>
          </p:cNvSpPr>
          <p:nvPr>
            <p:ph type="body" idx="1"/>
          </p:nvPr>
        </p:nvSpPr>
        <p:spPr>
          <a:xfrm>
            <a:off x="457200" y="1862051"/>
            <a:ext cx="8229600" cy="4070351"/>
          </a:xfrm>
        </p:spPr>
        <p:txBody>
          <a:bodyPr>
            <a:normAutofit fontScale="85000" lnSpcReduction="10000"/>
          </a:bodyPr>
          <a:lstStyle/>
          <a:p>
            <a:pPr marL="114300" indent="0">
              <a:buNone/>
            </a:pPr>
            <a:r>
              <a:rPr lang="en-US" b="1" dirty="0"/>
              <a:t>Purpose:</a:t>
            </a:r>
            <a:endParaRPr lang="en-US" dirty="0"/>
          </a:p>
          <a:p>
            <a:r>
              <a:rPr lang="en-US" dirty="0"/>
              <a:t>To build an AI-powered platform that streamlines the entire study process.</a:t>
            </a:r>
          </a:p>
          <a:p>
            <a:r>
              <a:rPr lang="en-US" dirty="0"/>
              <a:t>Features include note organization, content summarization, quiz generation, and doubt resolution.</a:t>
            </a:r>
          </a:p>
          <a:p>
            <a:r>
              <a:rPr lang="en-US" dirty="0"/>
              <a:t>Tailors learning paths based on each student’s individual performance and needs.</a:t>
            </a:r>
          </a:p>
          <a:p>
            <a:pPr marL="114300" indent="0">
              <a:buNone/>
            </a:pPr>
            <a:r>
              <a:rPr lang="en-US" b="1" dirty="0"/>
              <a:t>Need:</a:t>
            </a:r>
            <a:endParaRPr lang="en-US" dirty="0"/>
          </a:p>
          <a:p>
            <a:r>
              <a:rPr lang="en-US" dirty="0"/>
              <a:t>Current tools (like Google or generic AI bots) are not context-aware or personalized.</a:t>
            </a:r>
          </a:p>
          <a:p>
            <a:r>
              <a:rPr lang="en-US" dirty="0"/>
              <a:t>No integration between study material, assessment, and revision tools.</a:t>
            </a:r>
          </a:p>
          <a:p>
            <a:r>
              <a:rPr lang="en-US" dirty="0"/>
              <a:t>A unified, adaptive learning assistant is needed to enhance academic efficiency and reduce exam stress.</a:t>
            </a:r>
          </a:p>
          <a:p>
            <a:endParaRPr lang="en-IN" dirty="0"/>
          </a:p>
        </p:txBody>
      </p:sp>
      <p:sp>
        <p:nvSpPr>
          <p:cNvPr id="4" name="Slide Number Placeholder 3">
            <a:extLst>
              <a:ext uri="{FF2B5EF4-FFF2-40B4-BE49-F238E27FC236}">
                <a16:creationId xmlns:a16="http://schemas.microsoft.com/office/drawing/2014/main" id="{CB416C15-6E30-C15F-8D4B-E337C3A85E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spTree>
    <p:extLst>
      <p:ext uri="{BB962C8B-B14F-4D97-AF65-F5344CB8AC3E}">
        <p14:creationId xmlns:p14="http://schemas.microsoft.com/office/powerpoint/2010/main" val="1177100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8AEA-702C-22BE-F155-FA2FF3FEA8C6}"/>
              </a:ext>
            </a:extLst>
          </p:cNvPr>
          <p:cNvSpPr>
            <a:spLocks noGrp="1"/>
          </p:cNvSpPr>
          <p:nvPr>
            <p:ph type="title"/>
          </p:nvPr>
        </p:nvSpPr>
        <p:spPr>
          <a:xfrm>
            <a:off x="457200" y="1371600"/>
            <a:ext cx="8229600" cy="914400"/>
          </a:xfrm>
        </p:spPr>
        <p:txBody>
          <a:bodyPr>
            <a:normAutofit fontScale="90000"/>
          </a:bodyPr>
          <a:lstStyle/>
          <a:p>
            <a:r>
              <a:rPr lang="en-US" dirty="0"/>
              <a:t>Project Objectives</a:t>
            </a:r>
            <a:br>
              <a:rPr lang="en-US" dirty="0"/>
            </a:br>
            <a:endParaRPr lang="en-IN" dirty="0"/>
          </a:p>
        </p:txBody>
      </p:sp>
      <p:sp>
        <p:nvSpPr>
          <p:cNvPr id="3" name="Text Placeholder 2">
            <a:extLst>
              <a:ext uri="{FF2B5EF4-FFF2-40B4-BE49-F238E27FC236}">
                <a16:creationId xmlns:a16="http://schemas.microsoft.com/office/drawing/2014/main" id="{8ABADCD1-A268-86E5-B5E7-142AE67D7998}"/>
              </a:ext>
            </a:extLst>
          </p:cNvPr>
          <p:cNvSpPr>
            <a:spLocks noGrp="1"/>
          </p:cNvSpPr>
          <p:nvPr>
            <p:ph type="body" idx="1"/>
          </p:nvPr>
        </p:nvSpPr>
        <p:spPr>
          <a:xfrm>
            <a:off x="457200" y="2062481"/>
            <a:ext cx="8229600" cy="4070900"/>
          </a:xfrm>
        </p:spPr>
        <p:txBody>
          <a:bodyPr>
            <a:noAutofit/>
          </a:bodyPr>
          <a:lstStyle/>
          <a:p>
            <a:pPr marL="114300" indent="0">
              <a:buNone/>
            </a:pPr>
            <a:r>
              <a:rPr lang="en-IN" sz="1600" dirty="0">
                <a:latin typeface="Calibri" panose="020F0502020204030204" pitchFamily="34" charset="0"/>
                <a:ea typeface="Calibri" panose="020F0502020204030204" pitchFamily="34" charset="0"/>
                <a:cs typeface="Calibri" panose="020F0502020204030204" pitchFamily="34" charset="0"/>
              </a:rPr>
              <a:t>1.  Build an AI-powered personalized learning engine that adapts to each student’s performance and progress.</a:t>
            </a:r>
          </a:p>
          <a:p>
            <a:pPr marL="114300" indent="0">
              <a:buNone/>
            </a:pPr>
            <a:br>
              <a:rPr lang="en-IN" sz="1600" dirty="0">
                <a:latin typeface="Calibri" panose="020F0502020204030204" pitchFamily="34" charset="0"/>
                <a:ea typeface="Calibri" panose="020F0502020204030204" pitchFamily="34" charset="0"/>
                <a:cs typeface="Calibri" panose="020F0502020204030204" pitchFamily="34" charset="0"/>
              </a:rPr>
            </a:br>
            <a:r>
              <a:rPr lang="en-IN" sz="1600" dirty="0">
                <a:latin typeface="Calibri" panose="020F0502020204030204" pitchFamily="34" charset="0"/>
                <a:ea typeface="Calibri" panose="020F0502020204030204" pitchFamily="34" charset="0"/>
                <a:cs typeface="Calibri" panose="020F0502020204030204" pitchFamily="34" charset="0"/>
              </a:rPr>
              <a:t>2.  Develop tools to generate quizzes, auto-summarize study materials (PDFs, PPTs, YouTube)  from user-uploaded content.</a:t>
            </a:r>
          </a:p>
          <a:p>
            <a:pPr marL="114300" indent="0">
              <a:buNone/>
            </a:pPr>
            <a:br>
              <a:rPr lang="en-IN" sz="1600" dirty="0">
                <a:latin typeface="Calibri" panose="020F0502020204030204" pitchFamily="34" charset="0"/>
                <a:ea typeface="Calibri" panose="020F0502020204030204" pitchFamily="34" charset="0"/>
                <a:cs typeface="Calibri" panose="020F0502020204030204" pitchFamily="34" charset="0"/>
              </a:rPr>
            </a:br>
            <a:r>
              <a:rPr lang="en-IN" sz="1600" dirty="0">
                <a:latin typeface="Calibri" panose="020F0502020204030204" pitchFamily="34" charset="0"/>
                <a:ea typeface="Calibri" panose="020F0502020204030204" pitchFamily="34" charset="0"/>
                <a:cs typeface="Calibri" panose="020F0502020204030204" pitchFamily="34" charset="0"/>
              </a:rPr>
              <a:t>3.Implement intelligent semantic search and real-time doubt resolution using local AI models with minimal external dependency.</a:t>
            </a:r>
          </a:p>
          <a:p>
            <a:pPr marL="114300" indent="0">
              <a:buNone/>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4.Reduce External Dependencies: Develop core AI and NLP features using self-hosted  or open-source alternatives to minimize reliance on third-party APIs and proprietary models.</a:t>
            </a:r>
          </a:p>
          <a:p>
            <a:pPr marL="0" lvl="0" indent="0" eaLnBrk="0" fontAlgn="base" hangingPunct="0">
              <a:spcBef>
                <a:spcPct val="0"/>
              </a:spcBef>
              <a:spcAft>
                <a:spcPct val="0"/>
              </a:spcAft>
              <a:buClrTx/>
              <a:buSzTx/>
              <a:buNone/>
            </a:pPr>
            <a:endPar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r>
              <a:rPr lang="en-US" alt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5. Ethical Learning Analytics &amp; Fairness-Aware AI:</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Develop an interactive analytics dashboard that offers real-time insights into student performance while integrating fairness-aware algorithms to ensure unbiased recommendations, assessments, and content generation—promoting transparency, inclusivity, and ethical learning outcomes.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39BB0B6-5992-1561-E0DA-C746D02B02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6</a:t>
            </a:fld>
            <a:endParaRPr lang="en-IN"/>
          </a:p>
        </p:txBody>
      </p:sp>
    </p:spTree>
    <p:extLst>
      <p:ext uri="{BB962C8B-B14F-4D97-AF65-F5344CB8AC3E}">
        <p14:creationId xmlns:p14="http://schemas.microsoft.com/office/powerpoint/2010/main" val="1106185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BECA-F21D-91A6-5FE5-269B85360A28}"/>
              </a:ext>
            </a:extLst>
          </p:cNvPr>
          <p:cNvSpPr>
            <a:spLocks noGrp="1"/>
          </p:cNvSpPr>
          <p:nvPr>
            <p:ph type="title"/>
          </p:nvPr>
        </p:nvSpPr>
        <p:spPr/>
        <p:txBody>
          <a:bodyPr/>
          <a:lstStyle/>
          <a:p>
            <a:r>
              <a:rPr lang="en-IN" dirty="0"/>
              <a:t>Feasibility</a:t>
            </a:r>
          </a:p>
        </p:txBody>
      </p:sp>
      <p:sp>
        <p:nvSpPr>
          <p:cNvPr id="3" name="Text Placeholder 2">
            <a:extLst>
              <a:ext uri="{FF2B5EF4-FFF2-40B4-BE49-F238E27FC236}">
                <a16:creationId xmlns:a16="http://schemas.microsoft.com/office/drawing/2014/main" id="{D37FB6E7-43C2-A9DC-CD01-F019FCE921FE}"/>
              </a:ext>
            </a:extLst>
          </p:cNvPr>
          <p:cNvSpPr>
            <a:spLocks noGrp="1"/>
          </p:cNvSpPr>
          <p:nvPr>
            <p:ph type="body" idx="1"/>
          </p:nvPr>
        </p:nvSpPr>
        <p:spPr/>
        <p:txBody>
          <a:bodyPr/>
          <a:lstStyle/>
          <a:p>
            <a:pPr marL="114300" indent="0">
              <a:buNone/>
            </a:pPr>
            <a:r>
              <a:rPr lang="en-IN" b="1" dirty="0"/>
              <a:t>Technical feasibility:</a:t>
            </a:r>
          </a:p>
          <a:p>
            <a:r>
              <a:rPr lang="en-US" dirty="0"/>
              <a:t>Leverages open-source, pretrained NLP models like T5, BART, and Sentence-BERT.</a:t>
            </a:r>
          </a:p>
          <a:p>
            <a:r>
              <a:rPr lang="en-US" dirty="0"/>
              <a:t>No custom training required — only prompt engineering and fine-tuning for user-specific outputs.</a:t>
            </a:r>
          </a:p>
          <a:p>
            <a:r>
              <a:rPr lang="en-US" dirty="0"/>
              <a:t>Integration with Hugging Face ensures scalability without high compute costs.</a:t>
            </a:r>
          </a:p>
          <a:p>
            <a:endParaRPr lang="en-IN" dirty="0"/>
          </a:p>
        </p:txBody>
      </p:sp>
      <p:sp>
        <p:nvSpPr>
          <p:cNvPr id="4" name="Slide Number Placeholder 3">
            <a:extLst>
              <a:ext uri="{FF2B5EF4-FFF2-40B4-BE49-F238E27FC236}">
                <a16:creationId xmlns:a16="http://schemas.microsoft.com/office/drawing/2014/main" id="{550484FD-CDBC-5C3F-FE22-E7D9E014E4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spTree>
    <p:extLst>
      <p:ext uri="{BB962C8B-B14F-4D97-AF65-F5344CB8AC3E}">
        <p14:creationId xmlns:p14="http://schemas.microsoft.com/office/powerpoint/2010/main" val="581378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5DD88-5776-0A74-6F43-19E3D84DFC6C}"/>
              </a:ext>
            </a:extLst>
          </p:cNvPr>
          <p:cNvSpPr>
            <a:spLocks noGrp="1"/>
          </p:cNvSpPr>
          <p:nvPr>
            <p:ph type="title"/>
          </p:nvPr>
        </p:nvSpPr>
        <p:spPr/>
        <p:txBody>
          <a:bodyPr/>
          <a:lstStyle/>
          <a:p>
            <a:r>
              <a:rPr lang="en-IN" dirty="0"/>
              <a:t>Feasibility</a:t>
            </a:r>
          </a:p>
        </p:txBody>
      </p:sp>
      <p:sp>
        <p:nvSpPr>
          <p:cNvPr id="3" name="Text Placeholder 2">
            <a:extLst>
              <a:ext uri="{FF2B5EF4-FFF2-40B4-BE49-F238E27FC236}">
                <a16:creationId xmlns:a16="http://schemas.microsoft.com/office/drawing/2014/main" id="{0A6DAC7A-1BFC-EBE8-1BF4-526A70D6E169}"/>
              </a:ext>
            </a:extLst>
          </p:cNvPr>
          <p:cNvSpPr>
            <a:spLocks noGrp="1"/>
          </p:cNvSpPr>
          <p:nvPr>
            <p:ph type="body" idx="1"/>
          </p:nvPr>
        </p:nvSpPr>
        <p:spPr/>
        <p:txBody>
          <a:bodyPr/>
          <a:lstStyle/>
          <a:p>
            <a:pPr marL="114300" indent="0">
              <a:buNone/>
            </a:pPr>
            <a:r>
              <a:rPr lang="en-IN" b="1" dirty="0"/>
              <a:t>Economic feasibility:</a:t>
            </a:r>
          </a:p>
          <a:p>
            <a:r>
              <a:rPr lang="en-US" dirty="0"/>
              <a:t>Entire project operates within free-tier limits using:</a:t>
            </a:r>
          </a:p>
          <a:p>
            <a:r>
              <a:rPr lang="en-US" dirty="0"/>
              <a:t>MongoDB Atlas for database</a:t>
            </a:r>
          </a:p>
          <a:p>
            <a:r>
              <a:rPr lang="en-US" dirty="0" err="1"/>
              <a:t>Vercel</a:t>
            </a:r>
            <a:r>
              <a:rPr lang="en-US" dirty="0"/>
              <a:t> or Render for hosting</a:t>
            </a:r>
          </a:p>
          <a:p>
            <a:r>
              <a:rPr lang="en-US" dirty="0"/>
              <a:t>Hugging Face Hub for model access</a:t>
            </a:r>
          </a:p>
          <a:p>
            <a:r>
              <a:rPr lang="en-US" dirty="0"/>
              <a:t>No upfront investment required for deployment or basic usage.</a:t>
            </a:r>
          </a:p>
          <a:p>
            <a:endParaRPr lang="en-IN" dirty="0"/>
          </a:p>
        </p:txBody>
      </p:sp>
      <p:sp>
        <p:nvSpPr>
          <p:cNvPr id="4" name="Slide Number Placeholder 3">
            <a:extLst>
              <a:ext uri="{FF2B5EF4-FFF2-40B4-BE49-F238E27FC236}">
                <a16:creationId xmlns:a16="http://schemas.microsoft.com/office/drawing/2014/main" id="{C4C7AB8D-907F-35F4-95F4-2E6D84AC89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spTree>
    <p:extLst>
      <p:ext uri="{BB962C8B-B14F-4D97-AF65-F5344CB8AC3E}">
        <p14:creationId xmlns:p14="http://schemas.microsoft.com/office/powerpoint/2010/main" val="4088556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9525-8560-B5D0-ED65-A5EBABE8B29D}"/>
              </a:ext>
            </a:extLst>
          </p:cNvPr>
          <p:cNvSpPr>
            <a:spLocks noGrp="1"/>
          </p:cNvSpPr>
          <p:nvPr>
            <p:ph type="title"/>
          </p:nvPr>
        </p:nvSpPr>
        <p:spPr/>
        <p:txBody>
          <a:bodyPr/>
          <a:lstStyle/>
          <a:p>
            <a:r>
              <a:rPr lang="en-IN" dirty="0"/>
              <a:t>Team capability</a:t>
            </a:r>
          </a:p>
        </p:txBody>
      </p:sp>
      <p:sp>
        <p:nvSpPr>
          <p:cNvPr id="3" name="Text Placeholder 2">
            <a:extLst>
              <a:ext uri="{FF2B5EF4-FFF2-40B4-BE49-F238E27FC236}">
                <a16:creationId xmlns:a16="http://schemas.microsoft.com/office/drawing/2014/main" id="{8C4A3602-7930-33D8-B994-2658F82E4A0B}"/>
              </a:ext>
            </a:extLst>
          </p:cNvPr>
          <p:cNvSpPr>
            <a:spLocks noGrp="1"/>
          </p:cNvSpPr>
          <p:nvPr>
            <p:ph type="body" idx="1"/>
          </p:nvPr>
        </p:nvSpPr>
        <p:spPr/>
        <p:txBody>
          <a:bodyPr/>
          <a:lstStyle/>
          <a:p>
            <a:pPr marL="114300" indent="0">
              <a:buNone/>
            </a:pPr>
            <a:r>
              <a:rPr lang="en-IN" dirty="0"/>
              <a:t>The 3-member team is efficiently divided by expertise:</a:t>
            </a:r>
          </a:p>
          <a:p>
            <a:pPr lvl="1"/>
            <a:r>
              <a:rPr lang="en-IN" dirty="0"/>
              <a:t>Frontend: UI/UX, content display</a:t>
            </a:r>
          </a:p>
          <a:p>
            <a:pPr lvl="1"/>
            <a:r>
              <a:rPr lang="en-IN" dirty="0"/>
              <a:t>Backend: API handling, database management</a:t>
            </a:r>
          </a:p>
          <a:p>
            <a:pPr lvl="1"/>
            <a:r>
              <a:rPr lang="en-IN" dirty="0"/>
              <a:t>AI/NLP: Prompt design, GenAI integration, content adaptation</a:t>
            </a:r>
          </a:p>
          <a:p>
            <a:endParaRPr lang="en-IN" dirty="0"/>
          </a:p>
        </p:txBody>
      </p:sp>
      <p:sp>
        <p:nvSpPr>
          <p:cNvPr id="4" name="Slide Number Placeholder 3">
            <a:extLst>
              <a:ext uri="{FF2B5EF4-FFF2-40B4-BE49-F238E27FC236}">
                <a16:creationId xmlns:a16="http://schemas.microsoft.com/office/drawing/2014/main" id="{80124CB9-64CE-63C8-E4A5-8DB10BDC59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spTree>
    <p:extLst>
      <p:ext uri="{BB962C8B-B14F-4D97-AF65-F5344CB8AC3E}">
        <p14:creationId xmlns:p14="http://schemas.microsoft.com/office/powerpoint/2010/main" val="519470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7FDFC-AC01-6677-1676-7C8149759DF1}"/>
              </a:ext>
            </a:extLst>
          </p:cNvPr>
          <p:cNvSpPr>
            <a:spLocks noGrp="1"/>
          </p:cNvSpPr>
          <p:nvPr>
            <p:ph type="title"/>
          </p:nvPr>
        </p:nvSpPr>
        <p:spPr/>
        <p:txBody>
          <a:bodyPr/>
          <a:lstStyle/>
          <a:p>
            <a:r>
              <a:rPr lang="en-IN" dirty="0"/>
              <a:t>Features </a:t>
            </a:r>
          </a:p>
        </p:txBody>
      </p:sp>
      <p:sp>
        <p:nvSpPr>
          <p:cNvPr id="3" name="Text Placeholder 2">
            <a:extLst>
              <a:ext uri="{FF2B5EF4-FFF2-40B4-BE49-F238E27FC236}">
                <a16:creationId xmlns:a16="http://schemas.microsoft.com/office/drawing/2014/main" id="{161F5D0C-519F-2AAA-D5D2-E3B2ECEB5A16}"/>
              </a:ext>
            </a:extLst>
          </p:cNvPr>
          <p:cNvSpPr>
            <a:spLocks noGrp="1"/>
          </p:cNvSpPr>
          <p:nvPr>
            <p:ph type="body" idx="1"/>
          </p:nvPr>
        </p:nvSpPr>
        <p:spPr/>
        <p:txBody>
          <a:bodyPr>
            <a:normAutofit lnSpcReduction="10000"/>
          </a:bodyPr>
          <a:lstStyle/>
          <a:p>
            <a:pPr marL="114300" indent="0">
              <a:buNone/>
            </a:pPr>
            <a:r>
              <a:rPr lang="en-IN" b="1" dirty="0"/>
              <a:t>1. User Management</a:t>
            </a:r>
            <a:endParaRPr lang="en-IN" dirty="0"/>
          </a:p>
          <a:p>
            <a:pPr marL="114300" indent="0">
              <a:buNone/>
            </a:pPr>
            <a:r>
              <a:rPr lang="en-IN" dirty="0"/>
              <a:t>User login via Gmail (OAuth2)</a:t>
            </a:r>
          </a:p>
          <a:p>
            <a:pPr marL="114300" indent="0">
              <a:buNone/>
            </a:pPr>
            <a:r>
              <a:rPr lang="en-IN" dirty="0"/>
              <a:t>Personalized database instance (MongoDB) per user</a:t>
            </a:r>
          </a:p>
          <a:p>
            <a:pPr marL="114300" indent="0">
              <a:buNone/>
            </a:pPr>
            <a:r>
              <a:rPr lang="en-IN" dirty="0"/>
              <a:t>Secure session management</a:t>
            </a:r>
          </a:p>
          <a:p>
            <a:pPr marL="114300" indent="0">
              <a:buNone/>
            </a:pPr>
            <a:r>
              <a:rPr lang="en-IN" dirty="0"/>
              <a:t>User profile view (progress, history, bookmarks)</a:t>
            </a:r>
          </a:p>
          <a:p>
            <a:pPr marL="114300" indent="0">
              <a:buNone/>
            </a:pPr>
            <a:r>
              <a:rPr lang="en-IN" b="1" dirty="0"/>
              <a:t>2. Content Upload &amp; Parsing</a:t>
            </a:r>
            <a:endParaRPr lang="en-IN" dirty="0"/>
          </a:p>
          <a:p>
            <a:pPr marL="114300" indent="0">
              <a:buNone/>
            </a:pPr>
            <a:r>
              <a:rPr lang="en-IN" dirty="0"/>
              <a:t>Upload files: PDF, PPT, DOCX, and previous year question papers</a:t>
            </a:r>
          </a:p>
          <a:p>
            <a:pPr marL="114300" indent="0">
              <a:buNone/>
            </a:pPr>
            <a:r>
              <a:rPr lang="en-IN" dirty="0"/>
              <a:t>Extract text from each file</a:t>
            </a:r>
          </a:p>
          <a:p>
            <a:pPr marL="114300" indent="0">
              <a:buNone/>
            </a:pPr>
            <a:r>
              <a:rPr lang="en-IN" dirty="0"/>
              <a:t>Store uploaded content in user’s personal MongoDB collection.</a:t>
            </a:r>
          </a:p>
          <a:p>
            <a:endParaRPr lang="en-IN" dirty="0"/>
          </a:p>
        </p:txBody>
      </p:sp>
      <p:sp>
        <p:nvSpPr>
          <p:cNvPr id="4" name="Slide Number Placeholder 3">
            <a:extLst>
              <a:ext uri="{FF2B5EF4-FFF2-40B4-BE49-F238E27FC236}">
                <a16:creationId xmlns:a16="http://schemas.microsoft.com/office/drawing/2014/main" id="{BDFA9ADD-E585-A955-6452-E56BDC36DC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spTree>
    <p:extLst>
      <p:ext uri="{BB962C8B-B14F-4D97-AF65-F5344CB8AC3E}">
        <p14:creationId xmlns:p14="http://schemas.microsoft.com/office/powerpoint/2010/main" val="3152800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3A1D1-CDCF-64C5-9D8F-89099C13E088}"/>
              </a:ext>
            </a:extLst>
          </p:cNvPr>
          <p:cNvSpPr>
            <a:spLocks noGrp="1"/>
          </p:cNvSpPr>
          <p:nvPr>
            <p:ph type="title"/>
          </p:nvPr>
        </p:nvSpPr>
        <p:spPr/>
        <p:txBody>
          <a:bodyPr/>
          <a:lstStyle/>
          <a:p>
            <a:r>
              <a:rPr lang="en-IN" dirty="0"/>
              <a:t>Features</a:t>
            </a:r>
          </a:p>
        </p:txBody>
      </p:sp>
      <p:sp>
        <p:nvSpPr>
          <p:cNvPr id="3" name="Text Placeholder 2">
            <a:extLst>
              <a:ext uri="{FF2B5EF4-FFF2-40B4-BE49-F238E27FC236}">
                <a16:creationId xmlns:a16="http://schemas.microsoft.com/office/drawing/2014/main" id="{1EBB527C-B590-CFAF-892C-64CD96C96FED}"/>
              </a:ext>
            </a:extLst>
          </p:cNvPr>
          <p:cNvSpPr>
            <a:spLocks noGrp="1"/>
          </p:cNvSpPr>
          <p:nvPr>
            <p:ph type="body" idx="1"/>
          </p:nvPr>
        </p:nvSpPr>
        <p:spPr/>
        <p:txBody>
          <a:bodyPr>
            <a:normAutofit lnSpcReduction="10000"/>
          </a:bodyPr>
          <a:lstStyle/>
          <a:p>
            <a:pPr marL="114300" indent="0">
              <a:buNone/>
            </a:pPr>
            <a:r>
              <a:rPr lang="en-IN" b="1" dirty="0"/>
              <a:t>3. AI-Based Summarization</a:t>
            </a:r>
          </a:p>
          <a:p>
            <a:pPr marL="114300" indent="0">
              <a:buNone/>
            </a:pPr>
            <a:r>
              <a:rPr lang="en-IN" dirty="0"/>
              <a:t>Use pretrained models (e.g., T5, BART) to summarize:</a:t>
            </a:r>
          </a:p>
          <a:p>
            <a:pPr lvl="1"/>
            <a:r>
              <a:rPr lang="en-IN" dirty="0"/>
              <a:t>Uploaded notes</a:t>
            </a:r>
          </a:p>
          <a:p>
            <a:pPr lvl="1"/>
            <a:r>
              <a:rPr lang="en-IN" dirty="0"/>
              <a:t>Video transcripts</a:t>
            </a:r>
          </a:p>
          <a:p>
            <a:pPr marL="114300" indent="0">
              <a:buNone/>
            </a:pPr>
            <a:r>
              <a:rPr lang="en-IN" dirty="0"/>
              <a:t>Display summarized notes to the user</a:t>
            </a:r>
          </a:p>
          <a:p>
            <a:pPr marL="114300" indent="0">
              <a:buNone/>
            </a:pPr>
            <a:r>
              <a:rPr lang="en-IN" dirty="0"/>
              <a:t>User profile view (progress, history, bookmarks)</a:t>
            </a:r>
          </a:p>
          <a:p>
            <a:pPr marL="114300" indent="0">
              <a:buNone/>
            </a:pPr>
            <a:r>
              <a:rPr lang="en-IN" b="1" dirty="0"/>
              <a:t>4. Quiz Generator</a:t>
            </a:r>
            <a:endParaRPr lang="en-IN" dirty="0"/>
          </a:p>
          <a:p>
            <a:pPr marL="114300" indent="0">
              <a:buNone/>
            </a:pPr>
            <a:r>
              <a:rPr lang="en-IN" dirty="0"/>
              <a:t>Generate MCQs or short quizzes based on:</a:t>
            </a:r>
          </a:p>
          <a:p>
            <a:pPr lvl="1"/>
            <a:r>
              <a:rPr lang="en-IN" dirty="0"/>
              <a:t>Uploaded notes</a:t>
            </a:r>
          </a:p>
          <a:p>
            <a:pPr lvl="1"/>
            <a:r>
              <a:rPr lang="en-IN" dirty="0"/>
              <a:t>Previous year papers</a:t>
            </a:r>
          </a:p>
          <a:p>
            <a:pPr marL="114300" indent="0">
              <a:buNone/>
            </a:pPr>
            <a:r>
              <a:rPr lang="en-IN" dirty="0"/>
              <a:t>Provide multiple quizzes for each topic</a:t>
            </a:r>
          </a:p>
          <a:p>
            <a:endParaRPr lang="en-IN" dirty="0"/>
          </a:p>
        </p:txBody>
      </p:sp>
      <p:sp>
        <p:nvSpPr>
          <p:cNvPr id="4" name="Slide Number Placeholder 3">
            <a:extLst>
              <a:ext uri="{FF2B5EF4-FFF2-40B4-BE49-F238E27FC236}">
                <a16:creationId xmlns:a16="http://schemas.microsoft.com/office/drawing/2014/main" id="{80B5DEA5-3E68-D58D-2829-3B1F2A17F2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spTree>
    <p:extLst>
      <p:ext uri="{BB962C8B-B14F-4D97-AF65-F5344CB8AC3E}">
        <p14:creationId xmlns:p14="http://schemas.microsoft.com/office/powerpoint/2010/main" val="1913423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6F211-0F14-9EE6-6A47-6460D46FAF33}"/>
              </a:ext>
            </a:extLst>
          </p:cNvPr>
          <p:cNvSpPr>
            <a:spLocks noGrp="1"/>
          </p:cNvSpPr>
          <p:nvPr>
            <p:ph type="title"/>
          </p:nvPr>
        </p:nvSpPr>
        <p:spPr/>
        <p:txBody>
          <a:bodyPr/>
          <a:lstStyle/>
          <a:p>
            <a:r>
              <a:rPr lang="en-IN" dirty="0"/>
              <a:t>Features</a:t>
            </a:r>
          </a:p>
        </p:txBody>
      </p:sp>
      <p:sp>
        <p:nvSpPr>
          <p:cNvPr id="3" name="Text Placeholder 2">
            <a:extLst>
              <a:ext uri="{FF2B5EF4-FFF2-40B4-BE49-F238E27FC236}">
                <a16:creationId xmlns:a16="http://schemas.microsoft.com/office/drawing/2014/main" id="{687B0DC1-4D52-F83E-118F-ED9D373E423F}"/>
              </a:ext>
            </a:extLst>
          </p:cNvPr>
          <p:cNvSpPr>
            <a:spLocks noGrp="1"/>
          </p:cNvSpPr>
          <p:nvPr>
            <p:ph type="body" idx="1"/>
          </p:nvPr>
        </p:nvSpPr>
        <p:spPr/>
        <p:txBody>
          <a:bodyPr/>
          <a:lstStyle/>
          <a:p>
            <a:pPr marL="114300" indent="0">
              <a:buNone/>
            </a:pPr>
            <a:r>
              <a:rPr lang="en-IN" b="1" dirty="0"/>
              <a:t>5.YouTube Video Integration</a:t>
            </a:r>
            <a:endParaRPr lang="en-IN" dirty="0"/>
          </a:p>
          <a:p>
            <a:pPr marL="114300" indent="0">
              <a:buNone/>
            </a:pPr>
            <a:r>
              <a:rPr lang="en-IN" dirty="0"/>
              <a:t>Accept YouTube video links from users</a:t>
            </a:r>
          </a:p>
          <a:p>
            <a:pPr marL="114300" indent="0">
              <a:buNone/>
            </a:pPr>
            <a:r>
              <a:rPr lang="en-IN" dirty="0"/>
              <a:t>Extract transcript using API or scraping</a:t>
            </a:r>
          </a:p>
          <a:p>
            <a:pPr marL="114300" indent="0">
              <a:buNone/>
            </a:pPr>
            <a:r>
              <a:rPr lang="en-IN" dirty="0"/>
              <a:t>Summarize video transcript into notes</a:t>
            </a:r>
          </a:p>
          <a:p>
            <a:pPr marL="114300" indent="0">
              <a:buNone/>
            </a:pPr>
            <a:r>
              <a:rPr lang="en-IN" b="1" dirty="0"/>
              <a:t>6. Performance Analysis</a:t>
            </a:r>
            <a:endParaRPr lang="en-IN" dirty="0"/>
          </a:p>
          <a:p>
            <a:pPr marL="114300" indent="0">
              <a:buNone/>
            </a:pPr>
            <a:r>
              <a:rPr lang="en-IN" dirty="0"/>
              <a:t>Evaluate quiz results</a:t>
            </a:r>
          </a:p>
          <a:p>
            <a:pPr marL="114300" indent="0">
              <a:buNone/>
            </a:pPr>
            <a:r>
              <a:rPr lang="en-IN" dirty="0"/>
              <a:t>Identify strong and weak areas per topic</a:t>
            </a:r>
          </a:p>
          <a:p>
            <a:pPr marL="114300" indent="0">
              <a:buNone/>
            </a:pPr>
            <a:r>
              <a:rPr lang="en-IN" dirty="0"/>
              <a:t>Visual progress dashboard for tracking improvement</a:t>
            </a:r>
          </a:p>
          <a:p>
            <a:endParaRPr lang="en-IN" dirty="0"/>
          </a:p>
        </p:txBody>
      </p:sp>
      <p:sp>
        <p:nvSpPr>
          <p:cNvPr id="4" name="Slide Number Placeholder 3">
            <a:extLst>
              <a:ext uri="{FF2B5EF4-FFF2-40B4-BE49-F238E27FC236}">
                <a16:creationId xmlns:a16="http://schemas.microsoft.com/office/drawing/2014/main" id="{566EED62-5B22-392C-A7CD-A1B48C5988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Tree>
    <p:extLst>
      <p:ext uri="{BB962C8B-B14F-4D97-AF65-F5344CB8AC3E}">
        <p14:creationId xmlns:p14="http://schemas.microsoft.com/office/powerpoint/2010/main" val="1683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A018-9BCB-C8EC-619C-D4D696A1FB13}"/>
              </a:ext>
            </a:extLst>
          </p:cNvPr>
          <p:cNvSpPr>
            <a:spLocks noGrp="1"/>
          </p:cNvSpPr>
          <p:nvPr>
            <p:ph type="title"/>
          </p:nvPr>
        </p:nvSpPr>
        <p:spPr/>
        <p:txBody>
          <a:bodyPr/>
          <a:lstStyle/>
          <a:p>
            <a:r>
              <a:rPr lang="en-IN" dirty="0"/>
              <a:t>Features</a:t>
            </a:r>
          </a:p>
        </p:txBody>
      </p:sp>
      <p:sp>
        <p:nvSpPr>
          <p:cNvPr id="3" name="Text Placeholder 2">
            <a:extLst>
              <a:ext uri="{FF2B5EF4-FFF2-40B4-BE49-F238E27FC236}">
                <a16:creationId xmlns:a16="http://schemas.microsoft.com/office/drawing/2014/main" id="{2B17D850-575E-8C8E-C8BE-DD69286F7920}"/>
              </a:ext>
            </a:extLst>
          </p:cNvPr>
          <p:cNvSpPr>
            <a:spLocks noGrp="1"/>
          </p:cNvSpPr>
          <p:nvPr>
            <p:ph type="body" idx="1"/>
          </p:nvPr>
        </p:nvSpPr>
        <p:spPr/>
        <p:txBody>
          <a:bodyPr/>
          <a:lstStyle/>
          <a:p>
            <a:pPr marL="114300" indent="0">
              <a:buNone/>
            </a:pPr>
            <a:r>
              <a:rPr lang="en-IN" b="1" dirty="0"/>
              <a:t>6. AI Chatbot for Doubt Solving (RAG-Based)</a:t>
            </a:r>
            <a:endParaRPr lang="en-IN" dirty="0"/>
          </a:p>
          <a:p>
            <a:r>
              <a:rPr lang="en-IN" dirty="0"/>
              <a:t>Accept user questions</a:t>
            </a:r>
          </a:p>
          <a:p>
            <a:r>
              <a:rPr lang="en-IN" dirty="0"/>
              <a:t>Step 1: Search user notes using semantic vector search (FAISS)</a:t>
            </a:r>
          </a:p>
          <a:p>
            <a:r>
              <a:rPr lang="en-IN" dirty="0"/>
              <a:t>Step 2: If no match, fallback to web search (e.g., </a:t>
            </a:r>
            <a:r>
              <a:rPr lang="en-IN" dirty="0" err="1"/>
              <a:t>SerpAPI</a:t>
            </a:r>
            <a:r>
              <a:rPr lang="en-IN" dirty="0"/>
              <a:t>)</a:t>
            </a:r>
          </a:p>
          <a:p>
            <a:r>
              <a:rPr lang="en-IN" dirty="0"/>
              <a:t>Step 3: Generate answer using LLM (e.g., GPT or open-source model)</a:t>
            </a:r>
          </a:p>
          <a:p>
            <a:r>
              <a:rPr lang="en-IN" dirty="0"/>
              <a:t>Label response origin: “From Notes” or “From Web”</a:t>
            </a:r>
          </a:p>
          <a:p>
            <a:endParaRPr lang="en-IN" dirty="0"/>
          </a:p>
        </p:txBody>
      </p:sp>
      <p:sp>
        <p:nvSpPr>
          <p:cNvPr id="4" name="Slide Number Placeholder 3">
            <a:extLst>
              <a:ext uri="{FF2B5EF4-FFF2-40B4-BE49-F238E27FC236}">
                <a16:creationId xmlns:a16="http://schemas.microsoft.com/office/drawing/2014/main" id="{F1755C62-5CB8-9078-3AD4-1DB5D7CEDC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13</a:t>
            </a:fld>
            <a:endParaRPr lang="en-IN"/>
          </a:p>
        </p:txBody>
      </p:sp>
    </p:spTree>
    <p:extLst>
      <p:ext uri="{BB962C8B-B14F-4D97-AF65-F5344CB8AC3E}">
        <p14:creationId xmlns:p14="http://schemas.microsoft.com/office/powerpoint/2010/main" val="558447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FC7A9-6082-55FB-95C7-BE701692EF84}"/>
              </a:ext>
            </a:extLst>
          </p:cNvPr>
          <p:cNvSpPr>
            <a:spLocks noGrp="1"/>
          </p:cNvSpPr>
          <p:nvPr>
            <p:ph type="title"/>
          </p:nvPr>
        </p:nvSpPr>
        <p:spPr/>
        <p:txBody>
          <a:bodyPr/>
          <a:lstStyle/>
          <a:p>
            <a:r>
              <a:rPr lang="en-IN" dirty="0"/>
              <a:t>Features</a:t>
            </a:r>
          </a:p>
        </p:txBody>
      </p:sp>
      <p:sp>
        <p:nvSpPr>
          <p:cNvPr id="3" name="Text Placeholder 2">
            <a:extLst>
              <a:ext uri="{FF2B5EF4-FFF2-40B4-BE49-F238E27FC236}">
                <a16:creationId xmlns:a16="http://schemas.microsoft.com/office/drawing/2014/main" id="{8B794519-5052-3CCF-E240-EDBCD791427C}"/>
              </a:ext>
            </a:extLst>
          </p:cNvPr>
          <p:cNvSpPr>
            <a:spLocks noGrp="1"/>
          </p:cNvSpPr>
          <p:nvPr>
            <p:ph type="body" idx="1"/>
          </p:nvPr>
        </p:nvSpPr>
        <p:spPr/>
        <p:txBody>
          <a:bodyPr/>
          <a:lstStyle/>
          <a:p>
            <a:pPr marL="114300" indent="0">
              <a:buNone/>
            </a:pPr>
            <a:r>
              <a:rPr lang="en-IN" b="1" dirty="0"/>
              <a:t>7. Combines key features to enhance learning and engagement:</a:t>
            </a:r>
          </a:p>
          <a:p>
            <a:pPr marL="114300" indent="0">
              <a:buNone/>
            </a:pPr>
            <a:r>
              <a:rPr lang="en-IN" dirty="0"/>
              <a:t>Ask Again: Regenerate chatbot answers with rephrased prompts.</a:t>
            </a:r>
          </a:p>
          <a:p>
            <a:pPr marL="114300" indent="0">
              <a:buNone/>
            </a:pPr>
            <a:r>
              <a:rPr lang="en-IN" dirty="0"/>
              <a:t>Retry &amp; Improve: Retake quizzes and get AI suggestions until mastery.</a:t>
            </a:r>
          </a:p>
          <a:p>
            <a:pPr marL="114300" indent="0">
              <a:buNone/>
            </a:pPr>
            <a:r>
              <a:rPr lang="en-IN" dirty="0"/>
              <a:t>Smart UI/UX: Dark mode, responsive design, typing animation, and loading indicators for a smooth user experience.</a:t>
            </a:r>
          </a:p>
          <a:p>
            <a:endParaRPr lang="en-IN" dirty="0"/>
          </a:p>
        </p:txBody>
      </p:sp>
      <p:sp>
        <p:nvSpPr>
          <p:cNvPr id="4" name="Slide Number Placeholder 3">
            <a:extLst>
              <a:ext uri="{FF2B5EF4-FFF2-40B4-BE49-F238E27FC236}">
                <a16:creationId xmlns:a16="http://schemas.microsoft.com/office/drawing/2014/main" id="{ADA79546-8FAC-F5A6-6B36-67C46D373A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14</a:t>
            </a:fld>
            <a:endParaRPr lang="en-IN"/>
          </a:p>
        </p:txBody>
      </p:sp>
    </p:spTree>
    <p:extLst>
      <p:ext uri="{BB962C8B-B14F-4D97-AF65-F5344CB8AC3E}">
        <p14:creationId xmlns:p14="http://schemas.microsoft.com/office/powerpoint/2010/main" val="2825465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CADD6-DAAB-4B36-62E6-6896B235C82D}"/>
              </a:ext>
            </a:extLst>
          </p:cNvPr>
          <p:cNvSpPr>
            <a:spLocks noGrp="1"/>
          </p:cNvSpPr>
          <p:nvPr>
            <p:ph type="title"/>
          </p:nvPr>
        </p:nvSpPr>
        <p:spPr/>
        <p:txBody>
          <a:bodyPr/>
          <a:lstStyle/>
          <a:p>
            <a:r>
              <a:rPr lang="en-IN" dirty="0"/>
              <a:t>Features</a:t>
            </a:r>
          </a:p>
        </p:txBody>
      </p:sp>
      <p:sp>
        <p:nvSpPr>
          <p:cNvPr id="3" name="Text Placeholder 2">
            <a:extLst>
              <a:ext uri="{FF2B5EF4-FFF2-40B4-BE49-F238E27FC236}">
                <a16:creationId xmlns:a16="http://schemas.microsoft.com/office/drawing/2014/main" id="{476D695D-3AC5-4948-79B1-ECB21A7572B8}"/>
              </a:ext>
            </a:extLst>
          </p:cNvPr>
          <p:cNvSpPr>
            <a:spLocks noGrp="1"/>
          </p:cNvSpPr>
          <p:nvPr>
            <p:ph type="body" idx="1"/>
          </p:nvPr>
        </p:nvSpPr>
        <p:spPr/>
        <p:txBody>
          <a:bodyPr/>
          <a:lstStyle/>
          <a:p>
            <a:pPr marL="114300" indent="0">
              <a:buNone/>
            </a:pPr>
            <a:r>
              <a:rPr lang="en-US" b="1" dirty="0"/>
              <a:t>8. Future Optional Features (Stretch Goals)</a:t>
            </a:r>
            <a:endParaRPr lang="en-US" dirty="0"/>
          </a:p>
          <a:p>
            <a:pPr marL="114300" indent="0">
              <a:buNone/>
            </a:pPr>
            <a:r>
              <a:rPr lang="en-US" dirty="0"/>
              <a:t>Voice-based chatbot using Whisper (for Hindi or local languages)</a:t>
            </a:r>
          </a:p>
          <a:p>
            <a:pPr marL="114300" indent="0">
              <a:buNone/>
            </a:pPr>
            <a:r>
              <a:rPr lang="en-US" dirty="0"/>
              <a:t>Flashcard generator from notes</a:t>
            </a:r>
          </a:p>
          <a:p>
            <a:pPr marL="114300" indent="0">
              <a:buNone/>
            </a:pPr>
            <a:r>
              <a:rPr lang="en-US" dirty="0"/>
              <a:t>Reminders or quiz scheduling</a:t>
            </a:r>
          </a:p>
          <a:p>
            <a:pPr marL="114300" indent="0">
              <a:buNone/>
            </a:pPr>
            <a:r>
              <a:rPr lang="en-US" dirty="0"/>
              <a:t>Leaderboard (if gamification is needed)</a:t>
            </a:r>
          </a:p>
          <a:p>
            <a:pPr marL="114300" indent="0">
              <a:buNone/>
            </a:pPr>
            <a:r>
              <a:rPr lang="en-US" dirty="0" err="1"/>
              <a:t>Personalised</a:t>
            </a:r>
            <a:r>
              <a:rPr lang="en-US" dirty="0"/>
              <a:t> study features </a:t>
            </a:r>
          </a:p>
          <a:p>
            <a:pPr marL="114300" indent="0">
              <a:buNone/>
            </a:pPr>
            <a:r>
              <a:rPr lang="en-US" dirty="0"/>
              <a:t>Flashcards </a:t>
            </a:r>
          </a:p>
          <a:p>
            <a:endParaRPr lang="en-IN" dirty="0"/>
          </a:p>
        </p:txBody>
      </p:sp>
      <p:sp>
        <p:nvSpPr>
          <p:cNvPr id="4" name="Slide Number Placeholder 3">
            <a:extLst>
              <a:ext uri="{FF2B5EF4-FFF2-40B4-BE49-F238E27FC236}">
                <a16:creationId xmlns:a16="http://schemas.microsoft.com/office/drawing/2014/main" id="{2C26FF98-B290-2400-D84A-AB799386CD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15</a:t>
            </a:fld>
            <a:endParaRPr lang="en-IN"/>
          </a:p>
        </p:txBody>
      </p:sp>
    </p:spTree>
    <p:extLst>
      <p:ext uri="{BB962C8B-B14F-4D97-AF65-F5344CB8AC3E}">
        <p14:creationId xmlns:p14="http://schemas.microsoft.com/office/powerpoint/2010/main" val="211855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02CF1-C1B3-542A-22D5-797ADA8CA850}"/>
              </a:ext>
            </a:extLst>
          </p:cNvPr>
          <p:cNvSpPr>
            <a:spLocks noGrp="1"/>
          </p:cNvSpPr>
          <p:nvPr>
            <p:ph type="title"/>
          </p:nvPr>
        </p:nvSpPr>
        <p:spPr/>
        <p:txBody>
          <a:bodyPr/>
          <a:lstStyle/>
          <a:p>
            <a:r>
              <a:rPr lang="en-IN" dirty="0"/>
              <a:t>Tools and technology </a:t>
            </a:r>
          </a:p>
        </p:txBody>
      </p:sp>
      <p:sp>
        <p:nvSpPr>
          <p:cNvPr id="3" name="Text Placeholder 2">
            <a:extLst>
              <a:ext uri="{FF2B5EF4-FFF2-40B4-BE49-F238E27FC236}">
                <a16:creationId xmlns:a16="http://schemas.microsoft.com/office/drawing/2014/main" id="{7DD17A7A-BD64-F09B-06F8-FD72E8DA658D}"/>
              </a:ext>
            </a:extLst>
          </p:cNvPr>
          <p:cNvSpPr>
            <a:spLocks noGrp="1"/>
          </p:cNvSpPr>
          <p:nvPr>
            <p:ph type="body" idx="1"/>
          </p:nvPr>
        </p:nvSpPr>
        <p:spPr/>
        <p:txBody>
          <a:bodyPr>
            <a:normAutofit fontScale="92500" lnSpcReduction="20000"/>
          </a:bodyPr>
          <a:lstStyle/>
          <a:p>
            <a:pPr marL="114300" indent="0">
              <a:buNone/>
            </a:pPr>
            <a:endParaRPr lang="en-IN" dirty="0"/>
          </a:p>
          <a:p>
            <a:r>
              <a:rPr lang="en-IN" b="1" dirty="0"/>
              <a:t>Frontend:</a:t>
            </a:r>
            <a:r>
              <a:rPr lang="en-IN" dirty="0"/>
              <a:t> </a:t>
            </a:r>
            <a:r>
              <a:rPr lang="en-IN" b="1" dirty="0"/>
              <a:t>React.js + Tailwind CSS</a:t>
            </a:r>
            <a:endParaRPr lang="en-IN" dirty="0"/>
          </a:p>
          <a:p>
            <a:r>
              <a:rPr lang="en-IN" b="1" dirty="0"/>
              <a:t>AI/</a:t>
            </a:r>
            <a:r>
              <a:rPr lang="en-IN" b="1" dirty="0" err="1"/>
              <a:t>NLP:Hugging</a:t>
            </a:r>
            <a:r>
              <a:rPr lang="en-IN" b="1" dirty="0"/>
              <a:t> Face Transformers (T5, BART), Sentence-BERT, FAISS</a:t>
            </a:r>
            <a:endParaRPr lang="en-IN" dirty="0"/>
          </a:p>
          <a:p>
            <a:r>
              <a:rPr lang="en-IN" b="1" dirty="0" err="1"/>
              <a:t>Backend:FastAPI</a:t>
            </a:r>
            <a:r>
              <a:rPr lang="en-IN" b="1" dirty="0"/>
              <a:t> (Python)</a:t>
            </a:r>
            <a:endParaRPr lang="en-IN" dirty="0"/>
          </a:p>
          <a:p>
            <a:r>
              <a:rPr lang="en-IN" b="1" dirty="0" err="1"/>
              <a:t>Database:MongoDB</a:t>
            </a:r>
            <a:r>
              <a:rPr lang="en-IN" b="1" dirty="0"/>
              <a:t> Atlas (Free Cloud Tier)</a:t>
            </a:r>
            <a:endParaRPr lang="en-IN" dirty="0"/>
          </a:p>
          <a:p>
            <a:r>
              <a:rPr lang="en-IN" b="1" dirty="0" err="1"/>
              <a:t>Authentication:Google</a:t>
            </a:r>
            <a:r>
              <a:rPr lang="en-IN" b="1" dirty="0"/>
              <a:t> OAuth2</a:t>
            </a:r>
            <a:endParaRPr lang="en-IN" dirty="0"/>
          </a:p>
          <a:p>
            <a:r>
              <a:rPr lang="en-IN" b="1" dirty="0"/>
              <a:t>File </a:t>
            </a:r>
            <a:r>
              <a:rPr lang="en-IN" b="1" dirty="0" err="1"/>
              <a:t>Parsing:pdfminer.six</a:t>
            </a:r>
            <a:r>
              <a:rPr lang="en-IN" b="1" dirty="0"/>
              <a:t> (PDFs), python-docx (DOCX), python-pptx (PPTX)</a:t>
            </a:r>
            <a:endParaRPr lang="en-IN" dirty="0"/>
          </a:p>
          <a:p>
            <a:r>
              <a:rPr lang="en-IN" b="1" dirty="0"/>
              <a:t>Web </a:t>
            </a:r>
            <a:r>
              <a:rPr lang="en-IN" b="1" dirty="0" err="1"/>
              <a:t>Fallback:SerpAPI</a:t>
            </a:r>
            <a:r>
              <a:rPr lang="en-IN" b="1" dirty="0"/>
              <a:t> (Free Tier) for external search</a:t>
            </a:r>
            <a:endParaRPr lang="en-IN" dirty="0"/>
          </a:p>
          <a:p>
            <a:r>
              <a:rPr lang="en-IN" b="1" dirty="0"/>
              <a:t>YouTube </a:t>
            </a:r>
            <a:r>
              <a:rPr lang="en-IN" b="1" dirty="0" err="1"/>
              <a:t>Input:youtube-transcript-api</a:t>
            </a:r>
            <a:r>
              <a:rPr lang="en-IN" b="1" dirty="0"/>
              <a:t> (</a:t>
            </a:r>
            <a:r>
              <a:rPr lang="en-IN" b="1" dirty="0" err="1"/>
              <a:t>yt-dlp</a:t>
            </a:r>
            <a:r>
              <a:rPr lang="en-IN" b="1" dirty="0"/>
              <a:t> not used)</a:t>
            </a:r>
            <a:endParaRPr lang="en-IN" dirty="0"/>
          </a:p>
          <a:p>
            <a:r>
              <a:rPr lang="en-IN" b="1" dirty="0" err="1"/>
              <a:t>Hosting:Vercel</a:t>
            </a:r>
            <a:r>
              <a:rPr lang="en-IN" b="1" dirty="0"/>
              <a:t> (Frontend), Render or Railway (Backend)</a:t>
            </a:r>
            <a:endParaRPr lang="en-IN" dirty="0"/>
          </a:p>
          <a:p>
            <a:endParaRPr lang="en-IN" dirty="0"/>
          </a:p>
        </p:txBody>
      </p:sp>
      <p:sp>
        <p:nvSpPr>
          <p:cNvPr id="4" name="Slide Number Placeholder 3">
            <a:extLst>
              <a:ext uri="{FF2B5EF4-FFF2-40B4-BE49-F238E27FC236}">
                <a16:creationId xmlns:a16="http://schemas.microsoft.com/office/drawing/2014/main" id="{3FBE42BE-0D98-CDF7-D87E-543763C8D8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16</a:t>
            </a:fld>
            <a:endParaRPr lang="en-IN"/>
          </a:p>
        </p:txBody>
      </p:sp>
    </p:spTree>
    <p:extLst>
      <p:ext uri="{BB962C8B-B14F-4D97-AF65-F5344CB8AC3E}">
        <p14:creationId xmlns:p14="http://schemas.microsoft.com/office/powerpoint/2010/main" val="3157812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3B269-A2C4-D80C-D175-D44660378F6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14671F2-141F-90CB-8494-6617642B028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1DDBE2E-DF78-E4E9-0A9A-F9687EAC91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17</a:t>
            </a:fld>
            <a:endParaRPr lang="en-IN"/>
          </a:p>
        </p:txBody>
      </p:sp>
      <p:pic>
        <p:nvPicPr>
          <p:cNvPr id="5" name="Picture 4">
            <a:extLst>
              <a:ext uri="{FF2B5EF4-FFF2-40B4-BE49-F238E27FC236}">
                <a16:creationId xmlns:a16="http://schemas.microsoft.com/office/drawing/2014/main" id="{CB44527F-BEC2-F189-72E4-4FB731B020E1}"/>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982206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418F-0C6F-4209-A3BB-5C45D5816F04}"/>
              </a:ext>
            </a:extLst>
          </p:cNvPr>
          <p:cNvSpPr>
            <a:spLocks noGrp="1"/>
          </p:cNvSpPr>
          <p:nvPr>
            <p:ph type="title"/>
          </p:nvPr>
        </p:nvSpPr>
        <p:spPr>
          <a:xfrm>
            <a:off x="519289" y="1083471"/>
            <a:ext cx="8229600" cy="914400"/>
          </a:xfrm>
        </p:spPr>
        <p:txBody>
          <a:bodyPr>
            <a:normAutofit/>
          </a:bodyPr>
          <a:lstStyle/>
          <a:p>
            <a:endParaRPr lang="en-IN" sz="3200" dirty="0"/>
          </a:p>
        </p:txBody>
      </p:sp>
      <p:sp>
        <p:nvSpPr>
          <p:cNvPr id="3" name="Text Placeholder 2">
            <a:extLst>
              <a:ext uri="{FF2B5EF4-FFF2-40B4-BE49-F238E27FC236}">
                <a16:creationId xmlns:a16="http://schemas.microsoft.com/office/drawing/2014/main" id="{FC7AD7AF-F433-42AC-94A3-7BA4FBF37FFF}"/>
              </a:ext>
            </a:extLst>
          </p:cNvPr>
          <p:cNvSpPr>
            <a:spLocks noGrp="1"/>
          </p:cNvSpPr>
          <p:nvPr>
            <p:ph type="body" idx="1"/>
          </p:nvPr>
        </p:nvSpPr>
        <p:spPr>
          <a:xfrm>
            <a:off x="519289" y="1986320"/>
            <a:ext cx="8455378" cy="4070351"/>
          </a:xfrm>
        </p:spPr>
        <p:txBody>
          <a:bodyPr>
            <a:noAutofit/>
          </a:bodyPr>
          <a:lstStyle/>
          <a:p>
            <a:pPr marL="114300" indent="0" algn="ctr">
              <a:buNone/>
            </a:pPr>
            <a:endParaRPr lang="en-IN" sz="2200" b="1"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C3B6CAE-2A4E-41C7-858F-A0C47D0CA3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18</a:t>
            </a:fld>
            <a:endParaRPr lang="en-IN" dirty="0"/>
          </a:p>
        </p:txBody>
      </p:sp>
      <p:pic>
        <p:nvPicPr>
          <p:cNvPr id="6" name="Picture 5">
            <a:extLst>
              <a:ext uri="{FF2B5EF4-FFF2-40B4-BE49-F238E27FC236}">
                <a16:creationId xmlns:a16="http://schemas.microsoft.com/office/drawing/2014/main" id="{F550ABBF-0AB8-EE81-31FD-7925C184497A}"/>
              </a:ext>
            </a:extLst>
          </p:cNvPr>
          <p:cNvPicPr>
            <a:picLocks noChangeAspect="1"/>
          </p:cNvPicPr>
          <p:nvPr/>
        </p:nvPicPr>
        <p:blipFill>
          <a:blip r:embed="rId2"/>
          <a:stretch>
            <a:fillRect/>
          </a:stretch>
        </p:blipFill>
        <p:spPr>
          <a:xfrm>
            <a:off x="0" y="0"/>
            <a:ext cx="9144000" cy="6931711"/>
          </a:xfrm>
          <a:prstGeom prst="rect">
            <a:avLst/>
          </a:prstGeom>
        </p:spPr>
      </p:pic>
    </p:spTree>
    <p:extLst>
      <p:ext uri="{BB962C8B-B14F-4D97-AF65-F5344CB8AC3E}">
        <p14:creationId xmlns:p14="http://schemas.microsoft.com/office/powerpoint/2010/main" val="1276881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EAF51-6B5B-3AF4-D840-78E8CD0C7222}"/>
              </a:ext>
            </a:extLst>
          </p:cNvPr>
          <p:cNvSpPr>
            <a:spLocks noGrp="1"/>
          </p:cNvSpPr>
          <p:nvPr>
            <p:ph type="title"/>
          </p:nvPr>
        </p:nvSpPr>
        <p:spPr/>
        <p:txBody>
          <a:bodyPr/>
          <a:lstStyle/>
          <a:p>
            <a:r>
              <a:rPr lang="en-IN" dirty="0"/>
              <a:t>Key Constraints considered</a:t>
            </a:r>
          </a:p>
        </p:txBody>
      </p:sp>
      <p:sp>
        <p:nvSpPr>
          <p:cNvPr id="3" name="Text Placeholder 2">
            <a:extLst>
              <a:ext uri="{FF2B5EF4-FFF2-40B4-BE49-F238E27FC236}">
                <a16:creationId xmlns:a16="http://schemas.microsoft.com/office/drawing/2014/main" id="{3A21D6B9-3249-98A7-C4E8-598BCE256668}"/>
              </a:ext>
            </a:extLst>
          </p:cNvPr>
          <p:cNvSpPr>
            <a:spLocks noGrp="1"/>
          </p:cNvSpPr>
          <p:nvPr>
            <p:ph type="body" idx="1"/>
          </p:nvPr>
        </p:nvSpPr>
        <p:spPr/>
        <p:txBody>
          <a:bodyPr/>
          <a:lstStyle/>
          <a:p>
            <a:r>
              <a:rPr lang="en-US" dirty="0"/>
              <a:t>Data Privacy: All user data is securely stored per user using Gmail-based authentication.</a:t>
            </a:r>
          </a:p>
          <a:p>
            <a:r>
              <a:rPr lang="en-US" dirty="0"/>
              <a:t>Response Time: Prioritizes quick access from stored/generated content; web search is fallback only.</a:t>
            </a:r>
          </a:p>
          <a:p>
            <a:r>
              <a:rPr lang="en-US" dirty="0"/>
              <a:t>Internet Dependency: Offline mode not supported, but minimal APIs are used to reduce latency and external reliance.</a:t>
            </a:r>
          </a:p>
          <a:p>
            <a:endParaRPr lang="en-IN" dirty="0"/>
          </a:p>
        </p:txBody>
      </p:sp>
      <p:sp>
        <p:nvSpPr>
          <p:cNvPr id="4" name="Slide Number Placeholder 3">
            <a:extLst>
              <a:ext uri="{FF2B5EF4-FFF2-40B4-BE49-F238E27FC236}">
                <a16:creationId xmlns:a16="http://schemas.microsoft.com/office/drawing/2014/main" id="{B4DA469B-4B8D-DE8D-4D41-C84C96513F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19</a:t>
            </a:fld>
            <a:endParaRPr lang="en-IN"/>
          </a:p>
        </p:txBody>
      </p:sp>
    </p:spTree>
    <p:extLst>
      <p:ext uri="{BB962C8B-B14F-4D97-AF65-F5344CB8AC3E}">
        <p14:creationId xmlns:p14="http://schemas.microsoft.com/office/powerpoint/2010/main" val="1908301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C915D-BDB5-BDDF-3205-0CD4CFBEA975}"/>
              </a:ext>
            </a:extLst>
          </p:cNvPr>
          <p:cNvSpPr>
            <a:spLocks noGrp="1"/>
          </p:cNvSpPr>
          <p:nvPr>
            <p:ph type="title"/>
          </p:nvPr>
        </p:nvSpPr>
        <p:spPr/>
        <p:txBody>
          <a:bodyPr/>
          <a:lstStyle/>
          <a:p>
            <a:r>
              <a:rPr lang="en-IN" dirty="0"/>
              <a:t>Literature review </a:t>
            </a:r>
          </a:p>
        </p:txBody>
      </p:sp>
      <p:sp>
        <p:nvSpPr>
          <p:cNvPr id="4" name="Slide Number Placeholder 3">
            <a:extLst>
              <a:ext uri="{FF2B5EF4-FFF2-40B4-BE49-F238E27FC236}">
                <a16:creationId xmlns:a16="http://schemas.microsoft.com/office/drawing/2014/main" id="{58B3C5F7-D7F8-4DAD-D1A8-B5772973559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20</a:t>
            </a:fld>
            <a:endParaRPr lang="en-IN"/>
          </a:p>
        </p:txBody>
      </p:sp>
      <p:sp>
        <p:nvSpPr>
          <p:cNvPr id="5" name="Rectangle 1">
            <a:extLst>
              <a:ext uri="{FF2B5EF4-FFF2-40B4-BE49-F238E27FC236}">
                <a16:creationId xmlns:a16="http://schemas.microsoft.com/office/drawing/2014/main" id="{73DA982D-7E1C-05B5-D3F4-E304B6B6E56C}"/>
              </a:ext>
            </a:extLst>
          </p:cNvPr>
          <p:cNvSpPr>
            <a:spLocks noGrp="1" noChangeArrowheads="1"/>
          </p:cNvSpPr>
          <p:nvPr>
            <p:ph type="body" idx="1"/>
          </p:nvPr>
        </p:nvSpPr>
        <p:spPr bwMode="auto">
          <a:xfrm>
            <a:off x="155275" y="2306515"/>
            <a:ext cx="882482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Introduction</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As higher education institutions confront increasing student diversity, digital distraction, and exam-related anxiety, personalized AI systems have emerged as a promising solution to enhance exam preparedness. This review synthesizes recent studies that explore the application, benefits, and limitations of artificial intelligence—particularly large language models (LLMs), intelligent tutoring systems (ITS), and chatbots—in personalized learning and assessment contexts.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spcBef>
                <a:spcPct val="0"/>
              </a:spcBef>
              <a:spcAft>
                <a:spcPct val="0"/>
              </a:spcAft>
              <a:buClrTx/>
              <a:buSzTx/>
              <a:buNone/>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Limitations of Traditional Learning Systems</a:t>
            </a:r>
            <a:b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Traditional learning management systems (LMSs) and one-size-fits-all exam preparation tools fail to account for individual learner differences in pace, prior knowledge, and retention capability. Adaptive learning platforms, in contrast, have demonstrated higher efficacy in both engagement and outcomes. Kulik &amp; Kulik (1991) found that intelligent tutoring systems (ITS) produced a median effect size of 0.66, indicating substantial improvement over conventional instruction. These systems help learners transition from the 50th to the 75th percentile in achievement (Maity &amp; Deroy, 2024).</a:t>
            </a:r>
            <a:r>
              <a:rPr lang="en-US" sz="1400" dirty="0">
                <a:latin typeface="Calibri" panose="020F0502020204030204" pitchFamily="34" charset="0"/>
                <a:ea typeface="Calibri" panose="020F0502020204030204" pitchFamily="34" charset="0"/>
                <a:cs typeface="Calibri" panose="020F0502020204030204" pitchFamily="34" charset="0"/>
              </a:rPr>
              <a:t> Benefits of AI-Based Personalization</a:t>
            </a:r>
          </a:p>
          <a:p>
            <a:pPr marL="0" lvl="0" indent="0" eaLnBrk="0" fontAlgn="base" hangingPunct="0">
              <a:spcBef>
                <a:spcPct val="0"/>
              </a:spcBef>
              <a:spcAft>
                <a:spcPct val="0"/>
              </a:spcAft>
              <a:buClrTx/>
              <a:buSzTx/>
              <a:buNone/>
            </a:pPr>
            <a:br>
              <a:rPr lang="en-US" sz="1400" dirty="0">
                <a:latin typeface="Calibri" panose="020F0502020204030204" pitchFamily="34" charset="0"/>
                <a:ea typeface="Calibri" panose="020F0502020204030204" pitchFamily="34" charset="0"/>
                <a:cs typeface="Calibri" panose="020F0502020204030204" pitchFamily="34" charset="0"/>
              </a:rPr>
            </a:br>
            <a:r>
              <a:rPr lang="en-US" sz="1400" dirty="0">
                <a:latin typeface="Calibri" panose="020F0502020204030204" pitchFamily="34" charset="0"/>
                <a:ea typeface="Calibri" panose="020F0502020204030204" pitchFamily="34" charset="0"/>
                <a:cs typeface="Calibri" panose="020F0502020204030204" pitchFamily="34" charset="0"/>
              </a:rPr>
              <a:t>Squirrel AI showed a statistically significant increase in exam scores and reduced dropout rates by up to 50% in Chinese middle school settings (Cui et al., 2019). These results confirm the scalability and efficacy of AI-powered adaptive learning.</a:t>
            </a:r>
            <a:endPar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3115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0A6BC0-4BFF-7031-EE67-4F6FC7BFF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21</a:t>
            </a:fld>
            <a:endParaRPr lang="en-IN"/>
          </a:p>
        </p:txBody>
      </p:sp>
      <p:sp>
        <p:nvSpPr>
          <p:cNvPr id="5" name="Rectangle 1">
            <a:extLst>
              <a:ext uri="{FF2B5EF4-FFF2-40B4-BE49-F238E27FC236}">
                <a16:creationId xmlns:a16="http://schemas.microsoft.com/office/drawing/2014/main" id="{6B13D61C-E382-C175-1FA0-85DB95FFAB98}"/>
              </a:ext>
            </a:extLst>
          </p:cNvPr>
          <p:cNvSpPr>
            <a:spLocks noGrp="1" noChangeArrowheads="1"/>
          </p:cNvSpPr>
          <p:nvPr>
            <p:ph type="body" idx="1"/>
          </p:nvPr>
        </p:nvSpPr>
        <p:spPr bwMode="auto">
          <a:xfrm>
            <a:off x="62144" y="1308683"/>
            <a:ext cx="9081856"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Role of LLMs and Chatbots in Education</a:t>
            </a:r>
            <a:b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Recent advancements in large language models (e.g., GPT-4) enable dynamic content generation, real-time feedback, and personalized learning trajectories. Studies by Sajja et al. (2023) highlight that NLP-driven AI assistants improved learner satisfaction and engagement metrics in higher education contexts. In another deployment, AI-generated quizzes and flashcards using GPT-3 increased performance by 15 percentile points over traditional methods (</a:t>
            </a:r>
            <a:r>
              <a:rPr kumimoji="0" lang="en-US" altLang="en-US" sz="13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Baillifard</a:t>
            </a: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et al., 2023). AI chatbots also promote metacognitive awareness and motivation. A systematic literature review by Subramanian et al. (2023) classified chatbot benefits as skill improvement (32%), increased efficiency (25%), motivation (13%), and 24/7 availability (11%).</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Institutional Adoption and Market Trends</a:t>
            </a:r>
            <a:b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AI tools are increasingly being adopted by universities to improve outcomes and reduce faculty burden. Georgia Tech’s Jill Watson chatbot, deployed as a virtual teaching assistant, successfully responded to over 40% of student queries without human intervention. Commercial platforms like </a:t>
            </a:r>
            <a:r>
              <a:rPr kumimoji="0" lang="en-US" altLang="en-US" sz="13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Alice.Tech</a:t>
            </a: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which raised $4.8 million in seed funding in 2025, have institutionalized AI tutors for exam preparation across U.S. and European universities. The global AI-in-education market is projected to grow from $5.6 billion in 2024 to over $88 billion by 2032, with a compound annual growth rate (CAGR) of 31% (EdTech Digest, 2024).</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Challenges and Limitations</a:t>
            </a:r>
            <a:b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Despite their promise, AI systems are not without limitations. LLMs may hallucinate or generate incorrect information. Tack &amp; Piech (2022) found GPT-3 underperformed human educators in pedagogical helpfulness, with a negative delta of –0.93. Moreover, over-reliance on AI could lead to cognitive off-loading, where students bypass deep learning in favor of quick answers. Ethical concerns around academic integrity, data privacy, and plagiarism also persist (Yan et al., 2023; Springer, 2024).</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Conclusion</a:t>
            </a:r>
            <a:b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3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literature overwhelmingly supports the integration of AI-powered systems for personalized exam preparation. These tools bridge significant gaps in traditional methods by offering adaptive, scalable, and learner-centric experiences. However, they must be implemented thoughtfully, with safeguards to ensure pedagogical integrity and ethical compliance. This project builds upon these validated insights to design a university-focused platform that harnesses LLMs and adaptive analytics to transform the exam preparation experience.</a:t>
            </a:r>
          </a:p>
        </p:txBody>
      </p:sp>
    </p:spTree>
    <p:extLst>
      <p:ext uri="{BB962C8B-B14F-4D97-AF65-F5344CB8AC3E}">
        <p14:creationId xmlns:p14="http://schemas.microsoft.com/office/powerpoint/2010/main" val="823067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9FA6-4C05-8768-D418-D61B90998DC9}"/>
              </a:ext>
            </a:extLst>
          </p:cNvPr>
          <p:cNvSpPr>
            <a:spLocks noGrp="1"/>
          </p:cNvSpPr>
          <p:nvPr>
            <p:ph type="title"/>
          </p:nvPr>
        </p:nvSpPr>
        <p:spPr/>
        <p:txBody>
          <a:bodyPr>
            <a:normAutofit fontScale="90000"/>
          </a:bodyPr>
          <a:lstStyle/>
          <a:p>
            <a:r>
              <a:rPr lang="en-IN" dirty="0"/>
              <a:t>References (APA Style)</a:t>
            </a:r>
            <a:br>
              <a:rPr lang="en-IN" dirty="0"/>
            </a:br>
            <a:endParaRPr lang="en-IN" dirty="0"/>
          </a:p>
        </p:txBody>
      </p:sp>
      <p:sp>
        <p:nvSpPr>
          <p:cNvPr id="3" name="Text Placeholder 2">
            <a:extLst>
              <a:ext uri="{FF2B5EF4-FFF2-40B4-BE49-F238E27FC236}">
                <a16:creationId xmlns:a16="http://schemas.microsoft.com/office/drawing/2014/main" id="{BE6AED30-DEB8-B626-333B-C84CB2664B08}"/>
              </a:ext>
            </a:extLst>
          </p:cNvPr>
          <p:cNvSpPr>
            <a:spLocks noGrp="1"/>
          </p:cNvSpPr>
          <p:nvPr>
            <p:ph type="body" idx="1"/>
          </p:nvPr>
        </p:nvSpPr>
        <p:spPr/>
        <p:txBody>
          <a:bodyPr>
            <a:normAutofit fontScale="62500" lnSpcReduction="20000"/>
          </a:bodyPr>
          <a:lstStyle/>
          <a:p>
            <a:r>
              <a:rPr lang="en-IN" dirty="0" err="1"/>
              <a:t>Baillifard</a:t>
            </a:r>
            <a:r>
              <a:rPr lang="en-IN" dirty="0"/>
              <a:t>, A., Gabella, M., Banta </a:t>
            </a:r>
            <a:r>
              <a:rPr lang="en-IN" dirty="0" err="1"/>
              <a:t>Lavenex</a:t>
            </a:r>
            <a:r>
              <a:rPr lang="en-IN" dirty="0"/>
              <a:t>, P., &amp; </a:t>
            </a:r>
            <a:r>
              <a:rPr lang="en-IN" dirty="0" err="1"/>
              <a:t>Martarelli</a:t>
            </a:r>
            <a:r>
              <a:rPr lang="en-IN" dirty="0"/>
              <a:t>, C. S. (2023). Implementing Learning Principles with a Personal AI Tutor. </a:t>
            </a:r>
            <a:r>
              <a:rPr lang="en-IN" dirty="0" err="1"/>
              <a:t>arXiv</a:t>
            </a:r>
            <a:r>
              <a:rPr lang="en-IN" dirty="0"/>
              <a:t> preprint arXiv:2309.10892.</a:t>
            </a:r>
          </a:p>
          <a:p>
            <a:r>
              <a:rPr lang="en-IN" dirty="0"/>
              <a:t>Cui, W., Xue, Z., &amp; Thai, K.-P. (2019). Performance comparison of an AI-based Adaptive Learning System in China. arXiv:1901.10268.</a:t>
            </a:r>
          </a:p>
          <a:p>
            <a:r>
              <a:rPr lang="en-IN" dirty="0"/>
              <a:t>Graesser, A. C., McNamara, D. S., et al. (2005). </a:t>
            </a:r>
            <a:r>
              <a:rPr lang="en-IN" dirty="0" err="1"/>
              <a:t>AutoTutor</a:t>
            </a:r>
            <a:r>
              <a:rPr lang="en-IN" dirty="0"/>
              <a:t>: A tutor with dialogue in natural language. </a:t>
            </a:r>
            <a:r>
              <a:rPr lang="en-IN" dirty="0" err="1"/>
              <a:t>Behavior</a:t>
            </a:r>
            <a:r>
              <a:rPr lang="en-IN" dirty="0"/>
              <a:t> Research Methods.</a:t>
            </a:r>
          </a:p>
          <a:p>
            <a:r>
              <a:rPr lang="en-IN" dirty="0"/>
              <a:t>Kulik, C.-L. C., &amp; Kulik, J. A. (1991). Effectiveness of computer-based instruction: A meta-analysis. Review of Educational Research.</a:t>
            </a:r>
          </a:p>
          <a:p>
            <a:r>
              <a:rPr lang="en-IN" dirty="0"/>
              <a:t>Maity, S., &amp; Deroy, A. (2024). Generative AI and Its Impact on Intelligent Tutoring Systems. arXiv:2410.10650.</a:t>
            </a:r>
          </a:p>
          <a:p>
            <a:r>
              <a:rPr lang="en-IN" dirty="0"/>
              <a:t>Sajja, R., et al. (2023). Artificial Intelligence–Enabled Intelligent Assistant for Personalized and Adaptive Learning in Higher Education. </a:t>
            </a:r>
            <a:r>
              <a:rPr lang="en-IN" dirty="0" err="1"/>
              <a:t>arXiv</a:t>
            </a:r>
            <a:r>
              <a:rPr lang="en-IN" dirty="0"/>
              <a:t>.</a:t>
            </a:r>
          </a:p>
          <a:p>
            <a:r>
              <a:rPr lang="en-IN" dirty="0"/>
              <a:t>Subramanian, A., et al. (2023). Role of AI chatbots in education: Systematic literature review. Int. Journal of Educational Technology.</a:t>
            </a:r>
          </a:p>
          <a:p>
            <a:r>
              <a:rPr lang="en-IN" dirty="0"/>
              <a:t>Tack, A., &amp; Piech, C. (2022). The AI Teacher Test: GPT-3 vs Human Teachers. arXiv:2210.03629.</a:t>
            </a:r>
          </a:p>
          <a:p>
            <a:r>
              <a:rPr lang="en-IN" dirty="0"/>
              <a:t>Yan, L., Sha, L., Zhao, L. (2023). Challenges of LLMs in Education. MDPI Information.</a:t>
            </a:r>
          </a:p>
          <a:p>
            <a:r>
              <a:rPr lang="en-IN" dirty="0"/>
              <a:t>EdTech Digest. (2024). AI in Education Market Trends and Forecast 2024–2032.</a:t>
            </a:r>
          </a:p>
          <a:p>
            <a:endParaRPr lang="en-IN" dirty="0"/>
          </a:p>
        </p:txBody>
      </p:sp>
      <p:sp>
        <p:nvSpPr>
          <p:cNvPr id="4" name="Slide Number Placeholder 3">
            <a:extLst>
              <a:ext uri="{FF2B5EF4-FFF2-40B4-BE49-F238E27FC236}">
                <a16:creationId xmlns:a16="http://schemas.microsoft.com/office/drawing/2014/main" id="{147BA6E5-9080-0F4B-2107-2F99DF3345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22</a:t>
            </a:fld>
            <a:endParaRPr lang="en-IN"/>
          </a:p>
        </p:txBody>
      </p:sp>
    </p:spTree>
    <p:extLst>
      <p:ext uri="{BB962C8B-B14F-4D97-AF65-F5344CB8AC3E}">
        <p14:creationId xmlns:p14="http://schemas.microsoft.com/office/powerpoint/2010/main" val="1064125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8957-975A-F6B9-D623-1FDBEB714A26}"/>
              </a:ext>
            </a:extLst>
          </p:cNvPr>
          <p:cNvSpPr>
            <a:spLocks noGrp="1"/>
          </p:cNvSpPr>
          <p:nvPr>
            <p:ph type="title"/>
          </p:nvPr>
        </p:nvSpPr>
        <p:spPr/>
        <p:txBody>
          <a:bodyPr/>
          <a:lstStyle/>
          <a:p>
            <a:r>
              <a:rPr lang="en-IN" dirty="0"/>
              <a:t>Future scope:</a:t>
            </a:r>
          </a:p>
        </p:txBody>
      </p:sp>
      <p:sp>
        <p:nvSpPr>
          <p:cNvPr id="3" name="Text Placeholder 2">
            <a:extLst>
              <a:ext uri="{FF2B5EF4-FFF2-40B4-BE49-F238E27FC236}">
                <a16:creationId xmlns:a16="http://schemas.microsoft.com/office/drawing/2014/main" id="{710F92C5-426C-E6E3-78BF-CCC0155BC7DC}"/>
              </a:ext>
            </a:extLst>
          </p:cNvPr>
          <p:cNvSpPr>
            <a:spLocks noGrp="1"/>
          </p:cNvSpPr>
          <p:nvPr>
            <p:ph type="body" idx="1"/>
          </p:nvPr>
        </p:nvSpPr>
        <p:spPr/>
        <p:txBody>
          <a:bodyPr>
            <a:normAutofit/>
          </a:bodyPr>
          <a:lstStyle/>
          <a:p>
            <a:pPr>
              <a:buFont typeface="Arial" panose="020B0604020202020204" pitchFamily="34" charset="0"/>
              <a:buChar char="•"/>
            </a:pPr>
            <a:r>
              <a:rPr lang="en-US" sz="2000" dirty="0"/>
              <a:t> Lack of Benchmarking Tools</a:t>
            </a:r>
            <a:br>
              <a:rPr lang="en-US" sz="2000" dirty="0"/>
            </a:br>
            <a:r>
              <a:rPr lang="en-US" sz="2000" dirty="0"/>
              <a:t>No standard framework to measure AI-tutor effectiveness during prototyping makes evaluation tricky.</a:t>
            </a:r>
          </a:p>
          <a:p>
            <a:pPr>
              <a:buFont typeface="Arial" panose="020B0604020202020204" pitchFamily="34" charset="0"/>
              <a:buChar char="•"/>
            </a:pPr>
            <a:r>
              <a:rPr lang="en-US" sz="2000" dirty="0"/>
              <a:t>Data Security &amp; Compliance</a:t>
            </a:r>
            <a:br>
              <a:rPr lang="en-US" sz="2000" dirty="0"/>
            </a:br>
            <a:r>
              <a:rPr lang="en-US" sz="2000" dirty="0"/>
              <a:t>Implementing secure storage, encryption, and GDPR/FERPA-compliant flows adds legal and technical overhead.</a:t>
            </a:r>
          </a:p>
          <a:p>
            <a:pPr>
              <a:buFont typeface="Arial" panose="020B0604020202020204" pitchFamily="34" charset="0"/>
              <a:buChar char="•"/>
            </a:pPr>
            <a:r>
              <a:rPr lang="en-US" sz="2000" dirty="0"/>
              <a:t> Integration Complexity</a:t>
            </a:r>
            <a:br>
              <a:rPr lang="en-US" sz="2000" dirty="0"/>
            </a:br>
            <a:r>
              <a:rPr lang="en-US" sz="2000" dirty="0"/>
              <a:t>Integrating AI modules with existing LMS platforms (e.g., Moodle, Canvas) requires significant backend work.</a:t>
            </a:r>
          </a:p>
          <a:p>
            <a:pPr>
              <a:buFont typeface="Arial" panose="020B0604020202020204" pitchFamily="34" charset="0"/>
              <a:buChar char="•"/>
            </a:pPr>
            <a:r>
              <a:rPr lang="en-US" sz="2000" dirty="0"/>
              <a:t>Language restrictions</a:t>
            </a:r>
            <a:endParaRPr lang="en-IN" sz="2000" dirty="0"/>
          </a:p>
          <a:p>
            <a:pPr marL="114300" indent="0">
              <a:buNone/>
            </a:pPr>
            <a:r>
              <a:rPr lang="en-IN" sz="2000" dirty="0"/>
              <a:t>       Making a tool that integrates all languages for inclusivity.</a:t>
            </a:r>
            <a:endParaRPr lang="en-US" sz="2000" dirty="0"/>
          </a:p>
        </p:txBody>
      </p:sp>
      <p:sp>
        <p:nvSpPr>
          <p:cNvPr id="4" name="Slide Number Placeholder 3">
            <a:extLst>
              <a:ext uri="{FF2B5EF4-FFF2-40B4-BE49-F238E27FC236}">
                <a16:creationId xmlns:a16="http://schemas.microsoft.com/office/drawing/2014/main" id="{29177DFC-413D-FA44-8214-4575031C5E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23</a:t>
            </a:fld>
            <a:endParaRPr lang="en-IN"/>
          </a:p>
        </p:txBody>
      </p:sp>
    </p:spTree>
    <p:extLst>
      <p:ext uri="{BB962C8B-B14F-4D97-AF65-F5344CB8AC3E}">
        <p14:creationId xmlns:p14="http://schemas.microsoft.com/office/powerpoint/2010/main" val="1008518030"/>
      </p:ext>
    </p:extLst>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319</TotalTime>
  <Words>2078</Words>
  <Application>Microsoft Office PowerPoint</Application>
  <PresentationFormat>On-screen Show (4:3)</PresentationFormat>
  <Paragraphs>172</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Noto Sans Symbols</vt:lpstr>
      <vt:lpstr>MPSTME</vt:lpstr>
      <vt:lpstr>        B.Tech. C.E. Semester: VII Capstone project: PrepGen- Smarter Learning, Powered by AI   </vt:lpstr>
      <vt:lpstr>PrepGen-Smarter Learning, Powered by AI</vt:lpstr>
      <vt:lpstr>"When learning meets intelligence and intelligence meets intent — technology becomes a personal tutor, not just a tool."</vt:lpstr>
      <vt:lpstr>Why this problem?</vt:lpstr>
      <vt:lpstr>PowerPoint Presentation</vt:lpstr>
      <vt:lpstr>Project Objectives </vt:lpstr>
      <vt:lpstr>Feasibility</vt:lpstr>
      <vt:lpstr>Feasibility</vt:lpstr>
      <vt:lpstr>Team capability</vt:lpstr>
      <vt:lpstr>Features </vt:lpstr>
      <vt:lpstr>Features</vt:lpstr>
      <vt:lpstr>Features</vt:lpstr>
      <vt:lpstr>Features</vt:lpstr>
      <vt:lpstr>Features</vt:lpstr>
      <vt:lpstr>Features</vt:lpstr>
      <vt:lpstr>Tools and technology </vt:lpstr>
      <vt:lpstr>PowerPoint Presentation</vt:lpstr>
      <vt:lpstr>PowerPoint Presentation</vt:lpstr>
      <vt:lpstr>Key Constraints considered</vt:lpstr>
      <vt:lpstr>Literature review </vt:lpstr>
      <vt:lpstr>PowerPoint Presentation</vt:lpstr>
      <vt:lpstr>References (APA Style) </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B.Tech. / MBA Tech. (----Name of Stream----) Semester: II/IV  Course: Community Services Academic Year: 2021-22</dc:title>
  <dc:creator>Dhirendra Mishra</dc:creator>
  <cp:lastModifiedBy>Dhruvika Rathore</cp:lastModifiedBy>
  <cp:revision>16</cp:revision>
  <dcterms:created xsi:type="dcterms:W3CDTF">2017-04-11T09:48:28Z</dcterms:created>
  <dcterms:modified xsi:type="dcterms:W3CDTF">2025-08-06T06:06:08Z</dcterms:modified>
</cp:coreProperties>
</file>